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GOAI 世界人工智能开源大赛 · 无界应用赛道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713232"/>
            <a:ext cx="608076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686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圆周引擎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Orbit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面向成人职业能力建设的周期性行动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把分散信号转化为每日可执行 session,并沉淀为可复盘的能力证据。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20440"/>
            <a:ext cx="3657600" cy="329184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AI + Education / Vocational Education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520440"/>
            <a:ext cx="1783080" cy="329184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Closed-loop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20440"/>
            <a:ext cx="1508760" cy="329184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 wrap="none"/>
          <a:lstStyle/>
          <a:p>
            <a:pPr algn="ctr"/>
            <a:r>
              <a:rPr sz="95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Runnable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868680"/>
            <a:ext cx="379476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核心闭环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58191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8483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Session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58775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Deep Dive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09067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Agent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59359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09651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→ History / Next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七节点闭环 · 输入 / 理解 / 规划 / 调用 / 交付 / 验证 / 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01 · TRACK FIT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为什么适合 Boundless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手册要求真实场景、可运行闭环、工具/知识增强、反馈验证与合规边界。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2103120"/>
            <a:ext cx="260604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真实行业场景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成人技术从业者需要在工作之外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持续跟踪研究、岗位与领域机会。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对应教育赛道 · 4.3.4 职业教育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699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2103120"/>
            <a:ext cx="2606040" cy="91440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816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不是通用聊天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16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产品入口不是空白对话框,而是按周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节奏生成可执行 session;四类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任务模式复用同一套 BaseSession。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2103120"/>
            <a:ext cx="260604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708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可验证闭环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708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从材料选择、任务规划、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Agent 草稿到 Check-in 归档,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状态、时间戳、History 可被检查。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4836" y="2103120"/>
            <a:ext cx="2606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4836" y="2103120"/>
            <a:ext cx="260604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2267712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可复用模板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2697479"/>
            <a:ext cx="2203704" cy="356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Radar / Deep Dive / Opportunity / Weekly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映射到研究、创作、产品、</a:t>
            </a:r>
          </a:p>
          <a:p>
            <a:pPr>
              <a:lnSpc>
                <a:spcPct val="12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语言等多领域;开源自带迁移模板。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02 ·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真正的阻力,不是缺计划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而是每次行动开始前反复出现的决策、筛选与沉淀成本。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42062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7490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30–60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常被消耗在「今天看什么、去哪找、值不值得看」的启动判断上。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4617720"/>
            <a:ext cx="37490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475488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决策疲劳先于行动发生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高质量时间被消耗在筛选上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长期目标无法直接落地为 30/60/90 分钟任务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1031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四个反复出现的阻力点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60604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260604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1. 决策疲劳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7296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每天都要重新决定任务,行动意愿先被消耗。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60604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2606040"/>
            <a:ext cx="73152" cy="160020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2. 筛选负担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7296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论文、repo、JD、新闻混在一起,噪音多于信号。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3891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4389120"/>
            <a:ext cx="73152" cy="160020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3. 粒度错位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95604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长期计划太大,不能直接落成 30/60/90 分钟任务。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389120"/>
            <a:ext cx="32461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4389120"/>
            <a:ext cx="73152" cy="160020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4. 沉淀断层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956048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看过的材料和洞察没有进入下一轮判断。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03 · USER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一个真实的人,一条真实节奏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旗舰场景:职业方向探索期、需要持续建设能力的技术从业者。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438912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用户画像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97480"/>
            <a:ext cx="402336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有明确技术方向,但高质量时间有限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需要保持市场与技术敏感度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不适合每天从零搜索和规划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希望把学习投入转化为长期证据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对应手册教育赛道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4.3.4 职业教育/编程教育 Agent ·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任务分解 / 过程指导 / 反馈评价 / 学习路径建议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每周节奏 · 一周一次完整闭环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606040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2606040"/>
            <a:ext cx="73152" cy="749808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26974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周一/二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974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趋势、论文、产品、repo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3493008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9240" y="3493008"/>
            <a:ext cx="73152" cy="749808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358444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58444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58444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岗位、比赛、benchmark、外部要求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4379976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4379976"/>
            <a:ext cx="73152" cy="749808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471416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周四/五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7141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Deep Dive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47141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材料精读、方法拆解、最小输出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5266944"/>
            <a:ext cx="64008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49240" y="5266944"/>
            <a:ext cx="73152" cy="749808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358383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周末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358383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Weekly 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358383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归档复盘、能力画像、下周节奏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04 · PRODUCT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产品不是 Todo App,而是七节点闭环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它替用户完成「启动前判断」,再把执行结果写回下一轮。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258568"/>
            <a:ext cx="1254034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目标 / 计划 /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偏好 / 时间预算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58122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22714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14154" y="2258568"/>
            <a:ext cx="1254034" cy="365760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4154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判断今天最该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进入哪类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77916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42508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33948" y="2258568"/>
            <a:ext cx="1254034" cy="365760"/>
          </a:xfrm>
          <a:prstGeom prst="round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3948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拆成 30/60/90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分钟任务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7710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62302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53742" y="2258568"/>
            <a:ext cx="1254034" cy="365760"/>
          </a:xfrm>
          <a:prstGeom prst="round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3742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材料源 / 公开源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历史 / LLM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7505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82097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73537" y="2258568"/>
            <a:ext cx="1254034" cy="36576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3537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结构化工作区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与完成标准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7299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01891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3331" y="2258568"/>
            <a:ext cx="1254034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验证反馈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3331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· 用户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确认后归档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7093" y="3035808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21685" y="2148840"/>
            <a:ext cx="1436914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13125" y="2258568"/>
            <a:ext cx="1254034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安全边界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3125" y="2743200"/>
            <a:ext cx="125403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不自动投递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不替人决策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Todo App 的缺口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091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用户自己定义所有任务;主要记录完成;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不理解材料、方向与外部要求;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缺信号入口 · 缺任务生成 · 缺上下文记忆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缺验证反馈 · 缺下一轮反哺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16052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Orbit Engine 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7091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发现值得做的事,组织一次可执行 session,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沉淀洞察并影响下一轮;闭环七节点由 Agent 自动推进。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信号由 Radar 实时扫描 · 任务由 Coordinator 生成</a:t>
            </a:r>
          </a:p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Check-in = 验证反馈 · History = 下一轮上下文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05 · SESSION TYPES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四类会话覆盖长期能力建设的关键动作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同一套 BaseSession / Skill 抽象,只替换领域、材料源与生成逻辑。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2103120"/>
            <a:ext cx="260604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gnal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77439"/>
            <a:ext cx="224028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Signal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扫描外部信号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论文 / 产品 / repo / 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公开 RSS + 网页 + 去重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699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6996" y="2103120"/>
            <a:ext cx="260604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ep-d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76" y="2377439"/>
            <a:ext cx="224028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7987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87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深度处理材料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987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MaterialSource 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987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Check-in 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5916" y="2103120"/>
            <a:ext cx="260604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pportunity-align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2377439"/>
            <a:ext cx="2240280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6879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Opportunity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对齐外部要求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JD / 比赛 /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用户上下文对齐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4836" y="21031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4836" y="2103120"/>
            <a:ext cx="2606040" cy="9144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eekly-st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716" y="2377439"/>
            <a:ext cx="2240280" cy="2286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57716" y="48006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Weekly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7716" y="521207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归档复盘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7716" y="56235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归档 / 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7716" y="5897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· 下周节奏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06 · DEMO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当前最强可演示闭环:Deep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把用户计划、材料源、任务规划、Agent 草稿和 History 连成一条可验证链路。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212848"/>
            <a:ext cx="1523999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按日期/手动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 Deep Dive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8088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9267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84119" y="2212848"/>
            <a:ext cx="1523999" cy="365760"/>
          </a:xfrm>
          <a:prstGeom prst="round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11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进行中/未完成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与新建入口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784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8243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3879" y="2212848"/>
            <a:ext cx="1523999" cy="365760"/>
          </a:xfrm>
          <a:prstGeom prst="round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7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读取 MaterialSource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与推荐理由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0760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72199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39" y="2212848"/>
            <a:ext cx="1523999" cy="365760"/>
          </a:xfrm>
          <a:prstGeom prst="round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完成标准与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草稿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97367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6196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3399" y="2212848"/>
            <a:ext cx="1523999" cy="365760"/>
          </a:xfrm>
          <a:prstGeom prst="round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Check-in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399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用户修改后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确认归档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87128" y="2990087"/>
            <a:ext cx="146304" cy="0"/>
          </a:xfrm>
          <a:prstGeom prst="line">
            <a:avLst/>
          </a:prstGeom>
          <a:ln w="15240">
            <a:solidFill>
              <a:srgbClr val="D9D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51720" y="2103120"/>
            <a:ext cx="1706879" cy="17830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43160" y="2212848"/>
            <a:ext cx="1523999" cy="365760"/>
          </a:xfrm>
          <a:prstGeom prst="round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3160" y="2697479"/>
            <a:ext cx="15239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状态/时间戳/</a:t>
            </a:r>
          </a:p>
          <a:p>
            <a:pPr algn="ctr">
              <a:lnSpc>
                <a:spcPct val="130000"/>
              </a:lnSpc>
            </a:pPr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洞察/下一步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676656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97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可验证证据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091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session status(枚举:pending / active / done)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saved check-in 时间戳(UTC + ISO)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source/material 引用 ID 与推荐理由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History 记录:洞察、下一步、反哺次数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—— 不需要手动改数据库,所有变更走 API + 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4160520"/>
            <a:ext cx="4297680" cy="20116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Check-in 即验证反馈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709160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对应手册 8.2 第 6 步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「验证与反馈」:Agent 草稿不直接入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库,用户修改并确认后才写入 History;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形成天然 human-in-the-loop 兜底。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07 · PRODUCT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移动端产品形态已经跑通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原生 SwiftUI iOS 应用是当前主端,共享同一套后端 JSON 协议。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mo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" y="2331720"/>
            <a:ext cx="3291840" cy="3383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5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 Session /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mo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331720"/>
            <a:ext cx="3291840" cy="3383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567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7596" y="210312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ignal-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75" y="2331720"/>
            <a:ext cx="3291840" cy="3383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97596" y="5852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材料与计划上下文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原生 iOS 已是主演示端 · 后端共享 FastAPI JSON 协议 · 录屏路径与 PPT 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08 · ARCHITECTURE &amp; TECH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可替换、可复用的 Agent 应用架构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前端只消费结构化 JSON;后端负责节奏、材料、会话、打卡和历史。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" y="2103120"/>
            <a:ext cx="224028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Mobile SwiftUI iOS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Mobile Web (fallback)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Today / History / Plan / 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689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6896" y="2103120"/>
            <a:ext cx="2240280" cy="91440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Session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Weekly Coordinator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BaseSession (Radar / Dive / Opp / Studio)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Session queue + completion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2103120"/>
            <a:ext cx="224028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Agent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Research Feeder(公开源)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Tech Radar(RSS + 网页 + dedup)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JD / Opportunity Agent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Chat / Guidance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6" y="2103120"/>
            <a:ext cx="2240280" cy="91440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Models &amp;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LLM: OpenRouter 可切换(mock 默认)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MaterialSource adapter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· arXiv RSS · 公开 URL · 用户 PDF · repo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· fetch 失败回退 demo material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RAG-free · 上下文即 prompt 注入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2103120"/>
            <a:ext cx="2240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29216" y="2103120"/>
            <a:ext cx="224028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0384" y="226771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Data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2697479"/>
            <a:ext cx="1837944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SQLite 本地存储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MaterialSource · UserContext · Plan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Check-ins · History · 反哺上下文</a:t>
            </a:r>
          </a:p>
          <a:p>
            <a:pPr>
              <a:lnSpc>
                <a:spcPct val="13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用户数据可一键删除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关键设计:Deep Dive 不绑定单一论文平台,而是通过 MaterialSource 接入多源材料,并通过 BaseSession 抽象把四类任务模板化。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09 · EVALUATION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可量化的闭环评估指标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对应手册「效果验证 · 评估指标 · 样本数据 · 日志」。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关键指标 · 可在 backend 日志中统计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14600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651760"/>
            <a:ext cx="7315200" cy="4114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72491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7249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724912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118104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 闭环完成率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3118104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done 状态 session 比例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118104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32 sessions · 20 check-ins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57016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611880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 提交率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611880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进入 Deep Dive 后归档比例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611880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首次实现 · 后续埋点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50791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105655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信号去重率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2888" y="4105655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Tech Radar dedup 命中/总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105655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RSS + 网页 · 段落级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44568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599431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历史反哺次数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4599431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后续 session 引用前周摘要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4599431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BaseSession 注入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38344"/>
            <a:ext cx="7315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093207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周节奏命中度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2888" y="5093207"/>
            <a:ext cx="219456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本周 4 类 session 是否触发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5093207"/>
            <a:ext cx="2834639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Coordinator 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2103120"/>
            <a:ext cx="38862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240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如何被验证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01000" y="2606040"/>
            <a:ext cx="35204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01000" y="2743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仓库内 SQLite 样本数据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108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(data/infra_agent.db · day3_demo.db)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474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backend 日志:每条 session / check-in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840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的状态迁移与时间戳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206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API:GET /api/sessions /api/today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/api/checkins · 无需改数据库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iOS 录屏:60–90 秒主链路 + 异常分支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一键 reset:删除本地 SQLite 后重启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669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backend,数据可重现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10 · FAILURE &amp; EXCEPTION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异常分支与失败处理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8.3 / 8.5:失败、缺失信息、不确定结果、需人工确认节点有明确提示。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73152" cy="187451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材料源抓取失败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fetch 异常 → UI 标记「来源不可达」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自动回退 demo material,带「fallback」标签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提示用户登记本地 PDF 或更换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73152" cy="1874519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402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LLM 输出不稳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700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推荐理由 / 草稿不直接写入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358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必带 source url + 置信度提示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01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用户在 Check-in 修改确认后才入库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73152" cy="1874519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缺失信息/不确定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274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上下文不足 → 提示补充 Plan / 偏好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推荐无源 → 标记「需用户校验」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589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不输出确定性结论,只给候选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6052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60520"/>
            <a:ext cx="73152" cy="1874519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外部依赖故障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274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OpenRouter 不可用 → 切 mock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9320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RSS 失效 → 保留上次快照 + 时间戳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589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用户数据损坏 → 一键 reset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89320"/>
            <a:ext cx="1120140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人工确认节点:Material 选择 · Agent Guidance 草稿 · Check-in 归档 · Plan 修改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11 · DATA, SAFETY &amp; 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数据来源透明,能力边界清晰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8.4:来源、授权、匿名化、访问控制、删除与可追溯。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3611880" cy="73152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材料来源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用户登记:PDF metadata / URL / 手动材料卡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公开源:arXiv RSS 等可配置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所有来源在 UI 显式标注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11880" cy="73152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本地数据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SQLite:用户上下文、计划、偏好、check-in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一键删除 API(对应 8.4 数据主体权利)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最小化:仅记录会话必要的元数据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103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103120"/>
            <a:ext cx="3611880" cy="73152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模型边界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67004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LLM 用于结构化分析、推荐理由、草稿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01752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用户确认后才写入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364991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不调用任何账号系统,无副作用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3611880" cy="73152"/>
          </a:xfrm>
          <a:prstGeom prst="rect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演示数据说明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data/infra_agent.db · day3_demo.db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为比赛演示用样本数据,非真实个人数据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模拟逻辑见 docs/source_compliance_note.md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206240"/>
            <a:ext cx="3611880" cy="73152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面向成人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产品定位:成人职业能力建设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不收集未成年人学习数据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规避未成年人/学习数据合规红线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42062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206240"/>
            <a:ext cx="3611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438912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ea typeface="Noto Sans CJK SC"/>
                <a:cs typeface="Noto Sans CJK SC"/>
                <a:solidFill>
                  <a:srgbClr val="C0392B"/>
                </a:solidFill>
                <a:latin typeface="Noto Sans CJK SC"/>
              </a:rPr>
              <a:t>风险控制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773168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不自动投递 · 不自动提交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5120640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不替用户做职业/学习选择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8" y="5468112"/>
            <a:ext cx="3209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fallback / demo source 明确标注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来源引用可追溯:每个 Radar 信号带 url · 每个 Deep Dive Material 带 source_id · 每条 History 带 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12 · REUSABLE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不是单场景 demo,而是一套可迁移模板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迁移的是领域配置;不变的是四类任务模式与闭环结构。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" y="233172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423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683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139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4231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516" y="242316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Weekly 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" y="278892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" y="28986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职业能力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683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技术/产品动态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139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论文/repo 精读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6" y="289864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岗位/比赛/能力差距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0516" y="289864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能力档案与下周任务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" y="329183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" y="34015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研究探索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683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最新论文/benchmark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139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方法拆解/复现判断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6" y="3401568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CFP/open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0516" y="3401568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方向判断与材料归档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" y="379475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" y="390448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创作者/IP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683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平台趋势/视觉参考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139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案例拆解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956" y="390448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用户反馈/内容机会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0516" y="390448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选题库和发布复盘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" y="429767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" y="440740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产品创业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1683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行业/竞品信号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139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案例/报告精读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5956" y="440740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需求/市场机会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0516" y="440740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假设、证据和下一步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6636" y="4800599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" y="4910327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语言学习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683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考试/材料更新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文章/听力精练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956" y="4910327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目标场景要求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0516" y="4910327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词汇、错题和复习计划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开源交付:BaseSession 抽象 · MaterialSource adapter 模板 · Session 配置文件 · 部署文档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13 · PROVENANCE &amp; OPEN SOURCE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原项目来源披露与开源计划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对应手册 9.0「基于现有项目开发的披露」与开源合规要求。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7784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基于现有项目开发(披露)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06040"/>
            <a:ext cx="521208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74320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原项目:个人 Infra Agent(AI / 自动驾驶 方向)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3580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仓库路径:/home/maxh/Agent/infra(只读参考)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2841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团队贡献范围: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2102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比赛期间从零重写为圆周引擎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1363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新增:BaseSession 抽象 / Weekly Coordinator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新增:四类 Session 模板与周节奏编排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9884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创新点: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9145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把「启动前判断」抽象为 Agent 主能力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8406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把「Check-in 即验证反馈」嵌入闭环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License 兼容性: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原项目为个人仓库,无第三方 License 传染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6188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  - 新代码使用 MIT 协议开源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03120"/>
            <a:ext cx="5468112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开源计划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2606040"/>
            <a:ext cx="5120640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27432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仓库地址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7432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GitHub · 待发布(比赛后公开)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0175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0175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3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交付内容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29183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FastAPI 后端 + SQLite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56615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iOS SwiftUI 应用源码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8404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BaseSession 抽象与四类 Session 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11479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MaterialSource adapter 接口与示例实现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38911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一键部署脚本 + 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66343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演示数据生成脚本(可重现)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93775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docs/:方案 / Demo 路径 / 合规说明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7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第三方依赖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521207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FastAPI · SQLite · OpenRouter SDK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486399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RSS / httpx · 全部为标准开源组件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14 · PROGRESS &amp;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当前开发进度与提交前路径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不夸大完成度:已跑通主闭环,非主链路作为轻量模板展示。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" y="2103120"/>
            <a:ext cx="3703320" cy="91440"/>
          </a:xfrm>
          <a:prstGeom prst="rect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已完成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FastAPI session / check-in /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Weekly Coordinator / BaseSession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MaterialSource + UserContext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四类 Session 入口与模板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Tech Radar 真实公开源接入 + 去重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8006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原生 SwiftUI iOS 主端基线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18464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Deep Dive 端到端闭环录屏路径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2816" y="2103120"/>
            <a:ext cx="370332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进行中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4398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4398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iOS 接入 GOAI backend 联调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Deep Dive 队列与归档体验打磨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Agent Guidance 草稿链路收敛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README / runbook 撰写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Proposal PPT 与 60–90 秒视频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210312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103120"/>
            <a:ext cx="370332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230428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下一步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75904" y="2761487"/>
            <a:ext cx="330098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75904" y="28803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冻结主录屏路径(8/13)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26440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补齐轻量 Radar / Studio / Opp 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648456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完善 public source adapter 文档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403250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开放模板配置 + 开源仓库准备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4165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8/16 前提交可复现 Demo + 录屏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目标:8/16 前提交一个能被复现、能被录屏、能证明长期使用价值的 Boundless Agents 应用原型。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15 · 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参赛团队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团队成员与职责分工(可扩展)。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5" y="2103120"/>
            <a:ext cx="36118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5" y="2103120"/>
            <a:ext cx="3611880" cy="91440"/>
          </a:xfrm>
          <a:prstGeom prst="rect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3" y="2304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全栈 / Agent 设计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3" y="2761487"/>
            <a:ext cx="3209544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3" y="2880360"/>
            <a:ext cx="3246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后端架构与 Agent 设计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FastAPI / BaseSession / Coordinator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MaterialSource / OpenRouter 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36118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103120"/>
            <a:ext cx="3611880" cy="91440"/>
          </a:xfrm>
          <a:prstGeom prst="rect">
            <a:avLst/>
          </a:prstGeom>
          <a:solidFill>
            <a:srgbClr val="0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3" y="2304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0F8DA6"/>
                </a:solidFill>
                <a:latin typeface="Noto Sans CJK SC"/>
              </a:rPr>
              <a:t>iOS / 前端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9703" y="2761487"/>
            <a:ext cx="3209545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89703" y="2880360"/>
            <a:ext cx="3246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SwiftUI 应用主端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Today / History / Check-in 视图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API client 与状态管理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6118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2103120"/>
            <a:ext cx="3611880" cy="91440"/>
          </a:xfrm>
          <a:prstGeom prst="rect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304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内容 / 评估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761487"/>
            <a:ext cx="3209543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880360"/>
            <a:ext cx="32461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演示数据与场景案例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录屏路径与 PPT 内容</a:t>
            </a:r>
          </a:p>
          <a:p>
            <a:pPr algn="l">
              <a:lnSpc>
                <a:spcPct val="145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· 评估口径与验收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0720"/>
            <a:ext cx="11201400" cy="68580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8978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GitHub 仓库:比赛结束后开源  ·  License: MIT  ·  联系:见仓库 README 与 runbook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VALUE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76656"/>
            <a:ext cx="1118311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77724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圆周引擎让专业成长从「临时搜索」变成「周期行动」。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8075" y="2286000"/>
            <a:ext cx="502920" cy="502920"/>
          </a:xfrm>
          <a:prstGeom prst="ellipse">
            <a:avLst/>
          </a:prstGeom>
          <a:solidFill>
            <a:srgbClr val="22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243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225BB7"/>
                </a:solidFill>
                <a:latin typeface="Noto Sans CJK SC"/>
              </a:rPr>
              <a:t>降低启动成本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3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今天该做什么由节奏与上下文共同决定,不再每次从零判断。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555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88436" y="2286000"/>
            <a:ext cx="502920" cy="502920"/>
          </a:xfrm>
          <a:prstGeom prst="ellipse">
            <a:avLst/>
          </a:prstGeom>
          <a:solidFill>
            <a:srgbClr val="1E8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79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1E886F"/>
                </a:solidFill>
                <a:latin typeface="Noto Sans CJK SC"/>
              </a:rPr>
              <a:t>提升执行质量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672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每次 session 都有材料、目标、时间预算与完成标准。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8796" y="2286000"/>
            <a:ext cx="502920" cy="502920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315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E07A2E"/>
                </a:solidFill>
                <a:latin typeface="Noto Sans CJK SC"/>
              </a:rPr>
              <a:t>形成长期证据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check-in、History 与能力画像反哺下一轮判断。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276" y="21031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49156" y="2286000"/>
            <a:ext cx="502920" cy="502920"/>
          </a:xfrm>
          <a:prstGeom prst="ellipse">
            <a:avLst/>
          </a:prstGeom>
          <a:solidFill>
            <a:srgbClr val="8E5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ea typeface="Noto Sans CJK SC"/>
                <a:cs typeface="Noto Sans CJK SC"/>
                <a:solidFill>
                  <a:srgbClr val="FFFFFF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3516" y="2377439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ea typeface="Noto Sans CJK SC"/>
                <a:cs typeface="Noto Sans CJK SC"/>
                <a:solidFill>
                  <a:srgbClr val="8E5BC8"/>
                </a:solidFill>
                <a:latin typeface="Noto Sans CJK SC"/>
              </a:rPr>
              <a:t>具备行业复用性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97180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四类 session 可迁移到教育、研究、创作与产品探索。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60"/>
            <a:ext cx="11201400" cy="132588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一句话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ea typeface="Noto Sans CJK SC"/>
                <a:cs typeface="Noto Sans CJK SC"/>
                <a:solidFill>
                  <a:srgbClr val="1C202C"/>
                </a:solidFill>
                <a:latin typeface="Noto Sans CJK SC"/>
              </a:rPr>
              <a:t>A closed-loop Agent for recurring vocational capability building.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· GOAI Boundless Agents · 提交前最终页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圆周引擎 Orbit Engine · GOAI Boundless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836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ea typeface="Noto Sans CJK SC"/>
                <a:cs typeface="Noto Sans CJK SC"/>
                <a:solidFill>
                  <a:srgbClr val="5E6574"/>
                </a:solidFill>
                <a:latin typeface="Noto Sans CJK S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