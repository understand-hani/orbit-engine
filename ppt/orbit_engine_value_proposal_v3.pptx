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GOAI 世界人工智能开源大赛 · 无界应用赛道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608076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圆周引擎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ea typeface="Noto Sans CJK SC"/>
                <a:cs typeface="Noto Sans CJK SC"/>
                <a:solidFill>
                  <a:srgbClr val="0F8DA6"/>
                </a:solidFill>
                <a:latin typeface="Noto Sans CJK SC"/>
              </a:rPr>
              <a:t>Orbit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面向成人职业能力建设的周期性行动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把分散信号转化为每日可执行 session,并沉淀为可复盘的能力证据。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20440"/>
            <a:ext cx="3657600" cy="329184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5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AI + Education / Vocational Education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520440"/>
            <a:ext cx="1783080" cy="329184"/>
          </a:xfrm>
          <a:prstGeom prst="round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5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Closed-loop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520440"/>
            <a:ext cx="1508760" cy="329184"/>
          </a:xfrm>
          <a:prstGeom prst="round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5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Runnable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868680"/>
            <a:ext cx="379476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097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核心闭环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58191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08483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→ Session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58775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→ Deep Dive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09067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→ Agent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59359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→ Check-in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409651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→ History / Next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976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七节点闭环 · 输入 / 理解 / 规划 / 调用 / 交付 / 验证 / 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01 · TRACK FIT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为什么适合 Boundless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手册要求真实场景、可运行闭环、工具/知识增强、反馈验证与合规边界。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" y="2103120"/>
            <a:ext cx="26060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" y="2103120"/>
            <a:ext cx="2606040" cy="91440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" y="226771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真实行业场景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" y="2697479"/>
            <a:ext cx="2203704" cy="3566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成人技术从业者需要在工作之外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持续跟踪研究、岗位与领域机会。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对应教育赛道 · 4.3.4 职业教育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6996" y="2103120"/>
            <a:ext cx="26060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6996" y="2103120"/>
            <a:ext cx="2606040" cy="91440"/>
          </a:xfrm>
          <a:prstGeom prst="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8164" y="226771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0F8DA6"/>
                </a:solidFill>
                <a:latin typeface="Noto Sans CJK SC"/>
              </a:rPr>
              <a:t>不是通用聊天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8164" y="2697479"/>
            <a:ext cx="2203704" cy="3566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产品入口不是空白对话框,而是按周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节奏生成可执行 session;四类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任务模式复用同一套 BaseSession。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2103120"/>
            <a:ext cx="26060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2103120"/>
            <a:ext cx="2606040" cy="91440"/>
          </a:xfrm>
          <a:prstGeom prst="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7084" y="226771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可验证闭环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7084" y="2697479"/>
            <a:ext cx="2203704" cy="3566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Deep Dive 从材料选择、任务规划、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Agent 草稿到 Check-in 归档,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状态、时间戳、History 可被检查。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4836" y="2103120"/>
            <a:ext cx="26060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4836" y="2103120"/>
            <a:ext cx="2606040" cy="91440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226771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可复用模板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2697479"/>
            <a:ext cx="2203704" cy="3566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Radar / Deep Dive / Opportunity / Weekly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映射到研究、创作、产品、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语言等多领域;开源自带迁移模板。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02 ·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真正的阻力,不是缺计划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而是每次行动开始前反复出现的决策、筛选与沉淀成本。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420624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74903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30–60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常被消耗在「今天看什么、去哪找、值不值得看」的启动判断上。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4617720"/>
            <a:ext cx="374904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4754880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决策疲劳先于行动发生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高质量时间被消耗在筛选上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长期目标无法直接落地为 30/60/90 分钟任务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10312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四个反复出现的阻力点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606040"/>
            <a:ext cx="32461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2606040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743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C0392B"/>
                </a:solidFill>
                <a:latin typeface="Noto Sans CJK SC"/>
              </a:rPr>
              <a:t>1. 决策疲劳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172968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每天都要重新决定任务,行动意愿先被消耗。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606040"/>
            <a:ext cx="32461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2606040"/>
            <a:ext cx="73152" cy="1600200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2743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2. 筛选负担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172968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论文、repo、JD、新闻混在一起,噪音多于信号。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4389120"/>
            <a:ext cx="32461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4389120"/>
            <a:ext cx="73152" cy="1600200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4526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3. 粒度错位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956048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长期计划太大,不能直接落成 30/60/90 分钟任务。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389120"/>
            <a:ext cx="32461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20" y="4389120"/>
            <a:ext cx="73152" cy="1600200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526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4. 沉淀断层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956048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看过的材料和洞察没有进入下一轮判断。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03 · USER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一个真实的人,一条真实节奏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旗舰场景:职业方向探索期、需要持续建设能力的技术从业者。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438912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用户画像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697480"/>
            <a:ext cx="402336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834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有明确技术方向,但高质量时间有限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需要保持市场与技术敏感度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不适合每天从零搜索和规划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希望把学习投入转化为长期证据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对应手册教育赛道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4.3.4 职业教育/编程教育 Agent ·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任务分解 / 过程指导 / 反馈评价 / 学习路径建议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每周节奏 · 一周一次完整闭环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2606040"/>
            <a:ext cx="64008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49240" y="2606040"/>
            <a:ext cx="73152" cy="749808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269748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周一/二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974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Signal Radar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趋势、论文、产品、repo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3493008"/>
            <a:ext cx="64008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9240" y="3493008"/>
            <a:ext cx="73152" cy="749808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3584448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周三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58444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58444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岗位、比赛、benchmark、外部要求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9240" y="4379976"/>
            <a:ext cx="64008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49240" y="4379976"/>
            <a:ext cx="73152" cy="749808"/>
          </a:xfrm>
          <a:prstGeom prst="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4471416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周四/五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47141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0F8DA6"/>
                </a:solidFill>
                <a:latin typeface="Noto Sans CJK SC"/>
              </a:rPr>
              <a:t>Deep Dive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47141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材料精读、方法拆解、最小输出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49240" y="5266944"/>
            <a:ext cx="64008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49240" y="5266944"/>
            <a:ext cx="73152" cy="749808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5358383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周末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358383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Weekly Studio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5358383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归档复盘、能力画像、下周节奏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04 · PRODUCT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产品不是 Todo App,而是七节点闭环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它替用户完成「启动前判断」,再把执行结果写回下一轮。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258568"/>
            <a:ext cx="1254034" cy="365760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目标 / 计划 /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偏好 / 时间预算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58122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22714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4154" y="2258568"/>
            <a:ext cx="1254034" cy="365760"/>
          </a:xfrm>
          <a:prstGeom prst="round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4154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判断今天最该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进入哪类 session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77916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42508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33948" y="2258568"/>
            <a:ext cx="1254034" cy="365760"/>
          </a:xfrm>
          <a:prstGeom prst="round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3948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拆成 30/60/90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分钟任务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97710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62302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53742" y="2258568"/>
            <a:ext cx="1254034" cy="365760"/>
          </a:xfrm>
          <a:prstGeom prst="round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3742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材料源 / 公开源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历史 / LLM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17505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82097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73537" y="2258568"/>
            <a:ext cx="1254034" cy="365760"/>
          </a:xfrm>
          <a:prstGeom prst="round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3537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结构化工作区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与完成标准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37299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01891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93331" y="2258568"/>
            <a:ext cx="1254034" cy="365760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验证反馈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3331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Check-in · 用户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确认后归档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57093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221685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13125" y="2258568"/>
            <a:ext cx="1254034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安全边界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3125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不自动投递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不替人决策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1605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297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C0392B"/>
                </a:solidFill>
                <a:latin typeface="Noto Sans CJK SC"/>
              </a:rPr>
              <a:t>Todo App 的缺口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70916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用户自己定义所有任务;主要记录完成;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不理解材料、方向与外部要求;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缺信号入口 · 缺任务生成 · 缺上下文记忆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缺验证反馈 · 缺下一轮反哺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1605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297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Orbit Engine 的价值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70916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>
                <a:solidFill>
                  <a:srgbClr val="1F2333"/>
                </a:solidFill>
                <a:latin typeface="Aptos"/>
              </a:defRPr>
            </a:pPr>
            <a:r>
              <a:t>发现值得做的事，组织一次可执行 session，并把已确认的洞察写回下一轮。</a:t>
            </a:r>
          </a:p>
          <a:p>
            <a:pPr>
              <a:defRPr sz="1600">
                <a:solidFill>
                  <a:srgbClr val="1F2333"/>
                </a:solidFill>
                <a:latin typeface="Aptos"/>
              </a:defRPr>
            </a:pPr>
            <a:r>
              <a:t>· Coordinator 按节奏路由 · Agent 生成候选与草稿</a:t>
            </a:r>
          </a:p>
          <a:p>
            <a:pPr>
              <a:defRPr sz="1600">
                <a:solidFill>
                  <a:srgbClr val="1F2333"/>
                </a:solidFill>
                <a:latin typeface="Aptos"/>
              </a:defRPr>
            </a:pPr>
            <a:r>
              <a:t>· Material 选择、Check-in 归档、Plan 修改均由用户确认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05 · SESSION TYPES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四类会话覆盖长期能力建设的关键动作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同一套 BaseSession / Skill 抽象,只替换领域、材料源与生成逻辑。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" y="210312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" y="2103120"/>
            <a:ext cx="2606040" cy="91440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gnal-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2377439"/>
            <a:ext cx="224028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956" y="4800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Signal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" y="521207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扫描外部信号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论文 / 产品 / repo / 趋势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" y="5897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公开 RSS + 网页 + 去重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6996" y="210312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6996" y="2103120"/>
            <a:ext cx="2606040" cy="91440"/>
          </a:xfrm>
          <a:prstGeom prst="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eep-d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876" y="2377439"/>
            <a:ext cx="2240280" cy="228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79876" y="4800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Deep 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9876" y="521207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深度处理材料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9876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MaterialSource 接入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9876" y="5897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Check-in 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210312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5916" y="2103120"/>
            <a:ext cx="2606040" cy="91440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opportunity-align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2377439"/>
            <a:ext cx="2240280" cy="228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68796" y="4800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Opportunity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521207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对齐外部要求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JD / 比赛 /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8796" y="5897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用户上下文对齐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4836" y="210312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74836" y="2103120"/>
            <a:ext cx="2606040" cy="91440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eekly-stu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7716" y="2377439"/>
            <a:ext cx="2240280" cy="2286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57716" y="4800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Weekly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7716" y="521207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归档复盘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7716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归档 / 复盘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7716" y="5897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下周节奏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06 · DEMO LOOP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当前最强可演示闭环:Deep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把用户计划、材料源、任务规划、Agent 草稿和 History 连成一条可验证链路。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212848"/>
            <a:ext cx="1523999" cy="365760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按日期/手动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进入 Deep Dive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28088" y="2990087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92679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84119" y="2212848"/>
            <a:ext cx="1523999" cy="365760"/>
          </a:xfrm>
          <a:prstGeom prst="round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119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进行中/未完成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与新建入口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7847" y="2990087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82439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3879" y="2212848"/>
            <a:ext cx="1523999" cy="365760"/>
          </a:xfrm>
          <a:prstGeom prst="round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Material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79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读取 MaterialSource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与推荐理由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07607" y="2990087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72199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39" y="2212848"/>
            <a:ext cx="1523999" cy="365760"/>
          </a:xfrm>
          <a:prstGeom prst="round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完成标准与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Check-in 草稿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97367" y="2990087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61960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53399" y="2212848"/>
            <a:ext cx="1523999" cy="365760"/>
          </a:xfrm>
          <a:prstGeom prst="round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Check-in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3399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用户修改后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确认归档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87128" y="2990087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51720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43160" y="2212848"/>
            <a:ext cx="1523999" cy="365760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3160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状态/时间戳/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洞察/下一步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160520"/>
            <a:ext cx="6766560" cy="20116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97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可验证证据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0916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session status(枚举:pending / active / done)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saved check-in 时间戳(UTC + ISO)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source/material 引用 ID 与推荐理由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History 记录:洞察、下一步、反哺次数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—— 不需要手动改数据库,所有变更走 API + 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4160520"/>
            <a:ext cx="4297680" cy="20116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4297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Check-in 即验证反馈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709160"/>
            <a:ext cx="4023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对应手册 8.2 第 6 步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「验证与反馈」:Agent 草稿不直接入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库,用户修改并确认后才写入 History;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形成天然 human-in-the-loop 兜底。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07 · PRODUCT EVIDENCE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移动端产品形态已经跑通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原生 SwiftUI iOS 应用是当前主端,共享同一套后端 JSON 协议。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" y="2103120"/>
            <a:ext cx="3657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mo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" y="2331720"/>
            <a:ext cx="3291840" cy="33832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56" y="585215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四类 Session /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6" y="2103120"/>
            <a:ext cx="3657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mo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2331720"/>
            <a:ext cx="3291840" cy="33832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65676" y="585215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Deep Dive 队列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7596" y="2103120"/>
            <a:ext cx="3657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ignal-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475" y="2331720"/>
            <a:ext cx="3291840" cy="33832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97596" y="585215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材料与计划上下文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原生 iOS 已是主演示端 · 后端共享 FastAPI JSON 协议 · 录屏路径与 PPT 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200">
                <a:solidFill>
                  <a:srgbClr val="4B8FFF"/>
                </a:solidFill>
                <a:latin typeface="Aptos"/>
              </a:defRPr>
            </a:pPr>
            <a:r>
              <a:t>08 · ARCHITECTURE ADVANTAGE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800">
                <a:solidFill>
                  <a:srgbClr val="1F2333"/>
                </a:solidFill>
                <a:latin typeface="Aptos"/>
              </a:defRPr>
            </a:pPr>
            <a:r>
              <a:t>把专业成长做成可循环的行动基础设施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>
                <a:solidFill>
                  <a:srgbClr val="5B6279"/>
                </a:solidFill>
                <a:latin typeface="Aptos"/>
              </a:defRPr>
            </a:pPr>
            <a:r>
              <a:t>稳定的是闭环；可替换的是模型、材料源与领域配置。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" y="2103120"/>
            <a:ext cx="2240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456" y="2103120"/>
            <a:ext cx="2240280" cy="91440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2267712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>
                <a:solidFill>
                  <a:srgbClr val="1F2333"/>
                </a:solidFill>
                <a:latin typeface="Aptos"/>
              </a:defRPr>
            </a:pPr>
            <a:r>
              <a:t>一致入口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2697479"/>
            <a:ext cx="183794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SwiftUI iOS 主端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Web 作为 fallback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Today / History / Plan / My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价值：用户每天从同一入口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进入明确的下一步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6896" y="2103120"/>
            <a:ext cx="2240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6896" y="2103120"/>
            <a:ext cx="2240280" cy="91440"/>
          </a:xfrm>
          <a:prstGeom prst="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4" y="2267712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>
                <a:solidFill>
                  <a:srgbClr val="1F2333"/>
                </a:solidFill>
                <a:latin typeface="Aptos"/>
              </a:defRPr>
            </a:pPr>
            <a:r>
              <a:t>稳定闭环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2697479"/>
            <a:ext cx="183794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Weekly Coordinator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BaseSession 四类模板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Session queue + completion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价值：任务有状态、可暂停、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可确认、可进入下一轮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74336" y="2103120"/>
            <a:ext cx="2240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74336" y="2103120"/>
            <a:ext cx="2240280" cy="91440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2267712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>
                <a:solidFill>
                  <a:srgbClr val="1F2333"/>
                </a:solidFill>
                <a:latin typeface="Aptos"/>
              </a:defRPr>
            </a:pPr>
            <a:r>
              <a:t>任务型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2697479"/>
            <a:ext cx="183794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Research Feeder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Tech Radar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Opportunity Alignment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Chat / Guidance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价值：不是空白聊天，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而是围绕具体任务交付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6" y="2103120"/>
            <a:ext cx="2240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51776" y="2103120"/>
            <a:ext cx="2240280" cy="91440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2267712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>
                <a:solidFill>
                  <a:srgbClr val="1F2333"/>
                </a:solidFill>
                <a:latin typeface="Aptos"/>
              </a:defRPr>
            </a:pPr>
            <a:r>
              <a:t>可插拔能力层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697479"/>
            <a:ext cx="183794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模型、公开源、用户材料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都通过 adapter 接入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可替换：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· 换模型，不改任务闭环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· 换材料源，不改确认流程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· 调用失败，向 UI 返回状态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9216" y="2103120"/>
            <a:ext cx="2240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29216" y="2103120"/>
            <a:ext cx="2240280" cy="91440"/>
          </a:xfrm>
          <a:prstGeom prst="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0384" y="2267712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>
                <a:solidFill>
                  <a:srgbClr val="1F2333"/>
                </a:solidFill>
                <a:latin typeface="Aptos"/>
              </a:defRPr>
            </a:pPr>
            <a:r>
              <a:t>长期上下文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0384" y="2697479"/>
            <a:ext cx="183794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UserContext · Plan · 偏好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MaterialSource · Check-ins · History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session/context_refs 绑定讨论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价值：已确认的结果进入</a:t>
            </a:r>
          </a:p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下一轮任务判断，而非一次性对话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400">
                <a:solidFill>
                  <a:srgbClr val="1F2333"/>
                </a:solidFill>
                <a:latin typeface="Aptos"/>
              </a:defRPr>
            </a:pPr>
            <a:r>
              <a:t>核心优势：换模型、换材料源、换领域配置，都不需要重写「节奏路由 → 任务状态 → 用户确认 → 反馈回写」这条闭环。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09 · EVALUATION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可量化的闭环评估指标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对应手册「效果验证 · 评估指标 · 样本数据 · 日志」。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关键指标 · 可在 backend 日志中统计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514600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651760"/>
            <a:ext cx="7315200" cy="4114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72491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72491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2724912"/>
            <a:ext cx="2834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当前口径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40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118104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Deep Dive 闭环完成率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3118104"/>
            <a:ext cx="2194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done 状态 session 比例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118104"/>
            <a:ext cx="283463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Demo fixture + completion API</a:t>
            </a:r>
          </a:p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可重复执行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57016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611880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Check-in 提交率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3611880"/>
            <a:ext cx="2194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进入 Deep Dive 后归档比例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3611880"/>
            <a:ext cx="283463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Check-in repository</a:t>
            </a:r>
          </a:p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保存 timestamp / next_action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50791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4105655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信号去重率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2888" y="4105655"/>
            <a:ext cx="2194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Tech Radar dedup 命中/总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4105655"/>
            <a:ext cx="283463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RSS + 公开网页</a:t>
            </a:r>
          </a:p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URL 去重逻辑与测试覆盖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44568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599431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历史反哺次数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2888" y="4599431"/>
            <a:ext cx="2194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后续 session 引用前周摘要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4599431"/>
            <a:ext cx="283463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Weekly Studio 读取本周 Check-in</a:t>
            </a:r>
          </a:p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并回写下周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38344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5093207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周节奏命中度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32888" y="5093207"/>
            <a:ext cx="2194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本周 4 类 session 是否触发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0328" y="5093207"/>
            <a:ext cx="283463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Weekly Coordinator</a:t>
            </a:r>
          </a:p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按日期生成 session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2103120"/>
            <a:ext cx="388620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2240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如何被验证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01000" y="2606040"/>
            <a:ext cx="352044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001000" y="2743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可复现：SQLite demo fixture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31089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  + 后端定向测试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4747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每条 session / check-in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840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  均可读取状态与时间戳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206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API: /api/sessions/today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572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  /api/sessions/by-date · /api/checkins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937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iOS 录屏：主链路 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3035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  异常/人工确认分支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5669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10 · FAILURE &amp; EXCEPTION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异常分支与失败处理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对应手册 8.3 / 8.5:失败、缺失信息、不确定结果、需人工确认节点有明确提示。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73152" cy="187451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C0392B"/>
                </a:solidFill>
                <a:latin typeface="Noto Sans CJK SC"/>
              </a:rPr>
              <a:t>材料源抓取失败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700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fetch 异常 → UI 标记「来源不可达」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显示来源状态；用户可更换 URL 或登记材料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提示用户登记本地 PDF 或更换 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73152" cy="1874519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402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LLM 输出不稳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700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推荐理由 / 草稿不直接写入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3580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结果附带来源与证据状态，供用户复查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015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用户在 Check-in 修改确认后才入库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60520"/>
            <a:ext cx="73152" cy="1874519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缺失信息/不确定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274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上下文不足 → 提示补充 Plan / 偏好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9320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推荐无源 → 标记「需用户校验」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589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不输出确定性结论,只给候选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605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160520"/>
            <a:ext cx="73152" cy="1874519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外部依赖故障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274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OpenRouter 不可用 → 使用 mock/规则路径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09320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RSS / 网页源异常 → 返回失败说明和来源状态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4589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不覆盖历史记录；用户可重试或登记材料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989320"/>
            <a:ext cx="11201400" cy="50292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人工确认节点:Material 选择 · Agent Guidance 草稿 · Check-in 归档 · Plan 修改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11 · DATA, SAFETY &amp; COMPLIANCE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数据来源透明,能力边界清晰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对应手册 8.4:来源、授权、匿名化、访问控制、删除与可追溯。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3611880" cy="73152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28600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材料来源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67004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用户登记:PDF metadata / URL / 手动材料卡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01752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公开源:arXiv RSS 等可配置 adapter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364991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所有来源在 UI 显式标注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031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611880" cy="73152"/>
          </a:xfrm>
          <a:prstGeom prst="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28600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0F8DA6"/>
                </a:solidFill>
                <a:latin typeface="Noto Sans CJK SC"/>
              </a:rPr>
              <a:t>本地数据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67004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SQLite:用户上下文、计划、偏好、check-in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01752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当前版本不设账号体系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364991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仅保存计划、会话与归档所需元数据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1031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2103120"/>
            <a:ext cx="3611880" cy="73152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228600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模型边界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67004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LLM 用于结构化分析、推荐理由、草稿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01752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用户确认后才写入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364991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不调用任何账号系统,无副作用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062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206240"/>
            <a:ext cx="3611880" cy="73152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38912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演示数据说明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77316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data/infra_agent.db · day3_demo.db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12064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为比赛演示用样本数据,非真实个人数据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5468112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模拟逻辑见 docs/source_compliance_note.md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2062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206240"/>
            <a:ext cx="3611880" cy="73152"/>
          </a:xfrm>
          <a:prstGeom prst="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438912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面向成人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477316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产品定位:成人职业能力建设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512064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不收集未成年人学习数据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5468112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规避未成年人/学习数据合规红线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42062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4206240"/>
            <a:ext cx="3611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8" y="438912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C0392B"/>
                </a:solidFill>
                <a:latin typeface="Noto Sans CJK SC"/>
              </a:rPr>
              <a:t>风险控制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8" y="477316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不自动投递 · 不自动提交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8" y="512064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不替用户做职业/学习选择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3608" y="5468112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fallback / demo source 明确标注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来源引用可追溯:每个 Radar 信号带 url · 每个 Deep Dive Material 带 source_id · 每条 History 带 timestamp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12 · REUSABLE VALUE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不是单场景 demo,而是一套可迁移模板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迁移的是领域配置;不变的是四类任务模式与闭环结构。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" y="233172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" y="2423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领域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6836" y="242316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Radar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1396" y="242316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Deep 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956" y="242316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0516" y="2423160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Weekly Studio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" y="2788920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" y="289864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职业能力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6836" y="289864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技术/产品动态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1396" y="289864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论文/repo 精读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956" y="289864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岗位/比赛/能力差距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0516" y="2898648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能力档案与下周任务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" y="3291839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" y="340156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研究探索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6836" y="340156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最新论文/benchmark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1396" y="340156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方法拆解/复现判断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956" y="340156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CFP/open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0516" y="3401568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方向判断与材料归档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636" y="3794759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" y="3904487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创作者/IP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16836" y="390448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平台趋势/视觉参考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1396" y="390448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案例拆解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5956" y="390448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用户反馈/内容机会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0516" y="3904487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选题库和发布复盘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6636" y="4297679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" y="4407407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产品创业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16836" y="440740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行业/竞品信号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1396" y="440740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案例/报告精读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5956" y="440740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需求/市场机会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0516" y="4407407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假设、证据和下一步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6636" y="4800599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" y="4910327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语言学习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16836" y="491032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考试/材料更新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1396" y="491032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文章/听力精练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956" y="491032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目标场景要求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0516" y="4910327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词汇、错题和复习计划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开源交付:BaseSession 抽象 · MaterialSource adapter 模板 · Session 配置文件 · 部署文档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13 · PROVENANCE &amp; OPEN SOURCE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原项目来源披露与开源计划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对应手册 9.0「基于现有项目开发的披露」与开源合规要求。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57784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基于现有项目开发(披露)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606040"/>
            <a:ext cx="521208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74320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原项目:个人 Infra Agent(AI / 自动驾驶 方向)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3580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仓库路径:/home/maxh/Agent/infra(只读参考)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2841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团队贡献范围: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21024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比赛期间从零重写为圆周引擎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13632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新增:BaseSession 抽象 / Weekly Coordinator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0624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新增:四类 Session 模板与周节奏编排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9884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创新点: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9145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把「启动前判断」抽象为 Agent 主能力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84064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把「Check-in 即验证反馈」嵌入闭环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76672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License 兼容性: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6928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原项目为个人仓库,无第三方 License 传染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6188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新代码使用 MIT 协议开源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103120"/>
            <a:ext cx="5468112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240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开源计划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2606040"/>
            <a:ext cx="512064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274320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仓库地址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7432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GitHub · 待发布(比赛后公开)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1752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License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01752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291839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交付内容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29183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FastAPI 后端 + SQLite 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56615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iOS SwiftUI 应用源码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84047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BaseSession 抽象与四类 Session 模板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11479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MaterialSource adapter 接口与示例实现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38911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一键部署脚本 + runbook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66343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演示数据生成脚本(可重现)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93775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docs/:方案 / Demo 路径 / 合规说明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79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第三方依赖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521207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FastAPI · SQLite · OpenRouter SDK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548639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RSS / httpx · 全部为标准开源组件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14 · PROGRESS &amp; 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当前开发进度与提交前路径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不夸大完成度:已跑通主闭环,非主链路作为轻量模板展示。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2103120"/>
            <a:ext cx="37033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" y="2103120"/>
            <a:ext cx="3703320" cy="91440"/>
          </a:xfrm>
          <a:prstGeom prst="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3042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已完成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2064" y="2761487"/>
            <a:ext cx="3300984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2064" y="28803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FastAPI session / check-in /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326440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Weekly Coordinator / BaseSession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64845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MaterialSource + UserContext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40325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四类 Session 入口与模板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4416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Tech Radar 公开源接入 + 去重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48006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Weekly Studio 复盘并回写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518464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原生 SwiftUI iOS 主端 + Deep Dive 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2103120"/>
            <a:ext cx="37033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42816" y="2103120"/>
            <a:ext cx="3703320" cy="91440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23042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进行中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43984" y="2761487"/>
            <a:ext cx="3300984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43984" y="28803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iOS 与 GOAI backend 联调与录屏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326440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Deep Dive 队列与归档体验打磨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364845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Agent Guidance 草稿路径收敛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40325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README / runbook 撰写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4416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Proposal PPT 与 60–90 秒视频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2103120"/>
            <a:ext cx="37033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4736" y="2103120"/>
            <a:ext cx="3703320" cy="91440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23042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下一步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75904" y="2761487"/>
            <a:ext cx="3300984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75904" y="28803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冻结 60–90 秒主录屏路径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326440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>
                <a:solidFill>
                  <a:srgbClr val="1F2333"/>
                </a:solidFill>
                <a:latin typeface="Aptos"/>
              </a:defRPr>
            </a:pPr>
            <a:r>
              <a:t>· 补录 Material / Check-in / History 证据帧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364845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完善 public source adapter 文档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40325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开放模板配置 + 开源仓库准备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416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8/16 前提交可复现 Demo + 录屏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目标:8/16 前提交一个能被复现、能被录屏、能证明长期使用价值的 Boundless Agents 应用原型。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B8FFF"/>
                </a:solidFill>
                <a:latin typeface="Aptos"/>
              </a:rPr>
              <a:t>15 · RUNTIME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33"/>
                </a:solidFill>
                <a:latin typeface="Aptos"/>
              </a:rPr>
              <a:t>一条可复查的移动端闭环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279"/>
                </a:solidFill>
                <a:latin typeface="Aptos"/>
              </a:rPr>
              <a:t>示例路径：Today 选择 session → Deep Dive → 用户确认 Check-in → History / 下一轮计划。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1144143" cy="35204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011680"/>
            <a:ext cx="1144143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65099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279"/>
                </a:solidFill>
                <a:latin typeface="Aptos"/>
              </a:rPr>
              <a:t>已实现界面：Today / Scheduled /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565099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279"/>
                </a:solidFill>
                <a:latin typeface="Aptos"/>
              </a:rPr>
              <a:t>已实现界面：iOS tab + 后端连接状态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993392"/>
            <a:ext cx="5394960" cy="3840480"/>
          </a:xfrm>
          <a:prstGeom prst="rect">
            <a:avLst/>
          </a:prstGeom>
          <a:solidFill>
            <a:srgbClr val="F4F6FC"/>
          </a:solidFill>
          <a:ln>
            <a:solidFill>
              <a:srgbClr val="DD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333"/>
                </a:solidFill>
                <a:latin typeface="Aptos"/>
              </a:rPr>
              <a:t>可核验状态链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15184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279"/>
                </a:solidFill>
                <a:latin typeface="Aptos"/>
              </a:rPr>
              <a:t>不通过手工改库构造结果；关键变化均走 API 与 UI。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3163824"/>
            <a:ext cx="128016" cy="128016"/>
          </a:xfrm>
          <a:prstGeom prst="ellipse">
            <a:avLst/>
          </a:prstGeom>
          <a:solidFill>
            <a:srgbClr val="4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312724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279"/>
                </a:solidFill>
                <a:latin typeface="Aptos"/>
              </a:rP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10896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333"/>
                </a:solidFill>
                <a:latin typeface="Aptos"/>
              </a:rPr>
              <a:t>UserContext + 时间预算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3675887"/>
            <a:ext cx="128016" cy="128016"/>
          </a:xfrm>
          <a:prstGeom prst="ellipse">
            <a:avLst/>
          </a:prstGeom>
          <a:solidFill>
            <a:srgbClr val="EE7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363931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279"/>
                </a:solidFill>
                <a:latin typeface="Aptos"/>
              </a:rPr>
              <a:t>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621024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333"/>
                </a:solidFill>
                <a:latin typeface="Aptos"/>
              </a:rPr>
              <a:t>Coordinator / MaterialSource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4187952"/>
            <a:ext cx="128016" cy="128016"/>
          </a:xfrm>
          <a:prstGeom prst="ellipse">
            <a:avLst/>
          </a:prstGeom>
          <a:solidFill>
            <a:srgbClr val="4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415137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279"/>
                </a:solidFill>
                <a:latin typeface="Aptos"/>
              </a:rPr>
              <a:t>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133088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333"/>
                </a:solidFill>
                <a:latin typeface="Aptos"/>
              </a:rPr>
              <a:t>材料选择 + 草稿修改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0" y="4700016"/>
            <a:ext cx="128016" cy="128016"/>
          </a:xfrm>
          <a:prstGeom prst="ellipse">
            <a:avLst/>
          </a:prstGeom>
          <a:solidFill>
            <a:srgbClr val="EE7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46634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279"/>
                </a:solidFill>
                <a:latin typeface="Aptos"/>
              </a:rPr>
              <a:t>写入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645152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333"/>
                </a:solidFill>
                <a:latin typeface="Aptos"/>
              </a:rPr>
              <a:t>Check-in timestamp + next_action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0" y="5212080"/>
            <a:ext cx="128016" cy="128016"/>
          </a:xfrm>
          <a:prstGeom prst="ellipse">
            <a:avLst/>
          </a:prstGeom>
          <a:solidFill>
            <a:srgbClr val="4B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517550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279"/>
                </a:solidFill>
                <a:latin typeface="Aptos"/>
              </a:rPr>
              <a:t>复查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157216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333"/>
                </a:solidFill>
                <a:latin typeface="Aptos"/>
              </a:rPr>
              <a:t>/sessions/today · /checkins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925312"/>
            <a:ext cx="5074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279"/>
                </a:solidFill>
                <a:latin typeface="Aptos"/>
              </a:rPr>
              <a:t>最终 60–90 秒录屏将补齐 Material、Check-in、History 三个连续状态帧。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279"/>
                </a:solidFill>
                <a:latin typeface="Aptos"/>
              </a:rPr>
              <a:t>圆周引擎 Orbit Engine · GOAI Boundless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279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VALUE 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7724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圆周引擎让专业成长从「临时搜索」变成「周期行动」。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5" y="21031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8075" y="2286000"/>
            <a:ext cx="502920" cy="502920"/>
          </a:xfrm>
          <a:prstGeom prst="ellipse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2436" y="2377439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降低启动成本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3" y="29718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今天该做什么由节奏与上下文共同决定,不再每次从零判断。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5556" y="21031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88436" y="2286000"/>
            <a:ext cx="502920" cy="502920"/>
          </a:xfrm>
          <a:prstGeom prst="ellipse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2796" y="2377439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提升执行质量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6724" y="29718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每次 session 都有材料、目标、时间预算与完成标准。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21031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68796" y="2286000"/>
            <a:ext cx="502920" cy="502920"/>
          </a:xfrm>
          <a:prstGeom prst="ellipse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3156" y="2377439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形成长期证据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7084" y="29718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check-in、History 与能力画像反哺下一轮判断。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276" y="21031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49156" y="2286000"/>
            <a:ext cx="502920" cy="502920"/>
          </a:xfrm>
          <a:prstGeom prst="ellipse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3516" y="2377439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具备行业复用性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444" y="29718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四类 session 可迁移到教育、研究、创作与产品探索。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37760"/>
            <a:ext cx="11201400" cy="13258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749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一句话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49240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A closed-loop Agent for recurring vocational capability building.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07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· GOAI Boundless Agents · 提交前最终页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