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3" r:id="rId4"/>
    <p:sldMasterId id="2147483655" r:id="rId5"/>
    <p:sldMasterId id="2147483657" r:id="rId6"/>
  </p:sldMasterIdLst>
  <p:notesMasterIdLst>
    <p:notesMasterId r:id="rId14"/>
  </p:notesMasterIdLst>
  <p:handoutMasterIdLst>
    <p:handoutMasterId r:id="rId15"/>
  </p:handoutMasterIdLst>
  <p:sldIdLst>
    <p:sldId id="256" r:id="rId7"/>
    <p:sldId id="262" r:id="rId8"/>
    <p:sldId id="261" r:id="rId9"/>
    <p:sldId id="260" r:id="rId10"/>
    <p:sldId id="264" r:id="rId11"/>
    <p:sldId id="263" r:id="rId12"/>
    <p:sldId id="265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D6C9"/>
    <a:srgbClr val="C2B5FF"/>
    <a:srgbClr val="8DB7FF"/>
    <a:srgbClr val="99B0E4"/>
    <a:srgbClr val="FC9686"/>
    <a:srgbClr val="FFD0E0"/>
    <a:srgbClr val="F4F1E9"/>
    <a:srgbClr val="BF727E"/>
    <a:srgbClr val="D6A5AD"/>
    <a:srgbClr val="FFD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2"/>
        <p:guide pos="386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3007995" y="10795"/>
            <a:ext cx="7039610" cy="7039610"/>
          </a:xfrm>
          <a:prstGeom prst="rect">
            <a:avLst/>
          </a:prstGeom>
        </p:spPr>
      </p:pic>
      <p:sp>
        <p:nvSpPr>
          <p:cNvPr id="13" name="椭圆 12"/>
          <p:cNvSpPr/>
          <p:nvPr userDrawn="1"/>
        </p:nvSpPr>
        <p:spPr>
          <a:xfrm>
            <a:off x="2514600" y="-399415"/>
            <a:ext cx="5505450" cy="5542915"/>
          </a:xfrm>
          <a:prstGeom prst="ellipse">
            <a:avLst/>
          </a:prstGeom>
          <a:solidFill>
            <a:srgbClr val="F4F1E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-1500000">
            <a:off x="2221865" y="2085340"/>
            <a:ext cx="7503795" cy="2461260"/>
          </a:xfrm>
          <a:prstGeom prst="rect">
            <a:avLst/>
          </a:prstGeom>
        </p:spPr>
      </p:pic>
      <p:pic>
        <p:nvPicPr>
          <p:cNvPr id="12" name="Picture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-1860000">
            <a:off x="2242185" y="2092325"/>
            <a:ext cx="7463790" cy="24479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>
          <a:gsLst>
            <a:gs pos="51000">
              <a:srgbClr val="E4D8EE"/>
            </a:gs>
            <a:gs pos="0">
              <a:schemeClr val="accent6">
                <a:lumMod val="20000"/>
                <a:lumOff val="8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Freeform 3" descr="a glowing gradient brush stroke "/>
          <p:cNvSpPr/>
          <p:nvPr userDrawn="1"/>
        </p:nvSpPr>
        <p:spPr>
          <a:xfrm rot="9007576">
            <a:off x="-2720340" y="1591310"/>
            <a:ext cx="7639685" cy="8204200"/>
          </a:xfrm>
          <a:custGeom>
            <a:avLst/>
            <a:gdLst/>
            <a:ahLst/>
            <a:cxnLst/>
            <a:rect l="l" t="t" r="r" b="b"/>
            <a:pathLst>
              <a:path w="10624840" h="12724359">
                <a:moveTo>
                  <a:pt x="0" y="0"/>
                </a:moveTo>
                <a:lnTo>
                  <a:pt x="10624840" y="0"/>
                </a:lnTo>
                <a:lnTo>
                  <a:pt x="10624840" y="12724359"/>
                </a:lnTo>
                <a:lnTo>
                  <a:pt x="0" y="127243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</a:blip>
            <a:stretch>
              <a:fillRect/>
            </a:stretch>
          </a:blip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9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openxmlformats.org/officeDocument/2006/relationships/image" Target="../media/image11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Freeform 2" descr="a glowing gradient brush stroke"/>
          <p:cNvSpPr/>
          <p:nvPr userDrawn="1"/>
        </p:nvSpPr>
        <p:spPr>
          <a:xfrm>
            <a:off x="2698750" y="637540"/>
            <a:ext cx="6263640" cy="5582920"/>
          </a:xfrm>
          <a:custGeom>
            <a:avLst/>
            <a:gdLst/>
            <a:ahLst/>
            <a:cxnLst/>
            <a:rect l="l" t="t" r="r" b="b"/>
            <a:pathLst>
              <a:path w="8553310" h="8553310">
                <a:moveTo>
                  <a:pt x="0" y="0"/>
                </a:moveTo>
                <a:lnTo>
                  <a:pt x="8553310" y="0"/>
                </a:lnTo>
                <a:lnTo>
                  <a:pt x="8553310" y="8553310"/>
                </a:lnTo>
                <a:lnTo>
                  <a:pt x="0" y="855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3"/>
          <p:cNvSpPr/>
          <p:nvPr userDrawn="1"/>
        </p:nvSpPr>
        <p:spPr>
          <a:xfrm rot="-2244769">
            <a:off x="7503160" y="-3639185"/>
            <a:ext cx="8134350" cy="8946515"/>
          </a:xfrm>
          <a:custGeom>
            <a:avLst/>
            <a:gdLst/>
            <a:ahLst/>
            <a:cxnLst/>
            <a:rect l="l" t="t" r="r" b="b"/>
            <a:pathLst>
              <a:path w="12326388" h="12824155">
                <a:moveTo>
                  <a:pt x="0" y="0"/>
                </a:moveTo>
                <a:lnTo>
                  <a:pt x="12326387" y="0"/>
                </a:lnTo>
                <a:lnTo>
                  <a:pt x="12326387" y="12824154"/>
                </a:lnTo>
                <a:lnTo>
                  <a:pt x="0" y="12824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8" r="-328"/>
            </a:stretch>
          </a:blipFill>
        </p:spPr>
      </p:sp>
      <p:sp>
        <p:nvSpPr>
          <p:cNvPr id="9" name="Freeform 4"/>
          <p:cNvSpPr/>
          <p:nvPr userDrawn="1"/>
        </p:nvSpPr>
        <p:spPr>
          <a:xfrm rot="1162109">
            <a:off x="-5512435" y="3198495"/>
            <a:ext cx="10259695" cy="7027545"/>
          </a:xfrm>
          <a:custGeom>
            <a:avLst/>
            <a:gdLst/>
            <a:ahLst/>
            <a:cxnLst/>
            <a:rect l="l" t="t" r="r" b="b"/>
            <a:pathLst>
              <a:path w="15657358" h="11677597">
                <a:moveTo>
                  <a:pt x="0" y="0"/>
                </a:moveTo>
                <a:lnTo>
                  <a:pt x="15657358" y="0"/>
                </a:lnTo>
                <a:lnTo>
                  <a:pt x="15657358" y="11677597"/>
                </a:lnTo>
                <a:lnTo>
                  <a:pt x="0" y="11677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4350"/>
            </a:stretch>
          </a:blip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Freeform 2" descr="a rounded gradient shape"/>
          <p:cNvSpPr/>
          <p:nvPr userDrawn="1"/>
        </p:nvSpPr>
        <p:spPr>
          <a:xfrm>
            <a:off x="6096000" y="-3339465"/>
            <a:ext cx="10243185" cy="9320530"/>
          </a:xfrm>
          <a:custGeom>
            <a:avLst/>
            <a:gdLst/>
            <a:ahLst/>
            <a:cxnLst/>
            <a:rect l="l" t="t" r="r" b="b"/>
            <a:pathLst>
              <a:path w="15350424" h="15350424">
                <a:moveTo>
                  <a:pt x="0" y="0"/>
                </a:moveTo>
                <a:lnTo>
                  <a:pt x="15350424" y="0"/>
                </a:lnTo>
                <a:lnTo>
                  <a:pt x="15350424" y="15350424"/>
                </a:lnTo>
                <a:lnTo>
                  <a:pt x="0" y="15350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3"/>
          <p:cNvSpPr/>
          <p:nvPr userDrawn="1"/>
        </p:nvSpPr>
        <p:spPr>
          <a:xfrm>
            <a:off x="-5285105" y="-1374140"/>
            <a:ext cx="12105640" cy="10544175"/>
          </a:xfrm>
          <a:custGeom>
            <a:avLst/>
            <a:gdLst/>
            <a:ahLst/>
            <a:cxnLst/>
            <a:rect l="l" t="t" r="r" b="b"/>
            <a:pathLst>
              <a:path w="18963665" h="18299937">
                <a:moveTo>
                  <a:pt x="0" y="0"/>
                </a:moveTo>
                <a:lnTo>
                  <a:pt x="18963665" y="0"/>
                </a:lnTo>
                <a:lnTo>
                  <a:pt x="18963665" y="18299937"/>
                </a:lnTo>
                <a:lnTo>
                  <a:pt x="0" y="18299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/>
            </a:stretch>
          </a:blip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Freeform 2"/>
          <p:cNvSpPr/>
          <p:nvPr userDrawn="1"/>
        </p:nvSpPr>
        <p:spPr>
          <a:xfrm rot="1386800">
            <a:off x="-4359275" y="-4234815"/>
            <a:ext cx="9654540" cy="11571605"/>
          </a:xfrm>
          <a:custGeom>
            <a:avLst/>
            <a:gdLst/>
            <a:ahLst/>
            <a:cxnLst/>
            <a:rect l="l" t="t" r="r" b="b"/>
            <a:pathLst>
              <a:path w="16785154" h="19718242">
                <a:moveTo>
                  <a:pt x="0" y="0"/>
                </a:moveTo>
                <a:lnTo>
                  <a:pt x="16785154" y="0"/>
                </a:lnTo>
                <a:lnTo>
                  <a:pt x="16785154" y="19718242"/>
                </a:lnTo>
                <a:lnTo>
                  <a:pt x="0" y="19718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3" descr="a glowing gradient brush stroke"/>
          <p:cNvSpPr/>
          <p:nvPr userDrawn="1"/>
        </p:nvSpPr>
        <p:spPr>
          <a:xfrm>
            <a:off x="3216345" y="596335"/>
            <a:ext cx="5760000" cy="5760000"/>
          </a:xfrm>
          <a:custGeom>
            <a:avLst/>
            <a:gdLst/>
            <a:ahLst/>
            <a:cxnLst/>
            <a:rect l="l" t="t" r="r" b="b"/>
            <a:pathLst>
              <a:path w="8553310" h="8553310">
                <a:moveTo>
                  <a:pt x="0" y="0"/>
                </a:moveTo>
                <a:lnTo>
                  <a:pt x="8553310" y="0"/>
                </a:lnTo>
                <a:lnTo>
                  <a:pt x="8553310" y="8553310"/>
                </a:lnTo>
                <a:lnTo>
                  <a:pt x="0" y="85533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4"/>
          <p:cNvSpPr/>
          <p:nvPr userDrawn="1"/>
        </p:nvSpPr>
        <p:spPr>
          <a:xfrm rot="776759">
            <a:off x="9402445" y="2672715"/>
            <a:ext cx="7814310" cy="5801360"/>
          </a:xfrm>
          <a:custGeom>
            <a:avLst/>
            <a:gdLst/>
            <a:ahLst/>
            <a:cxnLst/>
            <a:rect l="l" t="t" r="r" b="b"/>
            <a:pathLst>
              <a:path w="12435485" h="11098670">
                <a:moveTo>
                  <a:pt x="0" y="0"/>
                </a:moveTo>
                <a:lnTo>
                  <a:pt x="12435485" y="0"/>
                </a:lnTo>
                <a:lnTo>
                  <a:pt x="12435485" y="11098671"/>
                </a:lnTo>
                <a:lnTo>
                  <a:pt x="0" y="11098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Freeform 2" descr="a colorful glowing gradient brush stroke "/>
          <p:cNvSpPr/>
          <p:nvPr userDrawn="1"/>
        </p:nvSpPr>
        <p:spPr>
          <a:xfrm rot="6381568">
            <a:off x="8330565" y="-2060575"/>
            <a:ext cx="7562215" cy="10107930"/>
          </a:xfrm>
          <a:custGeom>
            <a:avLst/>
            <a:gdLst/>
            <a:ahLst/>
            <a:cxnLst/>
            <a:rect l="l" t="t" r="r" b="b"/>
            <a:pathLst>
              <a:path w="13067819" h="14379993">
                <a:moveTo>
                  <a:pt x="0" y="0"/>
                </a:moveTo>
                <a:lnTo>
                  <a:pt x="13067819" y="0"/>
                </a:lnTo>
                <a:lnTo>
                  <a:pt x="13067819" y="14379993"/>
                </a:lnTo>
                <a:lnTo>
                  <a:pt x="0" y="143799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1" Type="http://schemas.openxmlformats.org/officeDocument/2006/relationships/slideLayout" Target="../slideLayouts/slideLayout4.xml"/><Relationship Id="rId10" Type="http://schemas.openxmlformats.org/officeDocument/2006/relationships/image" Target="../media/image14.png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86125" y="2357120"/>
            <a:ext cx="60833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 b="1">
                <a:latin typeface="URW Gothic" panose="00000500000000000000" charset="0"/>
                <a:ea typeface="Noto Serif CJK KR Black" panose="02020900000000000000" charset="-122"/>
                <a:cs typeface="URW Gothic" panose="00000500000000000000" charset="0"/>
              </a:rPr>
              <a:t>Orbit Engine</a:t>
            </a:r>
            <a:endParaRPr lang="en-US" altLang="zh-CN" sz="6000" b="1">
              <a:latin typeface="URW Gothic" panose="00000500000000000000" charset="0"/>
              <a:ea typeface="Noto Serif CJK KR Black" panose="02020900000000000000" charset="-122"/>
              <a:cs typeface="URW Gothic" panose="000005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67150" y="3371850"/>
            <a:ext cx="49307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 b="1">
                <a:latin typeface="URW Gothic" panose="00000500000000000000" charset="0"/>
                <a:ea typeface="Noto Serif CJK KR Black" panose="02020900000000000000" charset="-122"/>
                <a:cs typeface="URW Gothic" panose="00000500000000000000" charset="0"/>
              </a:rPr>
              <a:t>圆周引擎</a:t>
            </a:r>
            <a:endParaRPr lang="zh-CN" altLang="en-US" sz="4800" b="1">
              <a:latin typeface="URW Gothic" panose="00000500000000000000" charset="0"/>
              <a:ea typeface="Noto Serif CJK KR Black" panose="02020900000000000000" charset="-122"/>
              <a:cs typeface="URW Gothic" panose="00000500000000000000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25955" y="439420"/>
            <a:ext cx="8686800" cy="45720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+mn-ea"/>
                <a:cs typeface="+mn-ea"/>
              </a:rPr>
              <a:t>面向任意专业领域的周期性成长 Agent</a:t>
            </a:r>
            <a:endParaRPr lang="en-US" sz="16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6" name="Text 8"/>
          <p:cNvSpPr/>
          <p:nvPr/>
        </p:nvSpPr>
        <p:spPr>
          <a:xfrm>
            <a:off x="1925955" y="782320"/>
            <a:ext cx="8686800" cy="41148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+mn-ea"/>
                <a:cs typeface="+mn-ea"/>
              </a:rPr>
              <a:t>每一次循环，都在积累前进的动能 — Every cycle builds momentum.</a:t>
            </a:r>
            <a:endParaRPr lang="en-US" sz="12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01240" y="5490210"/>
            <a:ext cx="7589520" cy="105156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chemeClr val="tx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赛道方向：</a:t>
            </a:r>
            <a:r>
              <a:rPr lang="en-US" sz="1300" dirty="0">
                <a:solidFill>
                  <a:schemeClr val="tx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AI + Education（成人职业技能教育 Agent）
</a:t>
            </a:r>
            <a:r>
              <a:rPr lang="en-US" sz="1300" b="1" dirty="0">
                <a:solidFill>
                  <a:schemeClr val="tx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团队名称：</a:t>
            </a:r>
            <a:r>
              <a:rPr lang="en-US" sz="1300" dirty="0">
                <a:solidFill>
                  <a:schemeClr val="tx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圆周引擎  |  </a:t>
            </a:r>
            <a:r>
              <a:rPr lang="en-US" sz="1300" b="1" dirty="0">
                <a:solidFill>
                  <a:schemeClr val="tx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提交日期：</a:t>
            </a:r>
            <a:r>
              <a:rPr lang="en-US" sz="1300" dirty="0">
                <a:solidFill>
                  <a:schemeClr val="tx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2026.08.16
</a:t>
            </a:r>
            <a:r>
              <a:rPr lang="en-US" sz="1300" b="1" dirty="0">
                <a:solidFill>
                  <a:schemeClr val="tx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团队成员：</a:t>
            </a:r>
            <a:r>
              <a:rPr lang="zh-CN" altLang="en-US" sz="1300" b="1" dirty="0">
                <a:solidFill>
                  <a:schemeClr val="tx1"/>
                </a:solidFill>
                <a:latin typeface="Calibri" charset="0"/>
                <a:ea typeface="宋体" charset="0"/>
                <a:cs typeface="Calibri" pitchFamily="34" charset="-120"/>
              </a:rPr>
              <a:t>马小涵</a:t>
            </a:r>
            <a:r>
              <a:rPr lang="en-US" sz="1300" dirty="0">
                <a:solidFill>
                  <a:schemeClr val="tx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 · 独立开发者（负责产品 / 架构 / 全栈开发）</a:t>
            </a:r>
            <a:endParaRPr lang="en-US" sz="1300" dirty="0">
              <a:solidFill>
                <a:schemeClr val="tx1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25755" y="274320"/>
            <a:ext cx="4124960" cy="36576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300" b="1" kern="0" spc="150" dirty="0">
                <a:solidFill>
                  <a:srgbClr val="FFB000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GOAI 世界人工智能开源大赛 · 无界应用赛道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Text 1"/>
          <p:cNvSpPr/>
          <p:nvPr/>
        </p:nvSpPr>
        <p:spPr>
          <a:xfrm>
            <a:off x="548640" y="8686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2800" b="1" dirty="0">
                <a:solidFill>
                  <a:srgbClr val="111428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mbria" pitchFamily="34" charset="-120"/>
              </a:rPr>
              <a:t>真正的阻力，不是缺计划</a:t>
            </a:r>
            <a:endParaRPr lang="en-US" sz="2800" b="1" dirty="0">
              <a:solidFill>
                <a:srgbClr val="111428"/>
              </a:solidFill>
              <a:latin typeface="Noto Serif CJK KR Black" panose="02020900000000000000" charset="-122"/>
              <a:ea typeface="Noto Serif CJK KR Black" panose="02020900000000000000" charset="-122"/>
              <a:cs typeface="Cambria" pitchFamily="34" charset="-12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548640" y="1405890"/>
            <a:ext cx="4534535" cy="45720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400" dirty="0">
                <a:solidFill>
                  <a:srgbClr val="6B7394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而是每一次行动开始之前，反复出现的决策与筛选成本</a:t>
            </a:r>
            <a:endParaRPr lang="en-US" sz="1400" dirty="0">
              <a:solidFill>
                <a:srgbClr val="6B7394"/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548640" y="1967865"/>
            <a:ext cx="4369435" cy="4354195"/>
          </a:xfrm>
          <a:custGeom>
            <a:avLst/>
            <a:gdLst/>
            <a:ahLst/>
            <a:cxnLst/>
            <a:rect l="l" t="t" r="r" b="b"/>
            <a:pathLst>
              <a:path w="4052466" h="4546106">
                <a:moveTo>
                  <a:pt x="3928006" y="4546106"/>
                </a:moveTo>
                <a:lnTo>
                  <a:pt x="124460" y="4546106"/>
                </a:lnTo>
                <a:cubicBezTo>
                  <a:pt x="55880" y="4546106"/>
                  <a:pt x="0" y="4490226"/>
                  <a:pt x="0" y="4421646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928006" y="0"/>
                </a:lnTo>
                <a:cubicBezTo>
                  <a:pt x="3996586" y="0"/>
                  <a:pt x="4052466" y="55880"/>
                  <a:pt x="4052466" y="124460"/>
                </a:cubicBezTo>
                <a:lnTo>
                  <a:pt x="4052466" y="4421646"/>
                </a:lnTo>
                <a:cubicBezTo>
                  <a:pt x="4052466" y="4490226"/>
                  <a:pt x="3996586" y="4546106"/>
                  <a:pt x="3928006" y="4546106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</p:spPr>
      </p:sp>
      <p:sp>
        <p:nvSpPr>
          <p:cNvPr id="20" name="Text 6"/>
          <p:cNvSpPr/>
          <p:nvPr/>
        </p:nvSpPr>
        <p:spPr>
          <a:xfrm>
            <a:off x="773430" y="4036695"/>
            <a:ext cx="3945255" cy="173736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6E7696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典型用户在开始一次学习/探索行动前，花在</a:t>
            </a:r>
            <a:endParaRPr lang="en-US" sz="1400" b="1" dirty="0">
              <a:solidFill>
                <a:srgbClr val="6E7696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400" b="1" dirty="0">
                <a:solidFill>
                  <a:schemeClr val="accent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今天该做什么、去哪找材料、值不值得看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b="1" dirty="0">
              <a:solidFill>
                <a:schemeClr val="accent1">
                  <a:lumMod val="50000"/>
                </a:schemeClr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  <a:p>
            <a:pPr marL="0" algn="ctr">
              <a:lnSpc>
                <a:spcPct val="130000"/>
              </a:lnSpc>
              <a:buClrTx/>
              <a:buSzTx/>
              <a:buNone/>
            </a:pPr>
            <a:r>
              <a:rPr lang="en-US" sz="1400" b="1" dirty="0">
                <a:solidFill>
                  <a:srgbClr val="6E7696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这类决策上的时间</a:t>
            </a:r>
            <a:endParaRPr lang="en-US" sz="1400" b="1" dirty="0">
              <a:solidFill>
                <a:srgbClr val="6E7696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666240" y="2376170"/>
            <a:ext cx="2282825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altLang="zh-CN" sz="4400" b="1">
                <a:solidFill>
                  <a:schemeClr val="accent6"/>
                </a:solidFill>
                <a:latin typeface="Noto Serif CJK KR Black" panose="02020900000000000000" charset="-122"/>
                <a:ea typeface="Noto Serif CJK KR Black" panose="02020900000000000000" charset="-122"/>
                <a:cs typeface="Noto Serif CJK KR Black" panose="02020900000000000000" charset="-122"/>
              </a:rPr>
              <a:t>30</a:t>
            </a:r>
            <a:r>
              <a:rPr lang="zh-CN" altLang="en-US" sz="4400" b="1">
                <a:solidFill>
                  <a:schemeClr val="accent6"/>
                </a:solidFill>
                <a:latin typeface="Noto Serif CJK KR Black" panose="02020900000000000000" charset="-122"/>
                <a:ea typeface="Noto Serif CJK KR Black" panose="02020900000000000000" charset="-122"/>
                <a:cs typeface="Noto Serif CJK KR Black" panose="02020900000000000000" charset="-122"/>
              </a:rPr>
              <a:t>～</a:t>
            </a:r>
            <a:r>
              <a:rPr lang="en-US" altLang="zh-CN" sz="4400" b="1">
                <a:solidFill>
                  <a:schemeClr val="accent6"/>
                </a:solidFill>
                <a:latin typeface="Noto Serif CJK KR Black" panose="02020900000000000000" charset="-122"/>
                <a:ea typeface="Noto Serif CJK KR Black" panose="02020900000000000000" charset="-122"/>
                <a:cs typeface="Noto Serif CJK KR Black" panose="02020900000000000000" charset="-122"/>
              </a:rPr>
              <a:t>60</a:t>
            </a:r>
            <a:endParaRPr lang="en-US" altLang="zh-CN" sz="4400" b="1">
              <a:latin typeface="Noto Serif CJK KR Black" panose="02020900000000000000" charset="-122"/>
              <a:ea typeface="Noto Serif CJK KR Black" panose="02020900000000000000" charset="-122"/>
              <a:cs typeface="Noto Serif CJK KR Black" panose="02020900000000000000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>
                <a:latin typeface="Noto Serif CJK KR Black" panose="02020900000000000000" charset="-122"/>
                <a:ea typeface="Noto Serif CJK KR Black" panose="02020900000000000000" charset="-122"/>
                <a:cs typeface="Noto Serif CJK KR Black" panose="02020900000000000000" charset="-122"/>
              </a:rPr>
              <a:t>分钟</a:t>
            </a:r>
            <a:endParaRPr lang="zh-CN" altLang="en-US" sz="2400" b="1">
              <a:latin typeface="Noto Serif CJK KR Black" panose="02020900000000000000" charset="-122"/>
              <a:ea typeface="Noto Serif CJK KR Black" panose="02020900000000000000" charset="-122"/>
              <a:cs typeface="Noto Serif CJK KR Black" panose="02020900000000000000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5953760" y="2188845"/>
            <a:ext cx="5051425" cy="912495"/>
            <a:chOff x="9376" y="3447"/>
            <a:chExt cx="7955" cy="1437"/>
          </a:xfrm>
        </p:grpSpPr>
        <p:sp>
          <p:nvSpPr>
            <p:cNvPr id="27" name="Shape 7"/>
            <p:cNvSpPr/>
            <p:nvPr/>
          </p:nvSpPr>
          <p:spPr>
            <a:xfrm>
              <a:off x="9376" y="3501"/>
              <a:ext cx="567" cy="567"/>
            </a:xfrm>
            <a:prstGeom prst="ellipse">
              <a:avLst/>
            </a:prstGeom>
            <a:solidFill>
              <a:schemeClr val="bg1">
                <a:alpha val="40000"/>
              </a:schemeClr>
            </a:solidFill>
            <a:ln w="50800">
              <a:solidFill>
                <a:srgbClr val="BF727E"/>
              </a:solidFill>
              <a:prstDash val="solid"/>
            </a:ln>
          </p:spPr>
          <p:txBody>
            <a:bodyPr/>
            <a:p>
              <a:pPr algn="ctr"/>
              <a:r>
                <a:rPr lang="en-US" altLang="zh-CN" sz="1200" b="1">
                  <a:solidFill>
                    <a:srgbClr val="BF727E"/>
                  </a:solidFill>
                  <a:latin typeface="Noto Serif CJK KR Black" panose="02020900000000000000" charset="-122"/>
                  <a:ea typeface="Noto Serif CJK KR Black" panose="02020900000000000000" charset="-122"/>
                </a:rPr>
                <a:t>1</a:t>
              </a:r>
              <a:endParaRPr lang="en-US" altLang="zh-CN" sz="1200" b="1">
                <a:solidFill>
                  <a:srgbClr val="BF727E"/>
                </a:solidFill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29" name="Text 9"/>
            <p:cNvSpPr/>
            <p:nvPr/>
          </p:nvSpPr>
          <p:spPr>
            <a:xfrm>
              <a:off x="10217" y="3447"/>
              <a:ext cx="2304" cy="576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l">
                <a:buNone/>
              </a:pPr>
              <a:r>
                <a:rPr lang="en-US" sz="1600" b="1" dirty="0">
                  <a:solidFill>
                    <a:srgbClr val="111428"/>
                  </a:solidFill>
                  <a:latin typeface="Noto Serif CJK KR Black" panose="02020900000000000000" charset="-122"/>
                  <a:ea typeface="Noto Serif CJK KR Black" panose="02020900000000000000" charset="-122"/>
                  <a:cs typeface="Calibri" pitchFamily="34" charset="-120"/>
                </a:rPr>
                <a:t>决策疲劳</a:t>
              </a:r>
              <a:endParaRPr lang="en-US" sz="1600" b="1" dirty="0">
                <a:solidFill>
                  <a:srgbClr val="111428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endParaRPr>
            </a:p>
          </p:txBody>
        </p:sp>
        <p:sp>
          <p:nvSpPr>
            <p:cNvPr id="30" name="Text 10"/>
            <p:cNvSpPr/>
            <p:nvPr/>
          </p:nvSpPr>
          <p:spPr>
            <a:xfrm>
              <a:off x="10217" y="3948"/>
              <a:ext cx="7115" cy="936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>
                <a:lnSpc>
                  <a:spcPct val="125000"/>
                </a:lnSpc>
                <a:buNone/>
              </a:pPr>
              <a:r>
                <a: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j-ea"/>
                </a:rPr>
                <a:t>每次开始前都要重新决定“今天做什么”，启动成本消耗在决策上，而非执行</a:t>
              </a:r>
              <a:r>
                <a:rPr lang="zh-CN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j-ea"/>
                </a:rPr>
                <a:t>。</a:t>
              </a:r>
              <a:endPara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j-ea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953760" y="3246120"/>
            <a:ext cx="5051425" cy="912495"/>
            <a:chOff x="9376" y="5037"/>
            <a:chExt cx="7955" cy="1437"/>
          </a:xfrm>
        </p:grpSpPr>
        <p:sp>
          <p:nvSpPr>
            <p:cNvPr id="31" name="Shape 7"/>
            <p:cNvSpPr/>
            <p:nvPr/>
          </p:nvSpPr>
          <p:spPr>
            <a:xfrm>
              <a:off x="9376" y="5091"/>
              <a:ext cx="567" cy="567"/>
            </a:xfrm>
            <a:prstGeom prst="ellipse">
              <a:avLst/>
            </a:prstGeom>
            <a:solidFill>
              <a:schemeClr val="bg1">
                <a:alpha val="40000"/>
              </a:schemeClr>
            </a:solidFill>
            <a:ln w="50800">
              <a:solidFill>
                <a:srgbClr val="BF727E"/>
              </a:solidFill>
              <a:prstDash val="solid"/>
            </a:ln>
          </p:spPr>
          <p:txBody>
            <a:bodyPr/>
            <a:p>
              <a:pPr algn="ctr"/>
              <a:r>
                <a:rPr lang="en-US" altLang="zh-CN" sz="1200" b="1">
                  <a:solidFill>
                    <a:srgbClr val="BF727E"/>
                  </a:solidFill>
                  <a:latin typeface="Noto Serif CJK KR Black" panose="02020900000000000000" charset="-122"/>
                  <a:ea typeface="Noto Serif CJK KR Black" panose="02020900000000000000" charset="-122"/>
                </a:rPr>
                <a:t>2</a:t>
              </a:r>
              <a:endParaRPr lang="en-US" altLang="zh-CN" sz="1200" b="1">
                <a:solidFill>
                  <a:srgbClr val="BF727E"/>
                </a:solidFill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32" name="Text 9"/>
            <p:cNvSpPr/>
            <p:nvPr/>
          </p:nvSpPr>
          <p:spPr>
            <a:xfrm>
              <a:off x="10217" y="5037"/>
              <a:ext cx="2304" cy="576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l">
                <a:buNone/>
              </a:pPr>
              <a:r>
                <a:rPr lang="zh-CN" altLang="en-US" sz="1600" b="1" dirty="0">
                  <a:solidFill>
                    <a:srgbClr val="111428"/>
                  </a:solidFill>
                  <a:latin typeface="Noto Serif CJK KR Black" panose="02020900000000000000" charset="-122"/>
                  <a:ea typeface="Noto Serif CJK KR Black" panose="02020900000000000000" charset="-122"/>
                  <a:cs typeface="Calibri" pitchFamily="34" charset="-120"/>
                </a:rPr>
                <a:t>筛选负担</a:t>
              </a:r>
              <a:endParaRPr lang="zh-CN" altLang="en-US" sz="1600" b="1" dirty="0">
                <a:solidFill>
                  <a:srgbClr val="111428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endParaRPr>
            </a:p>
          </p:txBody>
        </p:sp>
        <p:sp>
          <p:nvSpPr>
            <p:cNvPr id="33" name="Text 10"/>
            <p:cNvSpPr/>
            <p:nvPr/>
          </p:nvSpPr>
          <p:spPr>
            <a:xfrm>
              <a:off x="10217" y="5538"/>
              <a:ext cx="7115" cy="936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>
                <a:lnSpc>
                  <a:spcPct val="125000"/>
                </a:lnSpc>
                <a:buNone/>
              </a:pPr>
              <a:r>
                <a:rPr lang="zh-CN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j-ea"/>
                </a:rPr>
                <a:t>需要自己搜索、比较、判断材料是否值得看，信息噪音掩盖了真正有价值的内容。</a:t>
              </a:r>
              <a:endPara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j-ea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5953760" y="4305300"/>
            <a:ext cx="5160010" cy="715645"/>
            <a:chOff x="9376" y="5037"/>
            <a:chExt cx="8126" cy="1127"/>
          </a:xfrm>
        </p:grpSpPr>
        <p:sp>
          <p:nvSpPr>
            <p:cNvPr id="38" name="Shape 7"/>
            <p:cNvSpPr/>
            <p:nvPr/>
          </p:nvSpPr>
          <p:spPr>
            <a:xfrm>
              <a:off x="9376" y="5091"/>
              <a:ext cx="567" cy="567"/>
            </a:xfrm>
            <a:prstGeom prst="ellipse">
              <a:avLst/>
            </a:prstGeom>
            <a:solidFill>
              <a:schemeClr val="bg1">
                <a:alpha val="40000"/>
              </a:schemeClr>
            </a:solidFill>
            <a:ln w="50800">
              <a:solidFill>
                <a:srgbClr val="BF727E"/>
              </a:solidFill>
              <a:prstDash val="solid"/>
            </a:ln>
          </p:spPr>
          <p:txBody>
            <a:bodyPr/>
            <a:p>
              <a:pPr algn="ctr"/>
              <a:r>
                <a:rPr lang="en-US" altLang="zh-CN" sz="1200" b="1">
                  <a:solidFill>
                    <a:srgbClr val="BF727E"/>
                  </a:solidFill>
                  <a:latin typeface="Noto Serif CJK KR Black" panose="02020900000000000000" charset="-122"/>
                  <a:ea typeface="Noto Serif CJK KR Black" panose="02020900000000000000" charset="-122"/>
                </a:rPr>
                <a:t>3</a:t>
              </a:r>
              <a:endParaRPr lang="en-US" altLang="zh-CN" sz="1200" b="1">
                <a:solidFill>
                  <a:srgbClr val="BF727E"/>
                </a:solidFill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39" name="Text 9"/>
            <p:cNvSpPr/>
            <p:nvPr/>
          </p:nvSpPr>
          <p:spPr>
            <a:xfrm>
              <a:off x="10217" y="5037"/>
              <a:ext cx="2304" cy="576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l">
                <a:buNone/>
              </a:pPr>
              <a:r>
                <a:rPr lang="zh-CN" altLang="en-US" sz="1600" b="1" dirty="0">
                  <a:solidFill>
                    <a:srgbClr val="111428"/>
                  </a:solidFill>
                  <a:latin typeface="Noto Serif CJK KR Black" panose="02020900000000000000" charset="-122"/>
                  <a:ea typeface="Noto Serif CJK KR Black" panose="02020900000000000000" charset="-122"/>
                  <a:cs typeface="Calibri" pitchFamily="34" charset="-120"/>
                </a:rPr>
                <a:t>粒度错位</a:t>
              </a:r>
              <a:endParaRPr lang="zh-CN" altLang="en-US" sz="1600" b="1" dirty="0">
                <a:solidFill>
                  <a:srgbClr val="111428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endParaRPr>
            </a:p>
          </p:txBody>
        </p:sp>
        <p:sp>
          <p:nvSpPr>
            <p:cNvPr id="40" name="Text 10"/>
            <p:cNvSpPr/>
            <p:nvPr/>
          </p:nvSpPr>
          <p:spPr>
            <a:xfrm>
              <a:off x="10217" y="5469"/>
              <a:ext cx="7285" cy="695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>
                <a:lnSpc>
                  <a:spcPct val="125000"/>
                </a:lnSpc>
                <a:buNone/>
              </a:pPr>
              <a:r>
                <a:rPr lang="zh-CN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j-ea"/>
                </a:rPr>
                <a:t>计划停留在</a:t>
              </a:r>
              <a:r>
                <a:rPr lang="en-US" altLang="zh-CN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j-ea"/>
                </a:rPr>
                <a:t>“</a:t>
              </a:r>
              <a:r>
                <a:rPr lang="zh-CN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j-ea"/>
                </a:rPr>
                <a:t>这周要学</a:t>
              </a:r>
              <a:r>
                <a:rPr lang="en-US" altLang="zh-CN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j-ea"/>
                </a:rPr>
                <a:t> xxx”</a:t>
              </a:r>
              <a:r>
                <a:rPr lang="zh-CN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j-ea"/>
                </a:rPr>
                <a:t>层面，缺少可以直接执行的任务单元。</a:t>
              </a:r>
              <a:endPara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j-ea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953760" y="5168265"/>
            <a:ext cx="5160010" cy="807085"/>
            <a:chOff x="9376" y="5037"/>
            <a:chExt cx="8126" cy="1271"/>
          </a:xfrm>
        </p:grpSpPr>
        <p:sp>
          <p:nvSpPr>
            <p:cNvPr id="42" name="Shape 7"/>
            <p:cNvSpPr/>
            <p:nvPr/>
          </p:nvSpPr>
          <p:spPr>
            <a:xfrm>
              <a:off x="9376" y="5091"/>
              <a:ext cx="567" cy="567"/>
            </a:xfrm>
            <a:prstGeom prst="ellipse">
              <a:avLst/>
            </a:prstGeom>
            <a:solidFill>
              <a:schemeClr val="bg1">
                <a:alpha val="40000"/>
              </a:schemeClr>
            </a:solidFill>
            <a:ln w="50800">
              <a:solidFill>
                <a:srgbClr val="BF727E"/>
              </a:solidFill>
              <a:prstDash val="solid"/>
            </a:ln>
          </p:spPr>
          <p:txBody>
            <a:bodyPr/>
            <a:p>
              <a:pPr algn="ctr"/>
              <a:r>
                <a:rPr lang="en-US" altLang="zh-CN" sz="1200" b="1">
                  <a:solidFill>
                    <a:srgbClr val="BF727E"/>
                  </a:solidFill>
                  <a:latin typeface="Noto Serif CJK KR Black" panose="02020900000000000000" charset="-122"/>
                  <a:ea typeface="Noto Serif CJK KR Black" panose="02020900000000000000" charset="-122"/>
                </a:rPr>
                <a:t>4</a:t>
              </a:r>
              <a:endParaRPr lang="en-US" altLang="zh-CN" sz="1200" b="1">
                <a:solidFill>
                  <a:srgbClr val="BF727E"/>
                </a:solidFill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43" name="Text 9"/>
            <p:cNvSpPr/>
            <p:nvPr/>
          </p:nvSpPr>
          <p:spPr>
            <a:xfrm>
              <a:off x="10217" y="5037"/>
              <a:ext cx="2304" cy="576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 algn="l">
                <a:buNone/>
              </a:pPr>
              <a:r>
                <a:rPr lang="zh-CN" altLang="en-US" sz="1600" b="1" dirty="0">
                  <a:solidFill>
                    <a:srgbClr val="111428"/>
                  </a:solidFill>
                  <a:latin typeface="Noto Serif CJK KR Black" panose="02020900000000000000" charset="-122"/>
                  <a:ea typeface="Noto Serif CJK KR Black" panose="02020900000000000000" charset="-122"/>
                  <a:cs typeface="Calibri" pitchFamily="34" charset="-120"/>
                </a:rPr>
                <a:t>沉淀断层</a:t>
              </a:r>
              <a:endParaRPr lang="zh-CN" altLang="en-US" sz="1600" b="1" dirty="0">
                <a:solidFill>
                  <a:srgbClr val="111428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endParaRPr>
            </a:p>
          </p:txBody>
        </p:sp>
        <p:sp>
          <p:nvSpPr>
            <p:cNvPr id="44" name="Text 10"/>
            <p:cNvSpPr/>
            <p:nvPr/>
          </p:nvSpPr>
          <p:spPr>
            <a:xfrm>
              <a:off x="10217" y="5613"/>
              <a:ext cx="7285" cy="695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>
                <a:lnSpc>
                  <a:spcPct val="125000"/>
                </a:lnSpc>
                <a:buNone/>
              </a:pPr>
              <a:r>
                <a:rPr lang="zh-CN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j-ea"/>
                </a:rPr>
                <a:t>学习与观察的结果没有形成持续记录，无法回看进展，也无法反哺能力判断。</a:t>
              </a:r>
              <a:endPara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j-ea"/>
              </a:endParaRPr>
            </a:p>
          </p:txBody>
        </p:sp>
      </p:grpSp>
      <p:pic>
        <p:nvPicPr>
          <p:cNvPr id="46" name="Picture 3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508000" y="482600"/>
            <a:ext cx="10821035" cy="18415"/>
          </a:xfrm>
          <a:prstGeom prst="rect">
            <a:avLst/>
          </a:prstGeom>
        </p:spPr>
      </p:pic>
      <p:pic>
        <p:nvPicPr>
          <p:cNvPr id="47" name="Picture 4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508000" y="800735"/>
            <a:ext cx="10821035" cy="18415"/>
          </a:xfrm>
          <a:prstGeom prst="rect">
            <a:avLst/>
          </a:prstGeom>
        </p:spPr>
      </p:pic>
      <p:pic>
        <p:nvPicPr>
          <p:cNvPr id="48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834515" y="638175"/>
            <a:ext cx="309245" cy="15875"/>
          </a:xfrm>
          <a:prstGeom prst="rect">
            <a:avLst/>
          </a:prstGeom>
        </p:spPr>
      </p:pic>
      <p:pic>
        <p:nvPicPr>
          <p:cNvPr id="49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5337810" y="638175"/>
            <a:ext cx="309245" cy="15875"/>
          </a:xfrm>
          <a:prstGeom prst="rect">
            <a:avLst/>
          </a:prstGeom>
        </p:spPr>
      </p:pic>
      <p:pic>
        <p:nvPicPr>
          <p:cNvPr id="50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0401935" y="638175"/>
            <a:ext cx="309245" cy="15875"/>
          </a:xfrm>
          <a:prstGeom prst="rect">
            <a:avLst/>
          </a:prstGeom>
        </p:spPr>
      </p:pic>
      <p:sp>
        <p:nvSpPr>
          <p:cNvPr id="51" name="TextBox 12"/>
          <p:cNvSpPr txBox="1"/>
          <p:nvPr userDrawn="1"/>
        </p:nvSpPr>
        <p:spPr>
          <a:xfrm>
            <a:off x="11113770" y="564515"/>
            <a:ext cx="215265" cy="208915"/>
          </a:xfrm>
          <a:prstGeom prst="rect">
            <a:avLst/>
          </a:prstGeom>
        </p:spPr>
        <p:txBody>
          <a:bodyPr lIns="0" tIns="0" rIns="0" bIns="0" rtlCol="0" anchor="ctr" anchorCtr="0"/>
          <a:p>
            <a:pPr lvl="0" indent="0" algn="ctr" fontAlgn="base">
              <a:lnSpc>
                <a:spcPct val="11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Anek Tamil Expanded SemiBold"/>
              </a:rPr>
              <a:t>02</a:t>
            </a:r>
            <a:endParaRPr lang="en-US" sz="1000" b="0" i="0" u="none" strike="noStrike">
              <a:solidFill>
                <a:srgbClr val="000000"/>
              </a:solidFill>
              <a:latin typeface="Anek Tamil Expanded SemiBold"/>
            </a:endParaRPr>
          </a:p>
        </p:txBody>
      </p:sp>
      <p:sp>
        <p:nvSpPr>
          <p:cNvPr id="52" name="文本框 51"/>
          <p:cNvSpPr txBox="1"/>
          <p:nvPr userDrawn="1"/>
        </p:nvSpPr>
        <p:spPr>
          <a:xfrm>
            <a:off x="5519420" y="528320"/>
            <a:ext cx="4578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 </a:t>
            </a:r>
            <a:r>
              <a:rPr lang="zh-CN" altLang="en-US" sz="1000" b="1"/>
              <a:t>无界应用</a:t>
            </a:r>
            <a:r>
              <a:rPr lang="en-US" altLang="zh-CN" sz="1000" b="1"/>
              <a:t>Boundless Agents |</a:t>
            </a:r>
            <a:r>
              <a:rPr lang="en-US" altLang="zh-CN" sz="1000"/>
              <a:t> AI + Education</a:t>
            </a:r>
            <a:endParaRPr lang="en-US" altLang="zh-CN" sz="1000"/>
          </a:p>
        </p:txBody>
      </p:sp>
      <p:sp>
        <p:nvSpPr>
          <p:cNvPr id="53" name="文本框 52"/>
          <p:cNvSpPr txBox="1"/>
          <p:nvPr userDrawn="1"/>
        </p:nvSpPr>
        <p:spPr>
          <a:xfrm>
            <a:off x="1997075" y="524510"/>
            <a:ext cx="21818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 b="1">
                <a:sym typeface="+mn-ea"/>
              </a:rPr>
              <a:t>Orbit Engine | </a:t>
            </a:r>
            <a:r>
              <a:rPr lang="zh-CN" altLang="en-US" sz="1000" b="1">
                <a:sym typeface="+mn-ea"/>
              </a:rPr>
              <a:t>圆周引擎</a:t>
            </a:r>
            <a:endParaRPr lang="zh-CN" altLang="en-US" sz="1000" b="1">
              <a:sym typeface="+mn-ea"/>
            </a:endParaRPr>
          </a:p>
        </p:txBody>
      </p:sp>
      <p:sp>
        <p:nvSpPr>
          <p:cNvPr id="54" name="文本框 53"/>
          <p:cNvSpPr txBox="1"/>
          <p:nvPr userDrawn="1"/>
        </p:nvSpPr>
        <p:spPr>
          <a:xfrm>
            <a:off x="508000" y="528320"/>
            <a:ext cx="140208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 b="1">
                <a:sym typeface="+mn-ea"/>
              </a:rPr>
              <a:t>01 Problem</a:t>
            </a:r>
            <a:endParaRPr lang="en-US" sz="1000" b="1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Freeform 9"/>
          <p:cNvSpPr/>
          <p:nvPr/>
        </p:nvSpPr>
        <p:spPr>
          <a:xfrm>
            <a:off x="548640" y="2000885"/>
            <a:ext cx="10781030" cy="4039870"/>
          </a:xfrm>
          <a:custGeom>
            <a:avLst/>
            <a:gdLst/>
            <a:ahLst/>
            <a:cxnLst/>
            <a:rect l="l" t="t" r="r" b="b"/>
            <a:pathLst>
              <a:path w="4052466" h="4546106">
                <a:moveTo>
                  <a:pt x="3928006" y="4546106"/>
                </a:moveTo>
                <a:lnTo>
                  <a:pt x="124460" y="4546106"/>
                </a:lnTo>
                <a:cubicBezTo>
                  <a:pt x="55880" y="4546106"/>
                  <a:pt x="0" y="4490226"/>
                  <a:pt x="0" y="4421646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928006" y="0"/>
                </a:lnTo>
                <a:cubicBezTo>
                  <a:pt x="3996586" y="0"/>
                  <a:pt x="4052466" y="55880"/>
                  <a:pt x="4052466" y="124460"/>
                </a:cubicBezTo>
                <a:lnTo>
                  <a:pt x="4052466" y="4421646"/>
                </a:lnTo>
                <a:cubicBezTo>
                  <a:pt x="4052466" y="4490226"/>
                  <a:pt x="3996586" y="4546106"/>
                  <a:pt x="3928006" y="4546106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</p:spPr>
      </p:sp>
      <p:sp>
        <p:nvSpPr>
          <p:cNvPr id="13" name="Freeform 4" descr="a white circle"/>
          <p:cNvSpPr/>
          <p:nvPr/>
        </p:nvSpPr>
        <p:spPr>
          <a:xfrm>
            <a:off x="944245" y="1026961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</p:spPr>
      </p:sp>
      <p:sp>
        <p:nvSpPr>
          <p:cNvPr id="15" name="Text 5"/>
          <p:cNvSpPr/>
          <p:nvPr/>
        </p:nvSpPr>
        <p:spPr>
          <a:xfrm>
            <a:off x="1981200" y="1118870"/>
            <a:ext cx="3366770" cy="332105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KR Black" panose="02020900000000000000" charset="-122"/>
                <a:ea typeface="Noto Serif CJK KR Black" panose="02020900000000000000" charset="-122"/>
                <a:cs typeface="Cambria" pitchFamily="34" charset="-120"/>
              </a:rPr>
              <a:t>处于职业方向探索期的</a:t>
            </a:r>
            <a:r>
              <a:rPr lang="en-US" sz="1600" b="1" dirty="0">
                <a:solidFill>
                  <a:srgbClr val="1114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CJK KR Black" panose="02020900000000000000" charset="-122"/>
                <a:ea typeface="Noto Serif CJK KR Black" panose="02020900000000000000" charset="-122"/>
                <a:cs typeface="Cambria" pitchFamily="34" charset="-120"/>
              </a:rPr>
              <a:t>技术从业者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erif CJK KR Black" panose="02020900000000000000" charset="-122"/>
              <a:ea typeface="Noto Serif CJK KR Black" panose="02020900000000000000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68400" y="4636135"/>
            <a:ext cx="3876040" cy="594360"/>
            <a:chOff x="1209" y="6804"/>
            <a:chExt cx="6104" cy="936"/>
          </a:xfrm>
        </p:grpSpPr>
        <p:sp>
          <p:nvSpPr>
            <p:cNvPr id="18" name="Text 10"/>
            <p:cNvSpPr/>
            <p:nvPr/>
          </p:nvSpPr>
          <p:spPr>
            <a:xfrm>
              <a:off x="1683" y="6804"/>
              <a:ext cx="5631" cy="936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>
                <a:lnSpc>
                  <a:spcPct val="125000"/>
                </a:lnSpc>
                <a:buNone/>
              </a:pPr>
              <a:r>
                <a:rPr lang="zh-CN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j-ea"/>
                </a:rPr>
                <a:t>希望市场感知与能力建设并行，而非临时抱佛脚</a:t>
              </a:r>
              <a:endPara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j-ea"/>
              </a:endParaRPr>
            </a:p>
          </p:txBody>
        </p:sp>
        <p:sp>
          <p:nvSpPr>
            <p:cNvPr id="23" name="Freeform 4" descr="an icon of a lightbulb"/>
            <p:cNvSpPr/>
            <p:nvPr/>
          </p:nvSpPr>
          <p:spPr>
            <a:xfrm>
              <a:off x="1209" y="7030"/>
              <a:ext cx="340" cy="454"/>
            </a:xfrm>
            <a:custGeom>
              <a:avLst/>
              <a:gdLst/>
              <a:ahLst/>
              <a:cxnLst/>
              <a:rect l="l" t="t" r="r" b="b"/>
              <a:pathLst>
                <a:path w="715320" h="910708">
                  <a:moveTo>
                    <a:pt x="0" y="0"/>
                  </a:moveTo>
                  <a:lnTo>
                    <a:pt x="715320" y="0"/>
                  </a:lnTo>
                  <a:lnTo>
                    <a:pt x="715320" y="910709"/>
                  </a:lnTo>
                  <a:lnTo>
                    <a:pt x="0" y="910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6" name="组合 25"/>
          <p:cNvGrpSpPr/>
          <p:nvPr/>
        </p:nvGrpSpPr>
        <p:grpSpPr>
          <a:xfrm>
            <a:off x="1144905" y="2131060"/>
            <a:ext cx="3899535" cy="594360"/>
            <a:chOff x="1172" y="4932"/>
            <a:chExt cx="6141" cy="936"/>
          </a:xfrm>
        </p:grpSpPr>
        <p:sp>
          <p:nvSpPr>
            <p:cNvPr id="30" name="Text 10"/>
            <p:cNvSpPr/>
            <p:nvPr/>
          </p:nvSpPr>
          <p:spPr>
            <a:xfrm>
              <a:off x="1683" y="4932"/>
              <a:ext cx="5631" cy="936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>
                <a:lnSpc>
                  <a:spcPct val="125000"/>
                </a:lnSpc>
                <a:buNone/>
              </a:pPr>
              <a:r>
                <a:rPr lang="zh-CN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j-ea"/>
                </a:rPr>
                <a:t>希望在特定方向保持持续成长和技术敏感度</a:t>
              </a:r>
              <a:endParaRPr 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j-ea"/>
              </a:endParaRPr>
            </a:p>
          </p:txBody>
        </p:sp>
        <p:sp>
          <p:nvSpPr>
            <p:cNvPr id="24" name="Freeform 5" descr="an icon of a person with a tie"/>
            <p:cNvSpPr/>
            <p:nvPr/>
          </p:nvSpPr>
          <p:spPr>
            <a:xfrm>
              <a:off x="1172" y="5145"/>
              <a:ext cx="510" cy="510"/>
            </a:xfrm>
            <a:custGeom>
              <a:avLst/>
              <a:gdLst/>
              <a:ahLst/>
              <a:cxnLst/>
              <a:rect l="l" t="t" r="r" b="b"/>
              <a:pathLst>
                <a:path w="859377" h="910708">
                  <a:moveTo>
                    <a:pt x="0" y="0"/>
                  </a:moveTo>
                  <a:lnTo>
                    <a:pt x="859378" y="0"/>
                  </a:lnTo>
                  <a:lnTo>
                    <a:pt x="859378" y="910709"/>
                  </a:lnTo>
                  <a:lnTo>
                    <a:pt x="0" y="910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9" name="组合 28"/>
          <p:cNvGrpSpPr/>
          <p:nvPr/>
        </p:nvGrpSpPr>
        <p:grpSpPr>
          <a:xfrm>
            <a:off x="1144905" y="5383530"/>
            <a:ext cx="3898900" cy="594360"/>
            <a:chOff x="1174" y="7740"/>
            <a:chExt cx="6140" cy="936"/>
          </a:xfrm>
        </p:grpSpPr>
        <p:sp>
          <p:nvSpPr>
            <p:cNvPr id="21" name="Text 10"/>
            <p:cNvSpPr/>
            <p:nvPr/>
          </p:nvSpPr>
          <p:spPr>
            <a:xfrm>
              <a:off x="1683" y="7740"/>
              <a:ext cx="5631" cy="936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>
                <a:lnSpc>
                  <a:spcPct val="125000"/>
                </a:lnSpc>
                <a:buNone/>
              </a:pPr>
              <a:r>
                <a:rPr lang="zh-CN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j-ea"/>
                </a:rPr>
                <a:t>碎片时间是主要使用场景</a:t>
              </a:r>
              <a:endPara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j-ea"/>
              </a:endParaRPr>
            </a:p>
          </p:txBody>
        </p:sp>
        <p:sp>
          <p:nvSpPr>
            <p:cNvPr id="25" name="Freeform 6" descr="an icon of a thumbs-up hand"/>
            <p:cNvSpPr/>
            <p:nvPr/>
          </p:nvSpPr>
          <p:spPr>
            <a:xfrm>
              <a:off x="1174" y="7914"/>
              <a:ext cx="510" cy="510"/>
            </a:xfrm>
            <a:custGeom>
              <a:avLst/>
              <a:gdLst/>
              <a:ahLst/>
              <a:cxnLst/>
              <a:rect l="l" t="t" r="r" b="b"/>
              <a:pathLst>
                <a:path w="910708" h="841163">
                  <a:moveTo>
                    <a:pt x="0" y="0"/>
                  </a:moveTo>
                  <a:lnTo>
                    <a:pt x="910708" y="0"/>
                  </a:lnTo>
                  <a:lnTo>
                    <a:pt x="910708" y="841163"/>
                  </a:lnTo>
                  <a:lnTo>
                    <a:pt x="0" y="841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3" name="组合 32"/>
          <p:cNvGrpSpPr/>
          <p:nvPr/>
        </p:nvGrpSpPr>
        <p:grpSpPr>
          <a:xfrm>
            <a:off x="1146175" y="2734310"/>
            <a:ext cx="3898900" cy="838200"/>
            <a:chOff x="1279" y="5662"/>
            <a:chExt cx="6140" cy="1320"/>
          </a:xfrm>
        </p:grpSpPr>
        <p:grpSp>
          <p:nvGrpSpPr>
            <p:cNvPr id="27" name="组合 26"/>
            <p:cNvGrpSpPr/>
            <p:nvPr/>
          </p:nvGrpSpPr>
          <p:grpSpPr>
            <a:xfrm>
              <a:off x="1279" y="5662"/>
              <a:ext cx="6140" cy="936"/>
              <a:chOff x="1174" y="5868"/>
              <a:chExt cx="6140" cy="936"/>
            </a:xfrm>
          </p:grpSpPr>
          <p:sp>
            <p:nvSpPr>
              <p:cNvPr id="17" name="Text 10"/>
              <p:cNvSpPr/>
              <p:nvPr/>
            </p:nvSpPr>
            <p:spPr>
              <a:xfrm>
                <a:off x="1683" y="5868"/>
                <a:ext cx="5631" cy="936"/>
              </a:xfrm>
              <a:prstGeom prst="rect">
                <a:avLst/>
              </a:prstGeom>
              <a:noFill/>
            </p:spPr>
            <p:txBody>
              <a:bodyPr wrap="square" rtlCol="0" anchor="ctr"/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  <a:cs typeface="+mj-ea"/>
                  </a:rPr>
                  <a:t>缺的不是学习资源</a:t>
                </a:r>
                <a:r>
                  <a:rPr lang="en-US" altLang="zh-CN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  <a:cs typeface="+mj-ea"/>
                  </a:rPr>
                  <a:t>,</a:t>
                </a:r>
                <a:r>
                  <a:rPr lang="zh-CN" altLang="en-U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  <a:cs typeface="+mj-ea"/>
                  </a:rPr>
                  <a:t>而是筛选判断的确定感</a:t>
                </a:r>
                <a:endParaRPr lang="zh-CN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j-ea"/>
                </a:endParaRPr>
              </a:p>
            </p:txBody>
          </p:sp>
          <p:sp>
            <p:nvSpPr>
              <p:cNvPr id="22" name="Freeform 3" descr="an icon of a magnifying glass"/>
              <p:cNvSpPr/>
              <p:nvPr/>
            </p:nvSpPr>
            <p:spPr>
              <a:xfrm>
                <a:off x="1174" y="6169"/>
                <a:ext cx="508" cy="510"/>
              </a:xfrm>
              <a:custGeom>
                <a:avLst/>
                <a:gdLst/>
                <a:ahLst/>
                <a:cxnLst/>
                <a:rect l="l" t="t" r="r" b="b"/>
                <a:pathLst>
                  <a:path w="910708" h="910708">
                    <a:moveTo>
                      <a:pt x="0" y="0"/>
                    </a:moveTo>
                    <a:lnTo>
                      <a:pt x="910708" y="0"/>
                    </a:lnTo>
                    <a:lnTo>
                      <a:pt x="910708" y="910709"/>
                    </a:lnTo>
                    <a:lnTo>
                      <a:pt x="0" y="91070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a:blipFill>
            </p:spPr>
          </p:sp>
        </p:grpSp>
        <p:sp>
          <p:nvSpPr>
            <p:cNvPr id="32" name="文本框 31"/>
            <p:cNvSpPr txBox="1"/>
            <p:nvPr/>
          </p:nvSpPr>
          <p:spPr>
            <a:xfrm>
              <a:off x="1783" y="6354"/>
              <a:ext cx="5299" cy="62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zh-CN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  <a:cs typeface="+mj-ea"/>
                </a:rPr>
                <a:t>每次开始前都要重新判断</a:t>
              </a:r>
              <a:r>
                <a:rPr lang="en-US" altLang="zh-CN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  <a:cs typeface="+mj-ea"/>
                </a:rPr>
                <a:t>"</a:t>
              </a:r>
              <a:r>
                <a:rPr lang="zh-CN" altLang="en-US" sz="1000" b="1">
                  <a:solidFill>
                    <a:schemeClr val="accent6"/>
                  </a:solidFill>
                  <a:latin typeface="+mj-ea"/>
                  <a:ea typeface="+mj-ea"/>
                  <a:cs typeface="+mj-ea"/>
                </a:rPr>
                <a:t>这次该看什么、值不值得看</a:t>
              </a:r>
              <a:r>
                <a:rPr lang="en-US" altLang="zh-CN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  <a:cs typeface="+mj-ea"/>
                </a:rPr>
                <a:t>",</a:t>
              </a:r>
              <a:r>
                <a:rPr lang="zh-CN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  <a:cs typeface="+mj-ea"/>
                </a:rPr>
                <a:t>这个过程本身就在消耗行动意愿</a:t>
              </a:r>
              <a:endPara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j-ea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1466215" y="3629025"/>
            <a:ext cx="3578860" cy="838200"/>
            <a:chOff x="1783" y="5662"/>
            <a:chExt cx="5636" cy="1320"/>
          </a:xfrm>
        </p:grpSpPr>
        <p:sp>
          <p:nvSpPr>
            <p:cNvPr id="37" name="Text 10"/>
            <p:cNvSpPr/>
            <p:nvPr/>
          </p:nvSpPr>
          <p:spPr>
            <a:xfrm>
              <a:off x="1788" y="5662"/>
              <a:ext cx="5631" cy="936"/>
            </a:xfrm>
            <a:prstGeom prst="rect">
              <a:avLst/>
            </a:prstGeom>
            <a:noFill/>
          </p:spPr>
          <p:txBody>
            <a:bodyPr wrap="square" rtlCol="0" anchor="ctr"/>
            <a:p>
              <a:pPr marL="0" indent="0">
                <a:lnSpc>
                  <a:spcPct val="125000"/>
                </a:lnSpc>
                <a:buNone/>
              </a:pPr>
              <a:r>
                <a:rPr lang="zh-CN" alt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  <a:cs typeface="+mj-ea"/>
                </a:rPr>
                <a:t>投入之后难有方向确认感</a:t>
              </a:r>
              <a:endPara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j-ea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783" y="6354"/>
              <a:ext cx="5299" cy="62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zh-CN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  <a:cs typeface="+mj-ea"/>
                </a:rPr>
                <a:t>很难说清</a:t>
              </a:r>
              <a:r>
                <a:rPr lang="en-US" altLang="zh-CN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  <a:cs typeface="+mj-ea"/>
                </a:rPr>
                <a:t>"</a:t>
              </a:r>
              <a:r>
                <a:rPr lang="zh-CN" altLang="en-US" sz="1000" b="1">
                  <a:solidFill>
                    <a:schemeClr val="accent6"/>
                  </a:solidFill>
                  <a:latin typeface="+mj-ea"/>
                  <a:ea typeface="+mj-ea"/>
                  <a:cs typeface="+mj-ea"/>
                </a:rPr>
                <a:t>今天做的这些</a:t>
              </a:r>
              <a:r>
                <a:rPr lang="en-US" altLang="zh-CN" sz="1000" b="1">
                  <a:solidFill>
                    <a:schemeClr val="accent6"/>
                  </a:solidFill>
                  <a:latin typeface="+mj-ea"/>
                  <a:ea typeface="+mj-ea"/>
                  <a:cs typeface="+mj-ea"/>
                </a:rPr>
                <a:t>,</a:t>
              </a:r>
              <a:r>
                <a:rPr lang="zh-CN" altLang="en-US" sz="1000" b="1">
                  <a:solidFill>
                    <a:schemeClr val="accent6"/>
                  </a:solidFill>
                  <a:latin typeface="+mj-ea"/>
                  <a:ea typeface="+mj-ea"/>
                  <a:cs typeface="+mj-ea"/>
                </a:rPr>
                <a:t>到底有没有在推进我的目标</a:t>
              </a:r>
              <a:r>
                <a:rPr lang="en-US" altLang="zh-CN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  <a:cs typeface="+mj-ea"/>
                </a:rPr>
                <a:t>",</a:t>
              </a:r>
              <a:r>
                <a:rPr lang="zh-CN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  <a:cs typeface="+mj-ea"/>
                </a:rPr>
                <a:t>这种不确定感是持续性中断的隐藏诱因</a:t>
              </a:r>
              <a:endPara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j-ea"/>
              </a:endParaRPr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2059305" y="1456055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charset="0"/>
                <a:ea typeface="Calibri" pitchFamily="34" charset="-122"/>
                <a:cs typeface="Calibri" pitchFamily="34" charset="-120"/>
                <a:sym typeface="+mn-ea"/>
              </a:rPr>
              <a:t>一个希望持续成长，却受困于筛选与确认成本的真实用户</a:t>
            </a:r>
            <a:endParaRPr lang="en-US" altLang="en-US" sz="1200" b="1" dirty="0">
              <a:solidFill>
                <a:schemeClr val="accent1">
                  <a:lumMod val="60000"/>
                  <a:lumOff val="40000"/>
                </a:schemeClr>
              </a:solidFill>
              <a:latin typeface="Calibri" charset="0"/>
              <a:ea typeface="Calibri" pitchFamily="34" charset="-122"/>
              <a:cs typeface="Calibri" pitchFamily="34" charset="-120"/>
              <a:sym typeface="+mn-ea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927100" y="2760345"/>
            <a:ext cx="997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927100" y="3673475"/>
            <a:ext cx="997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927100" y="4601210"/>
            <a:ext cx="997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927100" y="5307330"/>
            <a:ext cx="997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Text 12"/>
          <p:cNvSpPr/>
          <p:nvPr/>
        </p:nvSpPr>
        <p:spPr>
          <a:xfrm>
            <a:off x="6179820" y="2110740"/>
            <a:ext cx="4652645" cy="64008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lnSpc>
                <a:spcPct val="118000"/>
              </a:lnSpc>
              <a:buNone/>
            </a:pPr>
            <a:r>
              <a:rPr lang="zh-CN" sz="12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定期</a:t>
            </a:r>
            <a:r>
              <a:rPr 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+mj-ea"/>
              </a:rPr>
              <a:t>、</a:t>
            </a:r>
            <a:r>
              <a:rPr lang="zh-CN" sz="1200" b="1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rPr>
              <a:t>主动</a:t>
            </a:r>
            <a:r>
              <a:rPr 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+mj-ea"/>
              </a:rPr>
              <a:t>地获取外部信号</a:t>
            </a:r>
            <a:r>
              <a:rPr lang="zh-CN" sz="1200" b="1" dirty="0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（趋势 / 动态 / 机会）</a:t>
            </a:r>
            <a:r>
              <a:rPr 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+mj-ea"/>
              </a:rPr>
              <a:t>，</a:t>
            </a:r>
            <a:endParaRPr lang="zh-CN" sz="1200" b="1" dirty="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  <a:cs typeface="+mj-ea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+mj-ea"/>
              </a:rPr>
              <a:t>而不是靠用户每次临时想起来去搜</a:t>
            </a:r>
            <a:endParaRPr lang="zh-CN" sz="1200" b="1" dirty="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0" name="Text 16"/>
          <p:cNvSpPr/>
          <p:nvPr/>
        </p:nvSpPr>
        <p:spPr>
          <a:xfrm>
            <a:off x="6179820" y="2930525"/>
            <a:ext cx="4652645" cy="6400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p>
            <a:pPr lvl="0" algn="l">
              <a:lnSpc>
                <a:spcPct val="118000"/>
              </a:lnSpc>
              <a:buClrTx/>
              <a:buSzTx/>
              <a:buFontTx/>
            </a:pPr>
            <a:r>
              <a:rPr 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+mj-ea"/>
                <a:sym typeface="+mn-ea"/>
              </a:rPr>
              <a:t>提前完成</a:t>
            </a:r>
            <a:r>
              <a:rPr lang="zh-CN" sz="1200" b="1" dirty="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材料筛选与价值判断</a:t>
            </a:r>
            <a:r>
              <a:rPr 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+mj-ea"/>
                <a:sym typeface="+mn-ea"/>
              </a:rPr>
              <a:t>，并给出清楚的</a:t>
            </a:r>
            <a:r>
              <a:rPr lang="zh-CN" sz="1200" b="1" dirty="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推荐理由</a:t>
            </a:r>
            <a:endParaRPr lang="zh-CN" sz="1200" b="1" dirty="0">
              <a:solidFill>
                <a:schemeClr val="accent1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51" name="Text 20"/>
          <p:cNvSpPr/>
          <p:nvPr/>
        </p:nvSpPr>
        <p:spPr>
          <a:xfrm>
            <a:off x="6179820" y="3827399"/>
            <a:ext cx="5257800" cy="6400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p>
            <a:pPr lvl="0" algn="l">
              <a:lnSpc>
                <a:spcPct val="118000"/>
              </a:lnSpc>
              <a:buClrTx/>
              <a:buSzTx/>
              <a:buFontTx/>
            </a:pPr>
            <a:r>
              <a:rPr lang="zh-CN" sz="1200" b="1" dirty="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持续记录</a:t>
            </a:r>
            <a:r>
              <a:rPr 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+mj-ea"/>
                <a:sym typeface="+mn-ea"/>
              </a:rPr>
              <a:t>与</a:t>
            </a:r>
            <a:r>
              <a:rPr lang="zh-CN" sz="1200" b="1" dirty="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阶段性复盘</a:t>
            </a:r>
            <a:r>
              <a:rPr 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+mj-ea"/>
                <a:sym typeface="+mn-ea"/>
              </a:rPr>
              <a:t>，让用户能定期回看投入是否真的在推进目标</a:t>
            </a:r>
            <a:endParaRPr lang="zh-CN" sz="1200" b="1" dirty="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52" name="Text 24"/>
          <p:cNvSpPr/>
          <p:nvPr/>
        </p:nvSpPr>
        <p:spPr>
          <a:xfrm>
            <a:off x="6179820" y="4633976"/>
            <a:ext cx="5257800" cy="64008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p>
            <a:pPr lvl="0" algn="l">
              <a:lnSpc>
                <a:spcPct val="118000"/>
              </a:lnSpc>
              <a:buClrTx/>
              <a:buSzTx/>
              <a:buFontTx/>
            </a:pPr>
            <a:r>
              <a:rPr 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+mj-ea"/>
                <a:sym typeface="+mn-ea"/>
              </a:rPr>
              <a:t>定期获取外部世界的真实诉求，用来</a:t>
            </a:r>
            <a:r>
              <a:rPr lang="zh-CN" sz="1200" b="1" dirty="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校准学习方向</a:t>
            </a:r>
            <a:r>
              <a:rPr 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+mj-ea"/>
                <a:sym typeface="+mn-ea"/>
              </a:rPr>
              <a:t>，而非闭门造车</a:t>
            </a:r>
            <a:endParaRPr lang="zh-CN" sz="1200" b="1" dirty="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179820" y="5390515"/>
            <a:ext cx="4652645" cy="5308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p>
            <a:pPr lvl="0" algn="l">
              <a:lnSpc>
                <a:spcPct val="118000"/>
              </a:lnSpc>
              <a:buClrTx/>
              <a:buSzTx/>
              <a:buFontTx/>
            </a:pPr>
            <a:r>
              <a:rPr lang="zh-CN" sz="1200" b="1" dirty="0">
                <a:solidFill>
                  <a:schemeClr val="accent4"/>
                </a:solidFill>
                <a:latin typeface="+mj-ea"/>
                <a:ea typeface="+mj-ea"/>
                <a:cs typeface="+mj-ea"/>
                <a:sym typeface="+mn-ea"/>
              </a:rPr>
              <a:t>贯穿性约束</a:t>
            </a:r>
            <a:r>
              <a:rPr lang="zh-CN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  <a:cs typeface="+mj-ea"/>
                <a:sym typeface="+mn-ea"/>
              </a:rPr>
              <a:t>：所有能力都必须能拆解为可在碎片时间内完成的短任务，而非独立模块</a:t>
            </a:r>
            <a:endParaRPr lang="zh-CN" sz="1200" b="1" dirty="0">
              <a:solidFill>
                <a:schemeClr val="accent4">
                  <a:lumMod val="60000"/>
                  <a:lumOff val="40000"/>
                </a:schemeClr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60" name="右箭头 59"/>
          <p:cNvSpPr/>
          <p:nvPr/>
        </p:nvSpPr>
        <p:spPr>
          <a:xfrm>
            <a:off x="5349240" y="2385695"/>
            <a:ext cx="323215" cy="11493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右箭头 60"/>
          <p:cNvSpPr/>
          <p:nvPr/>
        </p:nvSpPr>
        <p:spPr>
          <a:xfrm>
            <a:off x="5344160" y="3159125"/>
            <a:ext cx="323215" cy="11493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2" name="右箭头 61"/>
          <p:cNvSpPr/>
          <p:nvPr/>
        </p:nvSpPr>
        <p:spPr>
          <a:xfrm>
            <a:off x="5344160" y="4079875"/>
            <a:ext cx="323215" cy="11493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3" name="右箭头 62"/>
          <p:cNvSpPr/>
          <p:nvPr/>
        </p:nvSpPr>
        <p:spPr>
          <a:xfrm>
            <a:off x="5344160" y="4897120"/>
            <a:ext cx="323215" cy="11493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4" name="右箭头 63"/>
          <p:cNvSpPr/>
          <p:nvPr/>
        </p:nvSpPr>
        <p:spPr>
          <a:xfrm>
            <a:off x="5344160" y="5600065"/>
            <a:ext cx="323215" cy="11493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67" name="Picture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08000" y="482600"/>
            <a:ext cx="10821035" cy="18415"/>
          </a:xfrm>
          <a:prstGeom prst="rect">
            <a:avLst/>
          </a:prstGeom>
        </p:spPr>
      </p:pic>
      <p:pic>
        <p:nvPicPr>
          <p:cNvPr id="68" name="Picture 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08000" y="800735"/>
            <a:ext cx="10821035" cy="18415"/>
          </a:xfrm>
          <a:prstGeom prst="rect">
            <a:avLst/>
          </a:prstGeom>
        </p:spPr>
      </p:pic>
      <p:pic>
        <p:nvPicPr>
          <p:cNvPr id="69" name="Picture 5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 rot="5400000">
            <a:off x="1834515" y="638175"/>
            <a:ext cx="309245" cy="15875"/>
          </a:xfrm>
          <a:prstGeom prst="rect">
            <a:avLst/>
          </a:prstGeom>
        </p:spPr>
      </p:pic>
      <p:pic>
        <p:nvPicPr>
          <p:cNvPr id="70" name="Picture 6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 rot="5400000">
            <a:off x="5337810" y="638175"/>
            <a:ext cx="309245" cy="15875"/>
          </a:xfrm>
          <a:prstGeom prst="rect">
            <a:avLst/>
          </a:prstGeom>
        </p:spPr>
      </p:pic>
      <p:pic>
        <p:nvPicPr>
          <p:cNvPr id="71" name="Picture 7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 rot="5400000">
            <a:off x="10401935" y="638175"/>
            <a:ext cx="309245" cy="15875"/>
          </a:xfrm>
          <a:prstGeom prst="rect">
            <a:avLst/>
          </a:prstGeom>
        </p:spPr>
      </p:pic>
      <p:sp>
        <p:nvSpPr>
          <p:cNvPr id="72" name="TextBox 12"/>
          <p:cNvSpPr txBox="1"/>
          <p:nvPr userDrawn="1"/>
        </p:nvSpPr>
        <p:spPr>
          <a:xfrm>
            <a:off x="11113770" y="564515"/>
            <a:ext cx="215265" cy="208915"/>
          </a:xfrm>
          <a:prstGeom prst="rect">
            <a:avLst/>
          </a:prstGeom>
        </p:spPr>
        <p:txBody>
          <a:bodyPr lIns="0" tIns="0" rIns="0" bIns="0" rtlCol="0" anchor="ctr" anchorCtr="0"/>
          <a:p>
            <a:pPr lvl="0" indent="0" algn="ctr" fontAlgn="base">
              <a:lnSpc>
                <a:spcPct val="11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Anek Tamil Expanded SemiBold"/>
              </a:rPr>
              <a:t>03</a:t>
            </a:r>
            <a:endParaRPr lang="en-US" sz="1000" b="0" i="0" u="none" strike="noStrike">
              <a:solidFill>
                <a:srgbClr val="000000"/>
              </a:solidFill>
              <a:latin typeface="Anek Tamil Expanded SemiBold"/>
            </a:endParaRPr>
          </a:p>
        </p:txBody>
      </p:sp>
      <p:sp>
        <p:nvSpPr>
          <p:cNvPr id="73" name="文本框 72"/>
          <p:cNvSpPr txBox="1"/>
          <p:nvPr userDrawn="1"/>
        </p:nvSpPr>
        <p:spPr>
          <a:xfrm>
            <a:off x="5519420" y="528320"/>
            <a:ext cx="4578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 </a:t>
            </a:r>
            <a:r>
              <a:rPr lang="zh-CN" altLang="en-US" sz="1000" b="1"/>
              <a:t>无界应用</a:t>
            </a:r>
            <a:r>
              <a:rPr lang="en-US" altLang="zh-CN" sz="1000" b="1"/>
              <a:t>Boundless Agents |</a:t>
            </a:r>
            <a:r>
              <a:rPr lang="en-US" altLang="zh-CN" sz="1000"/>
              <a:t> AI + Education</a:t>
            </a:r>
            <a:endParaRPr lang="en-US" altLang="zh-CN" sz="1000"/>
          </a:p>
        </p:txBody>
      </p:sp>
      <p:sp>
        <p:nvSpPr>
          <p:cNvPr id="74" name="文本框 73"/>
          <p:cNvSpPr txBox="1"/>
          <p:nvPr userDrawn="1"/>
        </p:nvSpPr>
        <p:spPr>
          <a:xfrm>
            <a:off x="1997075" y="524510"/>
            <a:ext cx="21818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 b="1">
                <a:sym typeface="+mn-ea"/>
              </a:rPr>
              <a:t>Orbit Engine | </a:t>
            </a:r>
            <a:r>
              <a:rPr lang="zh-CN" altLang="en-US" sz="1000" b="1">
                <a:sym typeface="+mn-ea"/>
              </a:rPr>
              <a:t>圆周引擎</a:t>
            </a:r>
            <a:endParaRPr lang="zh-CN" altLang="en-US" sz="1000" b="1">
              <a:sym typeface="+mn-ea"/>
            </a:endParaRPr>
          </a:p>
        </p:txBody>
      </p:sp>
      <p:sp>
        <p:nvSpPr>
          <p:cNvPr id="75" name="文本框 74"/>
          <p:cNvSpPr txBox="1"/>
          <p:nvPr userDrawn="1"/>
        </p:nvSpPr>
        <p:spPr>
          <a:xfrm>
            <a:off x="508000" y="528320"/>
            <a:ext cx="140208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 b="1">
                <a:sym typeface="+mn-ea"/>
              </a:rPr>
              <a:t>02 Target User</a:t>
            </a:r>
            <a:endParaRPr lang="en-US" sz="1000" b="1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7" name="Picture 3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508000" y="482600"/>
            <a:ext cx="10821035" cy="18415"/>
          </a:xfrm>
          <a:prstGeom prst="rect">
            <a:avLst/>
          </a:prstGeom>
        </p:spPr>
      </p:pic>
      <p:pic>
        <p:nvPicPr>
          <p:cNvPr id="68" name="Picture 4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508000" y="800735"/>
            <a:ext cx="10821035" cy="18415"/>
          </a:xfrm>
          <a:prstGeom prst="rect">
            <a:avLst/>
          </a:prstGeom>
        </p:spPr>
      </p:pic>
      <p:pic>
        <p:nvPicPr>
          <p:cNvPr id="69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834515" y="638175"/>
            <a:ext cx="309245" cy="15875"/>
          </a:xfrm>
          <a:prstGeom prst="rect">
            <a:avLst/>
          </a:prstGeom>
        </p:spPr>
      </p:pic>
      <p:pic>
        <p:nvPicPr>
          <p:cNvPr id="70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5337810" y="638175"/>
            <a:ext cx="309245" cy="15875"/>
          </a:xfrm>
          <a:prstGeom prst="rect">
            <a:avLst/>
          </a:prstGeom>
        </p:spPr>
      </p:pic>
      <p:pic>
        <p:nvPicPr>
          <p:cNvPr id="71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0401935" y="638175"/>
            <a:ext cx="309245" cy="15875"/>
          </a:xfrm>
          <a:prstGeom prst="rect">
            <a:avLst/>
          </a:prstGeom>
        </p:spPr>
      </p:pic>
      <p:sp>
        <p:nvSpPr>
          <p:cNvPr id="72" name="TextBox 12"/>
          <p:cNvSpPr txBox="1"/>
          <p:nvPr userDrawn="1"/>
        </p:nvSpPr>
        <p:spPr>
          <a:xfrm>
            <a:off x="11113770" y="564515"/>
            <a:ext cx="215265" cy="208915"/>
          </a:xfrm>
          <a:prstGeom prst="rect">
            <a:avLst/>
          </a:prstGeom>
        </p:spPr>
        <p:txBody>
          <a:bodyPr lIns="0" tIns="0" rIns="0" bIns="0" rtlCol="0" anchor="ctr" anchorCtr="0"/>
          <a:p>
            <a:pPr lvl="0" indent="0" algn="ctr" fontAlgn="base">
              <a:lnSpc>
                <a:spcPct val="11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Anek Tamil Expanded SemiBold"/>
              </a:rPr>
              <a:t>04</a:t>
            </a:r>
            <a:endParaRPr lang="en-US" sz="1000" b="0" i="0" u="none" strike="noStrike">
              <a:solidFill>
                <a:srgbClr val="000000"/>
              </a:solidFill>
              <a:latin typeface="Anek Tamil Expanded SemiBold"/>
            </a:endParaRPr>
          </a:p>
        </p:txBody>
      </p:sp>
      <p:sp>
        <p:nvSpPr>
          <p:cNvPr id="73" name="文本框 72"/>
          <p:cNvSpPr txBox="1"/>
          <p:nvPr userDrawn="1"/>
        </p:nvSpPr>
        <p:spPr>
          <a:xfrm>
            <a:off x="5519420" y="528320"/>
            <a:ext cx="4578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 </a:t>
            </a:r>
            <a:r>
              <a:rPr lang="zh-CN" altLang="en-US" sz="1000" b="1"/>
              <a:t>无界应用</a:t>
            </a:r>
            <a:r>
              <a:rPr lang="en-US" altLang="zh-CN" sz="1000" b="1"/>
              <a:t>Boundless Agents |</a:t>
            </a:r>
            <a:r>
              <a:rPr lang="en-US" altLang="zh-CN" sz="1000"/>
              <a:t> AI + Education</a:t>
            </a:r>
            <a:endParaRPr lang="en-US" altLang="zh-CN" sz="1000"/>
          </a:p>
        </p:txBody>
      </p:sp>
      <p:sp>
        <p:nvSpPr>
          <p:cNvPr id="74" name="文本框 73"/>
          <p:cNvSpPr txBox="1"/>
          <p:nvPr userDrawn="1"/>
        </p:nvSpPr>
        <p:spPr>
          <a:xfrm>
            <a:off x="1997075" y="524510"/>
            <a:ext cx="21818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 b="1">
                <a:sym typeface="+mn-ea"/>
              </a:rPr>
              <a:t>Orbit Engine | </a:t>
            </a:r>
            <a:r>
              <a:rPr lang="zh-CN" altLang="en-US" sz="1000" b="1">
                <a:sym typeface="+mn-ea"/>
              </a:rPr>
              <a:t>圆周引擎</a:t>
            </a:r>
            <a:endParaRPr lang="zh-CN" altLang="en-US" sz="1000" b="1">
              <a:sym typeface="+mn-ea"/>
            </a:endParaRPr>
          </a:p>
        </p:txBody>
      </p:sp>
      <p:sp>
        <p:nvSpPr>
          <p:cNvPr id="75" name="文本框 74"/>
          <p:cNvSpPr txBox="1"/>
          <p:nvPr userDrawn="1"/>
        </p:nvSpPr>
        <p:spPr>
          <a:xfrm>
            <a:off x="508000" y="528320"/>
            <a:ext cx="140208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 b="1">
                <a:sym typeface="+mn-ea"/>
              </a:rPr>
              <a:t>03 Solution</a:t>
            </a:r>
            <a:endParaRPr lang="en-US" sz="1000" b="1">
              <a:sym typeface="+mn-ea"/>
            </a:endParaRPr>
          </a:p>
        </p:txBody>
      </p:sp>
      <p:sp>
        <p:nvSpPr>
          <p:cNvPr id="55" name="Text 1"/>
          <p:cNvSpPr/>
          <p:nvPr/>
        </p:nvSpPr>
        <p:spPr>
          <a:xfrm>
            <a:off x="508000" y="8686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zh-CN" altLang="en-US" sz="2800" b="1" dirty="0">
                <a:solidFill>
                  <a:srgbClr val="111428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mbria" pitchFamily="34" charset="-120"/>
              </a:rPr>
              <a:t>四类任务模式，对应四类能力需求</a:t>
            </a:r>
            <a:endParaRPr lang="zh-CN" altLang="en-US" sz="2800" b="1" dirty="0">
              <a:solidFill>
                <a:srgbClr val="111428"/>
              </a:solidFill>
              <a:latin typeface="Noto Serif CJK KR Black" panose="02020900000000000000" charset="-122"/>
              <a:ea typeface="Noto Serif CJK KR Black" panose="02020900000000000000" charset="-122"/>
              <a:cs typeface="Cambria" pitchFamily="34" charset="-120"/>
            </a:endParaRPr>
          </a:p>
        </p:txBody>
      </p:sp>
      <p:sp>
        <p:nvSpPr>
          <p:cNvPr id="56" name="Text 2"/>
          <p:cNvSpPr/>
          <p:nvPr/>
        </p:nvSpPr>
        <p:spPr>
          <a:xfrm>
            <a:off x="508000" y="1412240"/>
            <a:ext cx="4534535" cy="45720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400" dirty="0">
                <a:solidFill>
                  <a:srgbClr val="6B7394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而是每一次行动开始之前，反复出现的决策与筛选成本</a:t>
            </a:r>
            <a:endParaRPr lang="en-US" sz="1400" dirty="0">
              <a:solidFill>
                <a:srgbClr val="6B7394"/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86080" y="1991360"/>
            <a:ext cx="2651760" cy="3984625"/>
          </a:xfrm>
          <a:prstGeom prst="roundRect">
            <a:avLst>
              <a:gd name="adj" fmla="val 4138"/>
            </a:avLst>
          </a:prstGeom>
          <a:solidFill>
            <a:schemeClr val="bg1">
              <a:alpha val="60000"/>
            </a:schemeClr>
          </a:solidFill>
        </p:spPr>
      </p:sp>
      <p:sp>
        <p:nvSpPr>
          <p:cNvPr id="7" name="Shape 4"/>
          <p:cNvSpPr/>
          <p:nvPr/>
        </p:nvSpPr>
        <p:spPr>
          <a:xfrm>
            <a:off x="386080" y="1991360"/>
            <a:ext cx="2651760" cy="777240"/>
          </a:xfrm>
          <a:prstGeom prst="roundRect">
            <a:avLst>
              <a:gd name="adj" fmla="val 14118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</p:spPr>
      </p:sp>
      <p:sp>
        <p:nvSpPr>
          <p:cNvPr id="8" name="Text 6"/>
          <p:cNvSpPr/>
          <p:nvPr/>
        </p:nvSpPr>
        <p:spPr>
          <a:xfrm>
            <a:off x="550672" y="2062988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450" b="1" dirty="0">
                <a:solidFill>
                  <a:schemeClr val="accent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Signal Radar</a:t>
            </a:r>
            <a:endParaRPr lang="en-US" sz="1450" b="1" dirty="0">
              <a:solidFill>
                <a:schemeClr val="accent1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50672" y="2342388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扫描外部信号</a:t>
            </a:r>
            <a:endParaRPr lang="zh-CN" altLang="en-US" sz="1200" b="1" dirty="0">
              <a:solidFill>
                <a:schemeClr val="bg1"/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50545" y="2951480"/>
            <a:ext cx="2286000" cy="52006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持续获取趋势、动态、机会等外部信号，不必用户主动去搜</a:t>
            </a:r>
            <a:endParaRPr 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550545" y="5271135"/>
            <a:ext cx="226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Text 8"/>
          <p:cNvSpPr/>
          <p:nvPr/>
        </p:nvSpPr>
        <p:spPr>
          <a:xfrm>
            <a:off x="550545" y="5396230"/>
            <a:ext cx="2286000" cy="33210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lnSpc>
                <a:spcPct val="130000"/>
              </a:lnSpc>
              <a:buNone/>
            </a:pPr>
            <a:r>
              <a:rPr lang="zh-CN" altLang="en-US" sz="1050" b="1" dirty="0">
                <a:solidFill>
                  <a:schemeClr val="bg1">
                    <a:lumMod val="6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对应：定期主动获取外部信号</a:t>
            </a:r>
            <a:endParaRPr lang="zh-CN" altLang="en-US" sz="1050" b="1" dirty="0">
              <a:solidFill>
                <a:schemeClr val="bg1">
                  <a:lumMod val="6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12" name="Shape 3"/>
          <p:cNvSpPr/>
          <p:nvPr/>
        </p:nvSpPr>
        <p:spPr>
          <a:xfrm>
            <a:off x="3362960" y="1991360"/>
            <a:ext cx="2651760" cy="3983990"/>
          </a:xfrm>
          <a:prstGeom prst="roundRect">
            <a:avLst>
              <a:gd name="adj" fmla="val 4138"/>
            </a:avLst>
          </a:prstGeom>
          <a:solidFill>
            <a:schemeClr val="bg1">
              <a:alpha val="60000"/>
            </a:schemeClr>
          </a:solidFill>
        </p:spPr>
      </p:sp>
      <p:sp>
        <p:nvSpPr>
          <p:cNvPr id="13" name="Shape 4"/>
          <p:cNvSpPr/>
          <p:nvPr/>
        </p:nvSpPr>
        <p:spPr>
          <a:xfrm>
            <a:off x="3362960" y="1991360"/>
            <a:ext cx="2651760" cy="777240"/>
          </a:xfrm>
          <a:prstGeom prst="roundRect">
            <a:avLst>
              <a:gd name="adj" fmla="val 14118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</p:spPr>
      </p:sp>
      <p:sp>
        <p:nvSpPr>
          <p:cNvPr id="14" name="Text 6"/>
          <p:cNvSpPr/>
          <p:nvPr/>
        </p:nvSpPr>
        <p:spPr>
          <a:xfrm>
            <a:off x="3527552" y="2062988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450" b="1" dirty="0">
                <a:solidFill>
                  <a:schemeClr val="accent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450" b="1" dirty="0">
              <a:solidFill>
                <a:schemeClr val="accent1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6"/>
          <p:cNvSpPr/>
          <p:nvPr/>
        </p:nvSpPr>
        <p:spPr>
          <a:xfrm>
            <a:off x="3527552" y="2342388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深度处理一份材料</a:t>
            </a:r>
            <a:endParaRPr lang="zh-CN" altLang="en-US" sz="1200" b="1" dirty="0">
              <a:solidFill>
                <a:schemeClr val="bg1"/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3527425" y="2951480"/>
            <a:ext cx="2286000" cy="52006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lnSpc>
                <a:spcPct val="130000"/>
              </a:lnSpc>
              <a:buNone/>
            </a:pPr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深入精读一篇论文、文章、</a:t>
            </a:r>
            <a:r>
              <a:rPr lang="en-US" altLang="zh-CN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repo </a:t>
            </a:r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或案例，形成结构化理解</a:t>
            </a: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3527425" y="5271135"/>
            <a:ext cx="226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Text 8"/>
          <p:cNvSpPr/>
          <p:nvPr/>
        </p:nvSpPr>
        <p:spPr>
          <a:xfrm>
            <a:off x="3527425" y="5396230"/>
            <a:ext cx="2437765" cy="33210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lnSpc>
                <a:spcPct val="130000"/>
              </a:lnSpc>
              <a:buNone/>
            </a:pPr>
            <a:r>
              <a:rPr lang="zh-CN" altLang="en-US" sz="1050" b="1" dirty="0">
                <a:solidFill>
                  <a:schemeClr val="bg1">
                    <a:lumMod val="6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对应：提前完成材料筛选与价值判断</a:t>
            </a:r>
            <a:endParaRPr lang="zh-CN" altLang="en-US" sz="1050" b="1" dirty="0">
              <a:solidFill>
                <a:schemeClr val="bg1">
                  <a:lumMod val="6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zh-CN" altLang="en-US" sz="1050" b="1" dirty="0">
              <a:solidFill>
                <a:schemeClr val="bg1">
                  <a:lumMod val="6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6285230" y="1991360"/>
            <a:ext cx="2651760" cy="3984625"/>
          </a:xfrm>
          <a:prstGeom prst="roundRect">
            <a:avLst>
              <a:gd name="adj" fmla="val 4138"/>
            </a:avLst>
          </a:prstGeom>
          <a:solidFill>
            <a:schemeClr val="bg1">
              <a:alpha val="60000"/>
            </a:schemeClr>
          </a:solidFill>
        </p:spPr>
      </p:sp>
      <p:sp>
        <p:nvSpPr>
          <p:cNvPr id="20" name="Shape 4"/>
          <p:cNvSpPr/>
          <p:nvPr/>
        </p:nvSpPr>
        <p:spPr>
          <a:xfrm>
            <a:off x="6285230" y="1991360"/>
            <a:ext cx="2651760" cy="777240"/>
          </a:xfrm>
          <a:prstGeom prst="roundRect">
            <a:avLst>
              <a:gd name="adj" fmla="val 14118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</p:spPr>
      </p:sp>
      <p:sp>
        <p:nvSpPr>
          <p:cNvPr id="21" name="Text 6"/>
          <p:cNvSpPr/>
          <p:nvPr/>
        </p:nvSpPr>
        <p:spPr>
          <a:xfrm>
            <a:off x="6368415" y="2063115"/>
            <a:ext cx="2586355" cy="384175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Opportunity Alignment</a:t>
            </a:r>
            <a:endParaRPr lang="en-US" sz="1400" b="1" dirty="0">
              <a:solidFill>
                <a:schemeClr val="accent1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Text 6"/>
          <p:cNvSpPr/>
          <p:nvPr/>
        </p:nvSpPr>
        <p:spPr>
          <a:xfrm>
            <a:off x="6449822" y="2342388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外部诉求分析</a:t>
            </a:r>
            <a:endParaRPr lang="zh-CN" altLang="en-US" sz="1200" b="1" dirty="0">
              <a:solidFill>
                <a:schemeClr val="bg1"/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23" name="Text 8"/>
          <p:cNvSpPr/>
          <p:nvPr/>
        </p:nvSpPr>
        <p:spPr>
          <a:xfrm>
            <a:off x="6449695" y="2951480"/>
            <a:ext cx="2286000" cy="52006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lnSpc>
                <a:spcPct val="130000"/>
              </a:lnSpc>
              <a:buNone/>
            </a:pPr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分析所在领域里，外部世界（市场</a:t>
            </a:r>
            <a:r>
              <a:rPr lang="en-US" altLang="zh-CN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/</a:t>
            </a:r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机构</a:t>
            </a:r>
            <a:r>
              <a:rPr lang="en-US" altLang="zh-CN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/</a:t>
            </a:r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社区）真正需要什么</a:t>
            </a: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6449695" y="5271135"/>
            <a:ext cx="226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Text 8"/>
          <p:cNvSpPr/>
          <p:nvPr/>
        </p:nvSpPr>
        <p:spPr>
          <a:xfrm>
            <a:off x="6449695" y="5396230"/>
            <a:ext cx="2286000" cy="33210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lnSpc>
                <a:spcPct val="130000"/>
              </a:lnSpc>
              <a:buNone/>
            </a:pPr>
            <a:r>
              <a:rPr lang="zh-CN" altLang="en-US" sz="1050" b="1" dirty="0">
                <a:solidFill>
                  <a:schemeClr val="bg1">
                    <a:lumMod val="6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对应：定期获取外部世界真实诉求</a:t>
            </a:r>
            <a:endParaRPr lang="zh-CN" altLang="en-US" sz="1050" b="1" dirty="0">
              <a:solidFill>
                <a:schemeClr val="bg1">
                  <a:lumMod val="6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zh-CN" altLang="en-US" sz="1050" b="1" dirty="0">
              <a:solidFill>
                <a:schemeClr val="bg1">
                  <a:lumMod val="6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9152890" y="1991360"/>
            <a:ext cx="2651760" cy="3984625"/>
          </a:xfrm>
          <a:prstGeom prst="roundRect">
            <a:avLst>
              <a:gd name="adj" fmla="val 4138"/>
            </a:avLst>
          </a:prstGeom>
          <a:solidFill>
            <a:schemeClr val="bg1">
              <a:alpha val="60000"/>
            </a:schemeClr>
          </a:solidFill>
        </p:spPr>
      </p:sp>
      <p:sp>
        <p:nvSpPr>
          <p:cNvPr id="27" name="Shape 4"/>
          <p:cNvSpPr/>
          <p:nvPr/>
        </p:nvSpPr>
        <p:spPr>
          <a:xfrm>
            <a:off x="9152890" y="1991360"/>
            <a:ext cx="2651760" cy="777240"/>
          </a:xfrm>
          <a:prstGeom prst="roundRect">
            <a:avLst>
              <a:gd name="adj" fmla="val 14118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</p:spPr>
      </p:sp>
      <p:sp>
        <p:nvSpPr>
          <p:cNvPr id="28" name="Text 6"/>
          <p:cNvSpPr/>
          <p:nvPr/>
        </p:nvSpPr>
        <p:spPr>
          <a:xfrm>
            <a:off x="9317482" y="2062988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450" b="1" dirty="0">
                <a:solidFill>
                  <a:schemeClr val="accent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Weekly Studio</a:t>
            </a:r>
            <a:endParaRPr lang="en-US" sz="1450" b="1" dirty="0">
              <a:solidFill>
                <a:schemeClr val="accent1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Text 6"/>
          <p:cNvSpPr/>
          <p:nvPr/>
        </p:nvSpPr>
        <p:spPr>
          <a:xfrm>
            <a:off x="9317482" y="2342388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周期归档复盘</a:t>
            </a:r>
            <a:endParaRPr lang="zh-CN" altLang="en-US" sz="1200" b="1" dirty="0">
              <a:solidFill>
                <a:schemeClr val="bg1"/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30" name="Text 8"/>
          <p:cNvSpPr/>
          <p:nvPr/>
        </p:nvSpPr>
        <p:spPr>
          <a:xfrm>
            <a:off x="9317355" y="2951480"/>
            <a:ext cx="2286000" cy="52006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lnSpc>
                <a:spcPct val="130000"/>
              </a:lnSpc>
              <a:buNone/>
            </a:pPr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定期整理、归档，更新能力档案，回看阶段性投入与产出</a:t>
            </a: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9317355" y="5271135"/>
            <a:ext cx="226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Text 8"/>
          <p:cNvSpPr/>
          <p:nvPr/>
        </p:nvSpPr>
        <p:spPr>
          <a:xfrm>
            <a:off x="9317355" y="5396230"/>
            <a:ext cx="2286000" cy="33210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lnSpc>
                <a:spcPct val="130000"/>
              </a:lnSpc>
              <a:buNone/>
            </a:pPr>
            <a:r>
              <a:rPr lang="zh-CN" altLang="en-US" sz="1050" b="1" dirty="0">
                <a:solidFill>
                  <a:schemeClr val="bg1">
                    <a:lumMod val="6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对应：持续记录与阶段性复盘</a:t>
            </a:r>
            <a:endParaRPr lang="zh-CN" altLang="en-US" sz="1050" b="1" dirty="0">
              <a:solidFill>
                <a:schemeClr val="bg1">
                  <a:lumMod val="6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86080" y="6135370"/>
            <a:ext cx="6096000" cy="252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50" b="1" dirty="0">
                <a:solidFill>
                  <a:srgbClr val="6B7394"/>
                </a:solidFill>
                <a:latin typeface="Calibri" charset="0"/>
                <a:ea typeface="Calibri" pitchFamily="34" charset="-122"/>
                <a:cs typeface="Calibri" pitchFamily="34" charset="-120"/>
                <a:sym typeface="+mn-ea"/>
              </a:rPr>
              <a:t>四类会话共享同一套 BaseSession / Skill 架构，仅数据源与生成逻辑不同</a:t>
            </a:r>
            <a:r>
              <a:rPr lang="zh-CN" altLang="en-US" sz="1050" b="1" dirty="0">
                <a:solidFill>
                  <a:srgbClr val="6B7394"/>
                </a:solidFill>
                <a:latin typeface="Calibri" charset="0"/>
                <a:ea typeface="宋体" charset="0"/>
                <a:cs typeface="Calibri" pitchFamily="34" charset="-120"/>
                <a:sym typeface="+mn-ea"/>
              </a:rPr>
              <a:t>。</a:t>
            </a:r>
            <a:endParaRPr lang="zh-CN" altLang="en-US" sz="1050" b="1" dirty="0">
              <a:solidFill>
                <a:srgbClr val="6B7394"/>
              </a:solidFill>
              <a:latin typeface="Calibri" charset="0"/>
              <a:ea typeface="宋体" charset="0"/>
              <a:cs typeface="Calibri" pitchFamily="34" charset="-120"/>
              <a:sym typeface="+mn-ea"/>
            </a:endParaRPr>
          </a:p>
        </p:txBody>
      </p:sp>
      <p:pic>
        <p:nvPicPr>
          <p:cNvPr id="34" name="图片 33" descr="deep-di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040" y="3357880"/>
            <a:ext cx="2078990" cy="2078990"/>
          </a:xfrm>
          <a:prstGeom prst="rect">
            <a:avLst/>
          </a:prstGeom>
        </p:spPr>
      </p:pic>
      <p:pic>
        <p:nvPicPr>
          <p:cNvPr id="35" name="图片 34" descr="opportunity-alignm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735" y="3168650"/>
            <a:ext cx="2458085" cy="2458085"/>
          </a:xfrm>
          <a:prstGeom prst="rect">
            <a:avLst/>
          </a:prstGeom>
        </p:spPr>
      </p:pic>
      <p:pic>
        <p:nvPicPr>
          <p:cNvPr id="36" name="图片 35" descr="signal-rad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" y="3378200"/>
            <a:ext cx="2068830" cy="1925320"/>
          </a:xfrm>
          <a:prstGeom prst="rect">
            <a:avLst/>
          </a:prstGeom>
        </p:spPr>
      </p:pic>
      <p:pic>
        <p:nvPicPr>
          <p:cNvPr id="37" name="图片 36" descr="weekly-studi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875" y="3168650"/>
            <a:ext cx="2393950" cy="2393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7" name="Picture 3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508000" y="6214110"/>
            <a:ext cx="10821035" cy="18415"/>
          </a:xfrm>
          <a:prstGeom prst="rect">
            <a:avLst/>
          </a:prstGeom>
        </p:spPr>
      </p:pic>
      <p:pic>
        <p:nvPicPr>
          <p:cNvPr id="68" name="Picture 4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508000" y="6532245"/>
            <a:ext cx="10821035" cy="18415"/>
          </a:xfrm>
          <a:prstGeom prst="rect">
            <a:avLst/>
          </a:prstGeom>
        </p:spPr>
      </p:pic>
      <p:pic>
        <p:nvPicPr>
          <p:cNvPr id="69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834515" y="6369685"/>
            <a:ext cx="309245" cy="15875"/>
          </a:xfrm>
          <a:prstGeom prst="rect">
            <a:avLst/>
          </a:prstGeom>
        </p:spPr>
      </p:pic>
      <p:pic>
        <p:nvPicPr>
          <p:cNvPr id="70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5337810" y="6369685"/>
            <a:ext cx="309245" cy="15875"/>
          </a:xfrm>
          <a:prstGeom prst="rect">
            <a:avLst/>
          </a:prstGeom>
        </p:spPr>
      </p:pic>
      <p:pic>
        <p:nvPicPr>
          <p:cNvPr id="71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0401935" y="6369685"/>
            <a:ext cx="309245" cy="15875"/>
          </a:xfrm>
          <a:prstGeom prst="rect">
            <a:avLst/>
          </a:prstGeom>
        </p:spPr>
      </p:pic>
      <p:sp>
        <p:nvSpPr>
          <p:cNvPr id="72" name="TextBox 12"/>
          <p:cNvSpPr txBox="1"/>
          <p:nvPr userDrawn="1"/>
        </p:nvSpPr>
        <p:spPr>
          <a:xfrm>
            <a:off x="11113770" y="6296025"/>
            <a:ext cx="215265" cy="208915"/>
          </a:xfrm>
          <a:prstGeom prst="rect">
            <a:avLst/>
          </a:prstGeom>
        </p:spPr>
        <p:txBody>
          <a:bodyPr lIns="0" tIns="0" rIns="0" bIns="0" rtlCol="0" anchor="ctr" anchorCtr="0"/>
          <a:p>
            <a:pPr lvl="0" indent="0" algn="ctr" fontAlgn="base">
              <a:lnSpc>
                <a:spcPct val="11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Anek Tamil Expanded SemiBold"/>
              </a:rPr>
              <a:t>04</a:t>
            </a:r>
            <a:endParaRPr lang="en-US" sz="1000" b="0" i="0" u="none" strike="noStrike">
              <a:solidFill>
                <a:srgbClr val="000000"/>
              </a:solidFill>
              <a:latin typeface="Anek Tamil Expanded SemiBold"/>
            </a:endParaRPr>
          </a:p>
        </p:txBody>
      </p:sp>
      <p:sp>
        <p:nvSpPr>
          <p:cNvPr id="73" name="文本框 72"/>
          <p:cNvSpPr txBox="1"/>
          <p:nvPr userDrawn="1"/>
        </p:nvSpPr>
        <p:spPr>
          <a:xfrm>
            <a:off x="5519420" y="6259830"/>
            <a:ext cx="4578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 </a:t>
            </a:r>
            <a:r>
              <a:rPr lang="zh-CN" altLang="en-US" sz="1000" b="1"/>
              <a:t>无界应用</a:t>
            </a:r>
            <a:r>
              <a:rPr lang="en-US" altLang="zh-CN" sz="1000" b="1"/>
              <a:t>Boundless Agents |</a:t>
            </a:r>
            <a:r>
              <a:rPr lang="en-US" altLang="zh-CN" sz="1000"/>
              <a:t> AI + Education</a:t>
            </a:r>
            <a:endParaRPr lang="en-US" altLang="zh-CN" sz="1000"/>
          </a:p>
        </p:txBody>
      </p:sp>
      <p:sp>
        <p:nvSpPr>
          <p:cNvPr id="74" name="文本框 73"/>
          <p:cNvSpPr txBox="1"/>
          <p:nvPr userDrawn="1"/>
        </p:nvSpPr>
        <p:spPr>
          <a:xfrm>
            <a:off x="1997075" y="6256020"/>
            <a:ext cx="21818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 b="1">
                <a:sym typeface="+mn-ea"/>
              </a:rPr>
              <a:t>Orbit Engine | </a:t>
            </a:r>
            <a:r>
              <a:rPr lang="zh-CN" altLang="en-US" sz="1000" b="1">
                <a:sym typeface="+mn-ea"/>
              </a:rPr>
              <a:t>圆周引擎</a:t>
            </a:r>
            <a:endParaRPr lang="zh-CN" altLang="en-US" sz="1000" b="1">
              <a:sym typeface="+mn-ea"/>
            </a:endParaRPr>
          </a:p>
        </p:txBody>
      </p:sp>
      <p:sp>
        <p:nvSpPr>
          <p:cNvPr id="75" name="文本框 74"/>
          <p:cNvSpPr txBox="1"/>
          <p:nvPr userDrawn="1"/>
        </p:nvSpPr>
        <p:spPr>
          <a:xfrm>
            <a:off x="508000" y="6259830"/>
            <a:ext cx="140208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 b="1">
                <a:sym typeface="+mn-ea"/>
              </a:rPr>
              <a:t>03 Solution</a:t>
            </a:r>
            <a:endParaRPr lang="en-US" sz="1000" b="1">
              <a:sym typeface="+mn-ea"/>
            </a:endParaRPr>
          </a:p>
        </p:txBody>
      </p:sp>
      <p:sp>
        <p:nvSpPr>
          <p:cNvPr id="55" name="Text 1"/>
          <p:cNvSpPr/>
          <p:nvPr/>
        </p:nvSpPr>
        <p:spPr>
          <a:xfrm>
            <a:off x="508000" y="20320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zh-CN" altLang="en-US" sz="2800" b="1" dirty="0">
                <a:solidFill>
                  <a:srgbClr val="111428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mbria" pitchFamily="34" charset="-120"/>
              </a:rPr>
              <a:t>四类任务模式，对应四类能力需求</a:t>
            </a:r>
            <a:endParaRPr lang="zh-CN" altLang="en-US" sz="2800" b="1" dirty="0">
              <a:solidFill>
                <a:srgbClr val="111428"/>
              </a:solidFill>
              <a:latin typeface="Noto Serif CJK KR Black" panose="02020900000000000000" charset="-122"/>
              <a:ea typeface="Noto Serif CJK KR Black" panose="02020900000000000000" charset="-122"/>
              <a:cs typeface="Cambria" pitchFamily="34" charset="-120"/>
            </a:endParaRPr>
          </a:p>
        </p:txBody>
      </p:sp>
      <p:sp>
        <p:nvSpPr>
          <p:cNvPr id="56" name="Text 2"/>
          <p:cNvSpPr/>
          <p:nvPr/>
        </p:nvSpPr>
        <p:spPr>
          <a:xfrm>
            <a:off x="508000" y="746760"/>
            <a:ext cx="4534535" cy="45720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400" dirty="0">
                <a:solidFill>
                  <a:srgbClr val="6B7394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而是每一次行动开始之前，反复出现的决策与筛选成本</a:t>
            </a:r>
            <a:endParaRPr lang="en-US" sz="1400" dirty="0">
              <a:solidFill>
                <a:srgbClr val="6B7394"/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5140" y="1167765"/>
            <a:ext cx="11284585" cy="54000"/>
          </a:xfrm>
          <a:prstGeom prst="rect">
            <a:avLst/>
          </a:prstGeom>
          <a:gradFill>
            <a:gsLst>
              <a:gs pos="0">
                <a:srgbClr val="FC9686"/>
              </a:gs>
              <a:gs pos="63000">
                <a:srgbClr val="8DB7FF"/>
              </a:gs>
              <a:gs pos="32000">
                <a:srgbClr val="99B0E4"/>
              </a:gs>
              <a:gs pos="100000">
                <a:srgbClr val="C2B5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336550" y="1578610"/>
            <a:ext cx="2651760" cy="3984625"/>
          </a:xfrm>
          <a:prstGeom prst="roundRect">
            <a:avLst>
              <a:gd name="adj" fmla="val 4138"/>
            </a:avLst>
          </a:prstGeom>
          <a:solidFill>
            <a:schemeClr val="bg1">
              <a:alpha val="60000"/>
            </a:schemeClr>
          </a:solidFill>
        </p:spPr>
      </p:sp>
      <p:sp>
        <p:nvSpPr>
          <p:cNvPr id="7" name="Shape 4"/>
          <p:cNvSpPr/>
          <p:nvPr/>
        </p:nvSpPr>
        <p:spPr>
          <a:xfrm>
            <a:off x="336550" y="1578610"/>
            <a:ext cx="2651760" cy="777240"/>
          </a:xfrm>
          <a:prstGeom prst="roundRect">
            <a:avLst>
              <a:gd name="adj" fmla="val 14118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</p:spPr>
      </p:sp>
      <p:sp>
        <p:nvSpPr>
          <p:cNvPr id="8" name="Text 6"/>
          <p:cNvSpPr/>
          <p:nvPr/>
        </p:nvSpPr>
        <p:spPr>
          <a:xfrm>
            <a:off x="501142" y="1650238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450" b="1" dirty="0">
                <a:solidFill>
                  <a:schemeClr val="accent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Signal Radar</a:t>
            </a:r>
            <a:endParaRPr lang="en-US" sz="1450" b="1" dirty="0">
              <a:solidFill>
                <a:schemeClr val="accent1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1142" y="1929638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扫描外部信号</a:t>
            </a:r>
            <a:endParaRPr lang="zh-CN" altLang="en-US" sz="1200" b="1" dirty="0">
              <a:solidFill>
                <a:schemeClr val="bg1"/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1015" y="2538730"/>
            <a:ext cx="2286000" cy="52006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持续获取趋势、动态、机会等外部信号，不必用户主动去搜</a:t>
            </a:r>
            <a:endParaRPr 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501015" y="4858385"/>
            <a:ext cx="226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Text 8"/>
          <p:cNvSpPr/>
          <p:nvPr/>
        </p:nvSpPr>
        <p:spPr>
          <a:xfrm>
            <a:off x="501015" y="4983480"/>
            <a:ext cx="2286000" cy="33210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lnSpc>
                <a:spcPct val="130000"/>
              </a:lnSpc>
              <a:buNone/>
            </a:pPr>
            <a:r>
              <a:rPr lang="zh-CN" altLang="en-US" sz="1050" b="1" dirty="0">
                <a:solidFill>
                  <a:schemeClr val="bg1">
                    <a:lumMod val="6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对应：定期主动获取外部信号</a:t>
            </a:r>
            <a:endParaRPr lang="zh-CN" altLang="en-US" sz="1050" b="1" dirty="0">
              <a:solidFill>
                <a:schemeClr val="bg1">
                  <a:lumMod val="6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12" name="Shape 3"/>
          <p:cNvSpPr/>
          <p:nvPr/>
        </p:nvSpPr>
        <p:spPr>
          <a:xfrm>
            <a:off x="3313430" y="1578610"/>
            <a:ext cx="2651760" cy="3983990"/>
          </a:xfrm>
          <a:prstGeom prst="roundRect">
            <a:avLst>
              <a:gd name="adj" fmla="val 4138"/>
            </a:avLst>
          </a:prstGeom>
          <a:solidFill>
            <a:schemeClr val="bg1">
              <a:alpha val="60000"/>
            </a:schemeClr>
          </a:solidFill>
        </p:spPr>
      </p:sp>
      <p:sp>
        <p:nvSpPr>
          <p:cNvPr id="13" name="Shape 4"/>
          <p:cNvSpPr/>
          <p:nvPr/>
        </p:nvSpPr>
        <p:spPr>
          <a:xfrm>
            <a:off x="3313430" y="1578610"/>
            <a:ext cx="2651760" cy="777240"/>
          </a:xfrm>
          <a:prstGeom prst="roundRect">
            <a:avLst>
              <a:gd name="adj" fmla="val 14118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</p:spPr>
      </p:sp>
      <p:sp>
        <p:nvSpPr>
          <p:cNvPr id="14" name="Text 6"/>
          <p:cNvSpPr/>
          <p:nvPr/>
        </p:nvSpPr>
        <p:spPr>
          <a:xfrm>
            <a:off x="3478022" y="1650238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450" b="1" dirty="0">
                <a:solidFill>
                  <a:schemeClr val="accent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450" b="1" dirty="0">
              <a:solidFill>
                <a:schemeClr val="accent1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6"/>
          <p:cNvSpPr/>
          <p:nvPr/>
        </p:nvSpPr>
        <p:spPr>
          <a:xfrm>
            <a:off x="3478022" y="1929638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深度处理一份材料</a:t>
            </a:r>
            <a:endParaRPr lang="zh-CN" altLang="en-US" sz="1200" b="1" dirty="0">
              <a:solidFill>
                <a:schemeClr val="bg1"/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3477895" y="2538730"/>
            <a:ext cx="2286000" cy="52006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lnSpc>
                <a:spcPct val="130000"/>
              </a:lnSpc>
              <a:buNone/>
            </a:pPr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深入精读一篇论文、文章、</a:t>
            </a:r>
            <a:r>
              <a:rPr lang="en-US" altLang="zh-CN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repo </a:t>
            </a:r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或案例，形成结构化理解</a:t>
            </a: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3477895" y="4858385"/>
            <a:ext cx="226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Text 8"/>
          <p:cNvSpPr/>
          <p:nvPr/>
        </p:nvSpPr>
        <p:spPr>
          <a:xfrm>
            <a:off x="3477895" y="4983480"/>
            <a:ext cx="2437765" cy="33210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lnSpc>
                <a:spcPct val="130000"/>
              </a:lnSpc>
              <a:buNone/>
            </a:pPr>
            <a:r>
              <a:rPr lang="zh-CN" altLang="en-US" sz="1050" b="1" dirty="0">
                <a:solidFill>
                  <a:schemeClr val="bg1">
                    <a:lumMod val="6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对应：提前完成材料筛选与价值判断</a:t>
            </a:r>
            <a:endParaRPr lang="zh-CN" altLang="en-US" sz="1050" b="1" dirty="0">
              <a:solidFill>
                <a:schemeClr val="bg1">
                  <a:lumMod val="6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zh-CN" altLang="en-US" sz="1050" b="1" dirty="0">
              <a:solidFill>
                <a:schemeClr val="bg1">
                  <a:lumMod val="6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6235700" y="1578610"/>
            <a:ext cx="2651760" cy="3984625"/>
          </a:xfrm>
          <a:prstGeom prst="roundRect">
            <a:avLst>
              <a:gd name="adj" fmla="val 4138"/>
            </a:avLst>
          </a:prstGeom>
          <a:solidFill>
            <a:schemeClr val="bg1">
              <a:alpha val="60000"/>
            </a:schemeClr>
          </a:solidFill>
        </p:spPr>
      </p:sp>
      <p:sp>
        <p:nvSpPr>
          <p:cNvPr id="20" name="Shape 4"/>
          <p:cNvSpPr/>
          <p:nvPr/>
        </p:nvSpPr>
        <p:spPr>
          <a:xfrm>
            <a:off x="6235700" y="1578610"/>
            <a:ext cx="2651760" cy="777240"/>
          </a:xfrm>
          <a:prstGeom prst="roundRect">
            <a:avLst>
              <a:gd name="adj" fmla="val 14118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</p:spPr>
      </p:sp>
      <p:sp>
        <p:nvSpPr>
          <p:cNvPr id="21" name="Text 6"/>
          <p:cNvSpPr/>
          <p:nvPr/>
        </p:nvSpPr>
        <p:spPr>
          <a:xfrm>
            <a:off x="6318885" y="1650365"/>
            <a:ext cx="2586355" cy="384175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Opportunity Alignment</a:t>
            </a:r>
            <a:endParaRPr lang="en-US" sz="1400" b="1" dirty="0">
              <a:solidFill>
                <a:schemeClr val="accent1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Text 6"/>
          <p:cNvSpPr/>
          <p:nvPr/>
        </p:nvSpPr>
        <p:spPr>
          <a:xfrm>
            <a:off x="6400292" y="1929638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外部诉求分析</a:t>
            </a:r>
            <a:endParaRPr lang="zh-CN" altLang="en-US" sz="1200" b="1" dirty="0">
              <a:solidFill>
                <a:schemeClr val="bg1"/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23" name="Text 8"/>
          <p:cNvSpPr/>
          <p:nvPr/>
        </p:nvSpPr>
        <p:spPr>
          <a:xfrm>
            <a:off x="6400165" y="2538730"/>
            <a:ext cx="2286000" cy="52006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lnSpc>
                <a:spcPct val="130000"/>
              </a:lnSpc>
              <a:buNone/>
            </a:pPr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分析所在领域里，外部世界（市场</a:t>
            </a:r>
            <a:r>
              <a:rPr lang="en-US" altLang="zh-CN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/</a:t>
            </a:r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机构</a:t>
            </a:r>
            <a:r>
              <a:rPr lang="en-US" altLang="zh-CN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/</a:t>
            </a:r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社区）真正需要什么</a:t>
            </a: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6400165" y="4858385"/>
            <a:ext cx="226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Text 8"/>
          <p:cNvSpPr/>
          <p:nvPr/>
        </p:nvSpPr>
        <p:spPr>
          <a:xfrm>
            <a:off x="6400165" y="4983480"/>
            <a:ext cx="2286000" cy="33210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lnSpc>
                <a:spcPct val="130000"/>
              </a:lnSpc>
              <a:buNone/>
            </a:pPr>
            <a:r>
              <a:rPr lang="zh-CN" altLang="en-US" sz="1050" b="1" dirty="0">
                <a:solidFill>
                  <a:schemeClr val="bg1">
                    <a:lumMod val="6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对应：定期获取外部世界真实诉求</a:t>
            </a:r>
            <a:endParaRPr lang="zh-CN" altLang="en-US" sz="1050" b="1" dirty="0">
              <a:solidFill>
                <a:schemeClr val="bg1">
                  <a:lumMod val="6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zh-CN" altLang="en-US" sz="1050" b="1" dirty="0">
              <a:solidFill>
                <a:schemeClr val="bg1">
                  <a:lumMod val="6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9103360" y="1578610"/>
            <a:ext cx="2651760" cy="3984625"/>
          </a:xfrm>
          <a:prstGeom prst="roundRect">
            <a:avLst>
              <a:gd name="adj" fmla="val 4138"/>
            </a:avLst>
          </a:prstGeom>
          <a:solidFill>
            <a:schemeClr val="bg1">
              <a:alpha val="60000"/>
            </a:schemeClr>
          </a:solidFill>
        </p:spPr>
      </p:sp>
      <p:sp>
        <p:nvSpPr>
          <p:cNvPr id="27" name="Shape 4"/>
          <p:cNvSpPr/>
          <p:nvPr/>
        </p:nvSpPr>
        <p:spPr>
          <a:xfrm>
            <a:off x="9103360" y="1578610"/>
            <a:ext cx="2651760" cy="777240"/>
          </a:xfrm>
          <a:prstGeom prst="roundRect">
            <a:avLst>
              <a:gd name="adj" fmla="val 14118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</p:spPr>
      </p:sp>
      <p:sp>
        <p:nvSpPr>
          <p:cNvPr id="28" name="Text 6"/>
          <p:cNvSpPr/>
          <p:nvPr/>
        </p:nvSpPr>
        <p:spPr>
          <a:xfrm>
            <a:off x="9267952" y="1650238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450" b="1" dirty="0">
                <a:solidFill>
                  <a:schemeClr val="accent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Weekly Studio</a:t>
            </a:r>
            <a:endParaRPr lang="en-US" sz="1450" b="1" dirty="0">
              <a:solidFill>
                <a:schemeClr val="accent1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Text 6"/>
          <p:cNvSpPr/>
          <p:nvPr/>
        </p:nvSpPr>
        <p:spPr>
          <a:xfrm>
            <a:off x="9267952" y="1929638"/>
            <a:ext cx="2322576" cy="384048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zh-CN" altLang="en-US" sz="1200" b="1" dirty="0">
                <a:solidFill>
                  <a:schemeClr val="bg1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周期归档复盘</a:t>
            </a:r>
            <a:endParaRPr lang="zh-CN" altLang="en-US" sz="1200" b="1" dirty="0">
              <a:solidFill>
                <a:schemeClr val="bg1"/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30" name="Text 8"/>
          <p:cNvSpPr/>
          <p:nvPr/>
        </p:nvSpPr>
        <p:spPr>
          <a:xfrm>
            <a:off x="9267825" y="2538730"/>
            <a:ext cx="2286000" cy="52006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lnSpc>
                <a:spcPct val="130000"/>
              </a:lnSpc>
              <a:buNone/>
            </a:pPr>
            <a:r>
              <a: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定期整理、归档，更新能力档案，回看阶段性投入与产出</a:t>
            </a: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9267825" y="4858385"/>
            <a:ext cx="226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Text 8"/>
          <p:cNvSpPr/>
          <p:nvPr/>
        </p:nvSpPr>
        <p:spPr>
          <a:xfrm>
            <a:off x="9267825" y="4983480"/>
            <a:ext cx="2286000" cy="332105"/>
          </a:xfrm>
          <a:prstGeom prst="rect">
            <a:avLst/>
          </a:prstGeom>
          <a:noFill/>
        </p:spPr>
        <p:txBody>
          <a:bodyPr wrap="square" rtlCol="0" anchor="t"/>
          <a:p>
            <a:pPr marL="0" indent="0">
              <a:lnSpc>
                <a:spcPct val="130000"/>
              </a:lnSpc>
              <a:buNone/>
            </a:pPr>
            <a:r>
              <a:rPr lang="zh-CN" altLang="en-US" sz="1050" b="1" dirty="0">
                <a:solidFill>
                  <a:schemeClr val="bg1">
                    <a:lumMod val="6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对应：持续记录与阶段性复盘</a:t>
            </a:r>
            <a:endParaRPr lang="zh-CN" altLang="en-US" sz="1050" b="1" dirty="0">
              <a:solidFill>
                <a:schemeClr val="bg1">
                  <a:lumMod val="65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36550" y="5722620"/>
            <a:ext cx="6096000" cy="252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50" b="1" dirty="0">
                <a:solidFill>
                  <a:srgbClr val="6B7394"/>
                </a:solidFill>
                <a:latin typeface="Calibri" charset="0"/>
                <a:ea typeface="Calibri" pitchFamily="34" charset="-122"/>
                <a:cs typeface="Calibri" pitchFamily="34" charset="-120"/>
                <a:sym typeface="+mn-ea"/>
              </a:rPr>
              <a:t>四类会话共享同一套 BaseSession / Skill 架构，仅数据源与生成逻辑不同</a:t>
            </a:r>
            <a:r>
              <a:rPr lang="zh-CN" altLang="en-US" sz="1050" b="1" dirty="0">
                <a:solidFill>
                  <a:srgbClr val="6B7394"/>
                </a:solidFill>
                <a:latin typeface="Calibri" charset="0"/>
                <a:ea typeface="宋体" charset="0"/>
                <a:cs typeface="Calibri" pitchFamily="34" charset="-120"/>
                <a:sym typeface="+mn-ea"/>
              </a:rPr>
              <a:t>。</a:t>
            </a:r>
            <a:endParaRPr lang="zh-CN" altLang="en-US" sz="1050" b="1" dirty="0">
              <a:solidFill>
                <a:srgbClr val="6B7394"/>
              </a:solidFill>
              <a:latin typeface="Calibri" charset="0"/>
              <a:ea typeface="宋体" charset="0"/>
              <a:cs typeface="Calibri" pitchFamily="34" charset="-120"/>
              <a:sym typeface="+mn-ea"/>
            </a:endParaRPr>
          </a:p>
        </p:txBody>
      </p:sp>
      <p:pic>
        <p:nvPicPr>
          <p:cNvPr id="34" name="图片 33" descr="deep-di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510" y="2945130"/>
            <a:ext cx="2078990" cy="2078990"/>
          </a:xfrm>
          <a:prstGeom prst="rect">
            <a:avLst/>
          </a:prstGeom>
        </p:spPr>
      </p:pic>
      <p:pic>
        <p:nvPicPr>
          <p:cNvPr id="35" name="图片 34" descr="opportunity-alignm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205" y="2755900"/>
            <a:ext cx="2458085" cy="2458085"/>
          </a:xfrm>
          <a:prstGeom prst="rect">
            <a:avLst/>
          </a:prstGeom>
        </p:spPr>
      </p:pic>
      <p:pic>
        <p:nvPicPr>
          <p:cNvPr id="36" name="图片 35" descr="signal-rad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965450"/>
            <a:ext cx="2068830" cy="1925320"/>
          </a:xfrm>
          <a:prstGeom prst="rect">
            <a:avLst/>
          </a:prstGeom>
        </p:spPr>
      </p:pic>
      <p:pic>
        <p:nvPicPr>
          <p:cNvPr id="37" name="图片 36" descr="weekly-studi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7345" y="2755900"/>
            <a:ext cx="2393950" cy="2393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" name="Freeform 9"/>
          <p:cNvSpPr/>
          <p:nvPr/>
        </p:nvSpPr>
        <p:spPr>
          <a:xfrm>
            <a:off x="3114675" y="1337945"/>
            <a:ext cx="8544560" cy="698500"/>
          </a:xfrm>
          <a:custGeom>
            <a:avLst/>
            <a:gdLst/>
            <a:ahLst/>
            <a:cxnLst/>
            <a:rect l="l" t="t" r="r" b="b"/>
            <a:pathLst>
              <a:path w="4052466" h="4546106">
                <a:moveTo>
                  <a:pt x="3928006" y="4546106"/>
                </a:moveTo>
                <a:lnTo>
                  <a:pt x="124460" y="4546106"/>
                </a:lnTo>
                <a:cubicBezTo>
                  <a:pt x="55880" y="4546106"/>
                  <a:pt x="0" y="4490226"/>
                  <a:pt x="0" y="4421646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928006" y="0"/>
                </a:lnTo>
                <a:cubicBezTo>
                  <a:pt x="3996586" y="0"/>
                  <a:pt x="4052466" y="55880"/>
                  <a:pt x="4052466" y="124460"/>
                </a:cubicBezTo>
                <a:lnTo>
                  <a:pt x="4052466" y="4421646"/>
                </a:lnTo>
                <a:cubicBezTo>
                  <a:pt x="4052466" y="4490226"/>
                  <a:pt x="3996586" y="4546106"/>
                  <a:pt x="3928006" y="454610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</p:sp>
      <p:sp>
        <p:nvSpPr>
          <p:cNvPr id="55" name="Text 1"/>
          <p:cNvSpPr/>
          <p:nvPr/>
        </p:nvSpPr>
        <p:spPr>
          <a:xfrm>
            <a:off x="508000" y="211455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zh-CN" altLang="en-US" sz="2800" b="1" dirty="0">
                <a:solidFill>
                  <a:srgbClr val="111428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mbria" pitchFamily="34" charset="-120"/>
              </a:rPr>
              <a:t>两层结构设计，六步完整闭环</a:t>
            </a:r>
            <a:endParaRPr lang="zh-CN" altLang="en-US" sz="2800" b="1" dirty="0">
              <a:solidFill>
                <a:srgbClr val="111428"/>
              </a:solidFill>
              <a:latin typeface="Noto Serif CJK KR Black" panose="02020900000000000000" charset="-122"/>
              <a:ea typeface="Noto Serif CJK KR Black" panose="02020900000000000000" charset="-122"/>
              <a:cs typeface="Cambria" pitchFamily="34" charset="-120"/>
            </a:endParaRPr>
          </a:p>
        </p:txBody>
      </p:sp>
      <p:sp>
        <p:nvSpPr>
          <p:cNvPr id="56" name="Text 2"/>
          <p:cNvSpPr/>
          <p:nvPr/>
        </p:nvSpPr>
        <p:spPr>
          <a:xfrm>
            <a:off x="508000" y="734695"/>
            <a:ext cx="4534535" cy="45720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zh-CN" altLang="en-US" sz="1400" dirty="0">
                <a:solidFill>
                  <a:srgbClr val="6B7394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四类会话按用户配置的周期，依次进入任务闭环</a:t>
            </a:r>
            <a:endParaRPr lang="zh-CN" altLang="en-US" sz="1400" dirty="0">
              <a:solidFill>
                <a:srgbClr val="6B7394"/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pic>
        <p:nvPicPr>
          <p:cNvPr id="8" name="Picture 3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508000" y="6214110"/>
            <a:ext cx="10821035" cy="18415"/>
          </a:xfrm>
          <a:prstGeom prst="rect">
            <a:avLst/>
          </a:prstGeom>
        </p:spPr>
      </p:pic>
      <p:pic>
        <p:nvPicPr>
          <p:cNvPr id="9" name="Picture 4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508000" y="6532245"/>
            <a:ext cx="10821035" cy="18415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834515" y="6369685"/>
            <a:ext cx="309245" cy="15875"/>
          </a:xfrm>
          <a:prstGeom prst="rect">
            <a:avLst/>
          </a:prstGeom>
        </p:spPr>
      </p:pic>
      <p:pic>
        <p:nvPicPr>
          <p:cNvPr id="11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5337810" y="6369685"/>
            <a:ext cx="309245" cy="15875"/>
          </a:xfrm>
          <a:prstGeom prst="rect">
            <a:avLst/>
          </a:prstGeom>
        </p:spPr>
      </p:pic>
      <p:pic>
        <p:nvPicPr>
          <p:cNvPr id="12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0401935" y="6369685"/>
            <a:ext cx="309245" cy="1587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11113770" y="6296025"/>
            <a:ext cx="215265" cy="208915"/>
          </a:xfrm>
          <a:prstGeom prst="rect">
            <a:avLst/>
          </a:prstGeom>
        </p:spPr>
        <p:txBody>
          <a:bodyPr lIns="0" tIns="0" rIns="0" bIns="0" rtlCol="0" anchor="ctr" anchorCtr="0"/>
          <a:p>
            <a:pPr lvl="0" indent="0" algn="ctr" fontAlgn="base">
              <a:lnSpc>
                <a:spcPct val="11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Anek Tamil Expanded SemiBold"/>
              </a:rPr>
              <a:t>04</a:t>
            </a:r>
            <a:endParaRPr lang="en-US" sz="1000" b="0" i="0" u="none" strike="noStrike">
              <a:solidFill>
                <a:srgbClr val="000000"/>
              </a:solidFill>
              <a:latin typeface="Anek Tamil Expanded SemiBold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519420" y="6259830"/>
            <a:ext cx="4578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 </a:t>
            </a:r>
            <a:r>
              <a:rPr lang="zh-CN" altLang="en-US" sz="1000" b="1"/>
              <a:t>无界应用</a:t>
            </a:r>
            <a:r>
              <a:rPr lang="en-US" altLang="zh-CN" sz="1000" b="1"/>
              <a:t>Boundless Agents |</a:t>
            </a:r>
            <a:r>
              <a:rPr lang="en-US" altLang="zh-CN" sz="1000"/>
              <a:t> AI + Education</a:t>
            </a:r>
            <a:endParaRPr lang="en-US" altLang="zh-CN" sz="100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997075" y="6256020"/>
            <a:ext cx="21818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 b="1">
                <a:sym typeface="+mn-ea"/>
              </a:rPr>
              <a:t>Orbit Engine | </a:t>
            </a:r>
            <a:r>
              <a:rPr lang="zh-CN" altLang="en-US" sz="1000" b="1">
                <a:sym typeface="+mn-ea"/>
              </a:rPr>
              <a:t>圆周引擎</a:t>
            </a:r>
            <a:endParaRPr lang="zh-CN" altLang="en-US" sz="1000" b="1">
              <a:sym typeface="+mn-ea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508000" y="6259830"/>
            <a:ext cx="140208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 b="1">
                <a:sym typeface="+mn-ea"/>
              </a:rPr>
              <a:t>03 Solution</a:t>
            </a:r>
            <a:endParaRPr lang="en-US" sz="1000" b="1"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85140" y="1167765"/>
            <a:ext cx="11284585" cy="54000"/>
          </a:xfrm>
          <a:prstGeom prst="rect">
            <a:avLst/>
          </a:prstGeom>
          <a:gradFill>
            <a:gsLst>
              <a:gs pos="0">
                <a:srgbClr val="FC9686"/>
              </a:gs>
              <a:gs pos="63000">
                <a:srgbClr val="8DB7FF"/>
              </a:gs>
              <a:gs pos="32000">
                <a:srgbClr val="99B0E4"/>
              </a:gs>
              <a:gs pos="100000">
                <a:srgbClr val="C2B5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3271520" y="2943860"/>
            <a:ext cx="2597150" cy="970280"/>
            <a:chOff x="5568" y="2383"/>
            <a:chExt cx="4090" cy="1528"/>
          </a:xfrm>
        </p:grpSpPr>
        <p:sp>
          <p:nvSpPr>
            <p:cNvPr id="20" name="矩形 19"/>
            <p:cNvSpPr/>
            <p:nvPr/>
          </p:nvSpPr>
          <p:spPr>
            <a:xfrm>
              <a:off x="5568" y="2383"/>
              <a:ext cx="4090" cy="1529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 w="6350">
              <a:solidFill>
                <a:schemeClr val="tx1"/>
              </a:solidFill>
            </a:ln>
          </p:spPr>
          <p:txBody>
            <a:bodyPr rtlCol="0" anchor="t">
              <a:noAutofit/>
            </a:bodyPr>
            <a:p>
              <a:pPr lvl="0" algn="l">
                <a:buClrTx/>
                <a:buSzTx/>
                <a:buFontTx/>
              </a:pPr>
              <a:endParaRPr lang="en-US" altLang="zh-CN">
                <a:latin typeface="Noto Serif CJK KR Black" panose="02020900000000000000" charset="-122"/>
                <a:ea typeface="Noto Serif CJK KR Black" panose="02020900000000000000" charset="-122"/>
                <a:sym typeface="+mn-ea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600" y="2516"/>
              <a:ext cx="2594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>
                  <a:latin typeface="Noto Serif CJK KR Black" panose="02020900000000000000" charset="-122"/>
                  <a:ea typeface="Noto Serif CJK KR Black" panose="02020900000000000000" charset="-122"/>
                  <a:sym typeface="+mn-ea"/>
                </a:rPr>
                <a:t>①节奏触发</a:t>
              </a:r>
              <a:endParaRPr lang="en-US" altLang="zh-CN" sz="1600">
                <a:latin typeface="Noto Serif CJK KR Black" panose="02020900000000000000" charset="-122"/>
                <a:ea typeface="Noto Serif CJK KR Black" panose="02020900000000000000" charset="-122"/>
              </a:endParaRPr>
            </a:p>
            <a:p>
              <a:endParaRPr lang="en-US" altLang="zh-CN" sz="1600"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744" y="2970"/>
              <a:ext cx="3791" cy="9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>
                  <a:solidFill>
                    <a:schemeClr val="bg1">
                      <a:lumMod val="50000"/>
                    </a:schemeClr>
                  </a:solidFill>
                  <a:ea typeface="+mn-lt"/>
                  <a:cs typeface="+mn-lt"/>
                  <a:sym typeface="+mn-ea"/>
                </a:rPr>
                <a:t>日期</a:t>
              </a:r>
              <a:r>
                <a:rPr lang="en-US" altLang="zh-CN" sz="1200" b="1">
                  <a:solidFill>
                    <a:schemeClr val="bg1">
                      <a:lumMod val="50000"/>
                    </a:schemeClr>
                  </a:solidFill>
                  <a:ea typeface="+mn-lt"/>
                  <a:cs typeface="+mn-lt"/>
                  <a:sym typeface="+mn-ea"/>
                </a:rPr>
                <a:t>/</a:t>
              </a:r>
              <a:r>
                <a:rPr lang="zh-CN" altLang="en-US" sz="1200" b="1">
                  <a:solidFill>
                    <a:schemeClr val="bg1">
                      <a:lumMod val="50000"/>
                    </a:schemeClr>
                  </a:solidFill>
                  <a:ea typeface="+mn-lt"/>
                  <a:cs typeface="+mn-lt"/>
                  <a:sym typeface="+mn-ea"/>
                </a:rPr>
                <a:t>用户选择决定今天进入哪类</a:t>
              </a:r>
              <a:r>
                <a:rPr lang="en-US" altLang="zh-CN" sz="1200" b="1">
                  <a:solidFill>
                    <a:schemeClr val="bg1">
                      <a:lumMod val="50000"/>
                    </a:schemeClr>
                  </a:solidFill>
                  <a:ea typeface="+mn-lt"/>
                  <a:cs typeface="+mn-lt"/>
                  <a:sym typeface="+mn-ea"/>
                </a:rPr>
                <a:t>Session</a:t>
              </a:r>
              <a:endParaRPr lang="en-US" altLang="zh-CN" sz="1200" b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  <a:sym typeface="+mn-ea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245860" y="2944495"/>
            <a:ext cx="2597150" cy="970280"/>
            <a:chOff x="5568" y="2383"/>
            <a:chExt cx="4090" cy="1528"/>
          </a:xfrm>
        </p:grpSpPr>
        <p:sp>
          <p:nvSpPr>
            <p:cNvPr id="24" name="矩形 23"/>
            <p:cNvSpPr/>
            <p:nvPr/>
          </p:nvSpPr>
          <p:spPr>
            <a:xfrm>
              <a:off x="5568" y="2383"/>
              <a:ext cx="4090" cy="1529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 w="6350">
              <a:solidFill>
                <a:schemeClr val="tx1"/>
              </a:solidFill>
            </a:ln>
          </p:spPr>
          <p:txBody>
            <a:bodyPr rtlCol="0" anchor="t">
              <a:noAutofit/>
            </a:bodyPr>
            <a:p>
              <a:pPr lvl="0" algn="l">
                <a:buClrTx/>
                <a:buSzTx/>
                <a:buFontTx/>
              </a:pPr>
              <a:endParaRPr lang="en-US" altLang="zh-CN">
                <a:latin typeface="Noto Serif CJK KR Black" panose="02020900000000000000" charset="-122"/>
                <a:ea typeface="Noto Serif CJK KR Black" panose="02020900000000000000" charset="-122"/>
                <a:sym typeface="+mn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600" y="2516"/>
              <a:ext cx="2594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 b="1">
                  <a:latin typeface="东文宋体" charset="0"/>
                  <a:ea typeface="东文宋体" charset="0"/>
                  <a:sym typeface="+mn-ea"/>
                </a:rPr>
                <a:t>②材料包生成</a:t>
              </a:r>
              <a:endParaRPr lang="en-US" altLang="zh-CN" sz="1600" b="1">
                <a:latin typeface="Noto Serif CJK KR Black" panose="02020900000000000000" charset="-122"/>
                <a:ea typeface="Noto Serif CJK KR Black" panose="02020900000000000000" charset="-122"/>
              </a:endParaRPr>
            </a:p>
            <a:p>
              <a:endParaRPr lang="en-US" altLang="zh-CN" sz="1600" b="1"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744" y="2970"/>
              <a:ext cx="3791" cy="9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生成</a:t>
              </a:r>
              <a:r>
                <a:rPr lang="en-US" altLang="zh-CN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payload</a:t>
              </a:r>
              <a:r>
                <a:rPr lang="zh-CN" altLang="en-US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、材料、推荐理由和完成标准</a:t>
              </a:r>
              <a:endParaRPr lang="zh-CN" altLang="en-US" sz="1200" b="1">
                <a:solidFill>
                  <a:schemeClr val="bg1">
                    <a:lumMod val="50000"/>
                  </a:schemeClr>
                </a:solidFill>
                <a:ea typeface="宋体" charset="0"/>
                <a:cs typeface="+mn-lt"/>
                <a:sym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9253855" y="2944495"/>
            <a:ext cx="2597150" cy="970280"/>
            <a:chOff x="5568" y="2383"/>
            <a:chExt cx="4090" cy="1528"/>
          </a:xfrm>
        </p:grpSpPr>
        <p:sp>
          <p:nvSpPr>
            <p:cNvPr id="29" name="矩形 28"/>
            <p:cNvSpPr/>
            <p:nvPr/>
          </p:nvSpPr>
          <p:spPr>
            <a:xfrm>
              <a:off x="5568" y="2383"/>
              <a:ext cx="4090" cy="1529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 w="6350">
              <a:solidFill>
                <a:schemeClr val="tx1"/>
              </a:solidFill>
            </a:ln>
          </p:spPr>
          <p:txBody>
            <a:bodyPr rtlCol="0" anchor="t">
              <a:noAutofit/>
            </a:bodyPr>
            <a:p>
              <a:pPr lvl="0" algn="l">
                <a:buClrTx/>
                <a:buSzTx/>
                <a:buFontTx/>
              </a:pPr>
              <a:endParaRPr lang="en-US" altLang="zh-CN">
                <a:latin typeface="Noto Serif CJK KR Black" panose="02020900000000000000" charset="-122"/>
                <a:ea typeface="Noto Serif CJK KR Black" panose="02020900000000000000" charset="-122"/>
                <a:sym typeface="+mn-ea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600" y="2516"/>
              <a:ext cx="2594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 b="1">
                  <a:latin typeface="东文宋体" charset="0"/>
                  <a:ea typeface="东文宋体" charset="0"/>
                  <a:sym typeface="+mn-ea"/>
                </a:rPr>
                <a:t>③任务执行</a:t>
              </a:r>
              <a:endParaRPr lang="en-US" altLang="zh-CN" sz="1600" b="1">
                <a:latin typeface="Noto Serif CJK KR Black" panose="02020900000000000000" charset="-122"/>
                <a:ea typeface="Noto Serif CJK KR Black" panose="02020900000000000000" charset="-122"/>
              </a:endParaRPr>
            </a:p>
            <a:p>
              <a:endParaRPr lang="en-US" altLang="zh-CN" sz="1600" b="1"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744" y="2970"/>
              <a:ext cx="3791" cy="9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进入工作区，完成一次定时执行任务</a:t>
              </a:r>
              <a:endParaRPr lang="en-US" altLang="zh-CN" sz="1200" b="1">
                <a:solidFill>
                  <a:schemeClr val="bg1">
                    <a:lumMod val="50000"/>
                  </a:schemeClr>
                </a:solidFill>
                <a:ea typeface="宋体" charset="0"/>
                <a:cs typeface="+mn-lt"/>
                <a:sym typeface="+mn-ea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9253855" y="4374515"/>
            <a:ext cx="2597150" cy="970280"/>
            <a:chOff x="5568" y="2383"/>
            <a:chExt cx="4090" cy="1528"/>
          </a:xfrm>
        </p:grpSpPr>
        <p:sp>
          <p:nvSpPr>
            <p:cNvPr id="35" name="矩形 34"/>
            <p:cNvSpPr/>
            <p:nvPr/>
          </p:nvSpPr>
          <p:spPr>
            <a:xfrm>
              <a:off x="5568" y="2383"/>
              <a:ext cx="4090" cy="1529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 w="6350">
              <a:solidFill>
                <a:schemeClr val="tx1"/>
              </a:solidFill>
            </a:ln>
          </p:spPr>
          <p:txBody>
            <a:bodyPr rtlCol="0" anchor="t">
              <a:noAutofit/>
            </a:bodyPr>
            <a:p>
              <a:pPr lvl="0" algn="l">
                <a:buClrTx/>
                <a:buSzTx/>
                <a:buFontTx/>
              </a:pPr>
              <a:endParaRPr lang="en-US" altLang="zh-CN">
                <a:latin typeface="Noto Serif CJK KR Black" panose="02020900000000000000" charset="-122"/>
                <a:ea typeface="Noto Serif CJK KR Black" panose="02020900000000000000" charset="-122"/>
                <a:sym typeface="+mn-ea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600" y="2516"/>
              <a:ext cx="2594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 b="1">
                  <a:latin typeface="东文宋体" charset="0"/>
                  <a:ea typeface="东文宋体" charset="0"/>
                  <a:sym typeface="+mn-ea"/>
                </a:rPr>
                <a:t>④打卡归档</a:t>
              </a:r>
              <a:endParaRPr lang="zh-CN" altLang="en-US" sz="1600" b="1">
                <a:latin typeface="东文宋体" charset="0"/>
                <a:ea typeface="东文宋体" charset="0"/>
              </a:endParaRPr>
            </a:p>
            <a:p>
              <a:endParaRPr lang="en-US" altLang="zh-CN" sz="1600" b="1"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744" y="2970"/>
              <a:ext cx="3791" cy="9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用户确认完成</a:t>
              </a:r>
              <a:r>
                <a:rPr lang="en-US" altLang="zh-CN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/</a:t>
              </a:r>
              <a:r>
                <a:rPr lang="zh-CN" altLang="en-US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部分完成，沉淀</a:t>
              </a:r>
              <a:r>
                <a:rPr lang="en-US" altLang="zh-CN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summary</a:t>
              </a:r>
              <a:r>
                <a:rPr lang="zh-CN" altLang="en-US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与</a:t>
              </a:r>
              <a:r>
                <a:rPr lang="en-US" altLang="zh-CN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next action</a:t>
              </a:r>
              <a:endParaRPr lang="en-US" altLang="zh-CN" sz="1200" b="1">
                <a:solidFill>
                  <a:schemeClr val="bg1">
                    <a:lumMod val="50000"/>
                  </a:schemeClr>
                </a:solidFill>
                <a:ea typeface="宋体" charset="0"/>
                <a:cs typeface="+mn-lt"/>
                <a:sym typeface="+mn-ea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6245860" y="4374515"/>
            <a:ext cx="2597150" cy="970915"/>
            <a:chOff x="5568" y="2383"/>
            <a:chExt cx="4090" cy="1529"/>
          </a:xfrm>
        </p:grpSpPr>
        <p:sp>
          <p:nvSpPr>
            <p:cNvPr id="40" name="矩形 39"/>
            <p:cNvSpPr/>
            <p:nvPr/>
          </p:nvSpPr>
          <p:spPr>
            <a:xfrm>
              <a:off x="5568" y="2383"/>
              <a:ext cx="4090" cy="1529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 w="6350">
              <a:solidFill>
                <a:schemeClr val="tx1"/>
              </a:solidFill>
            </a:ln>
          </p:spPr>
          <p:txBody>
            <a:bodyPr rtlCol="0" anchor="t">
              <a:noAutofit/>
            </a:bodyPr>
            <a:p>
              <a:pPr lvl="0" algn="l">
                <a:buClrTx/>
                <a:buSzTx/>
                <a:buFontTx/>
              </a:pPr>
              <a:endParaRPr lang="en-US" altLang="zh-CN">
                <a:latin typeface="Noto Serif CJK KR Black" panose="02020900000000000000" charset="-122"/>
                <a:ea typeface="Noto Serif CJK KR Black" panose="02020900000000000000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600" y="2500"/>
              <a:ext cx="2594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 b="1">
                  <a:latin typeface="东文宋体" charset="0"/>
                  <a:ea typeface="东文宋体" charset="0"/>
                  <a:sym typeface="+mn-ea"/>
                </a:rPr>
                <a:t>⑤Agent反馈</a:t>
              </a:r>
              <a:endParaRPr lang="zh-CN" altLang="en-US" sz="1600" b="1">
                <a:latin typeface="东文宋体" charset="0"/>
                <a:ea typeface="东文宋体" charset="0"/>
              </a:endParaRPr>
            </a:p>
            <a:p>
              <a:endParaRPr lang="en-US" altLang="zh-CN" sz="1600" b="1"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5744" y="2970"/>
              <a:ext cx="3791" cy="9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生成草稿、讨论材料、补齐洞察和下一步</a:t>
              </a:r>
              <a:endParaRPr lang="zh-CN" sz="1200" b="1">
                <a:solidFill>
                  <a:schemeClr val="bg1">
                    <a:lumMod val="50000"/>
                  </a:schemeClr>
                </a:solidFill>
                <a:ea typeface="宋体" charset="0"/>
                <a:cs typeface="+mn-lt"/>
                <a:sym typeface="+mn-ea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3271520" y="4374515"/>
            <a:ext cx="2597150" cy="970915"/>
            <a:chOff x="5568" y="2383"/>
            <a:chExt cx="4090" cy="1529"/>
          </a:xfrm>
        </p:grpSpPr>
        <p:sp>
          <p:nvSpPr>
            <p:cNvPr id="45" name="矩形 44"/>
            <p:cNvSpPr/>
            <p:nvPr/>
          </p:nvSpPr>
          <p:spPr>
            <a:xfrm>
              <a:off x="5568" y="2383"/>
              <a:ext cx="4090" cy="1529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 w="6350">
              <a:solidFill>
                <a:schemeClr val="tx1"/>
              </a:solidFill>
            </a:ln>
          </p:spPr>
          <p:txBody>
            <a:bodyPr rtlCol="0" anchor="t">
              <a:noAutofit/>
            </a:bodyPr>
            <a:p>
              <a:pPr lvl="0" algn="l">
                <a:buClrTx/>
                <a:buSzTx/>
                <a:buFontTx/>
              </a:pPr>
              <a:endParaRPr lang="en-US" altLang="zh-CN">
                <a:latin typeface="Noto Serif CJK KR Black" panose="02020900000000000000" charset="-122"/>
                <a:ea typeface="Noto Serif CJK KR Black" panose="02020900000000000000" charset="-122"/>
                <a:sym typeface="+mn-ea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5600" y="2500"/>
              <a:ext cx="2594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 b="1">
                  <a:latin typeface="东文宋体" charset="0"/>
                  <a:ea typeface="东文宋体" charset="0"/>
                  <a:sym typeface="+mn-ea"/>
                </a:rPr>
                <a:t>⑥复盘沉淀</a:t>
              </a:r>
              <a:endParaRPr lang="zh-CN" altLang="en-US" sz="1600" b="1">
                <a:latin typeface="东文宋体" charset="0"/>
                <a:ea typeface="东文宋体" charset="0"/>
              </a:endParaRPr>
            </a:p>
            <a:p>
              <a:endParaRPr lang="en-US" altLang="zh-CN" sz="1600" b="1"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5744" y="2970"/>
              <a:ext cx="3791" cy="9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写入</a:t>
              </a:r>
              <a:r>
                <a:rPr lang="en-US" altLang="zh-CN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History</a:t>
              </a:r>
              <a:r>
                <a:rPr lang="zh-CN" altLang="en-US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，归档，反哺下个周期选择</a:t>
              </a:r>
              <a:endParaRPr lang="zh-CN" altLang="en-US" sz="1200" b="1">
                <a:solidFill>
                  <a:schemeClr val="bg1">
                    <a:lumMod val="50000"/>
                  </a:schemeClr>
                </a:solidFill>
                <a:ea typeface="宋体" charset="0"/>
                <a:cs typeface="+mn-lt"/>
                <a:sym typeface="+mn-ea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390525" y="1368425"/>
            <a:ext cx="2524125" cy="2100580"/>
            <a:chOff x="604" y="2279"/>
            <a:chExt cx="3975" cy="3308"/>
          </a:xfrm>
        </p:grpSpPr>
        <p:sp>
          <p:nvSpPr>
            <p:cNvPr id="48" name="Freeform 9"/>
            <p:cNvSpPr/>
            <p:nvPr/>
          </p:nvSpPr>
          <p:spPr>
            <a:xfrm>
              <a:off x="604" y="2279"/>
              <a:ext cx="3947" cy="3309"/>
            </a:xfrm>
            <a:custGeom>
              <a:avLst/>
              <a:gdLst/>
              <a:ahLst/>
              <a:cxnLst/>
              <a:rect l="l" t="t" r="r" b="b"/>
              <a:pathLst>
                <a:path w="4052466" h="4546106">
                  <a:moveTo>
                    <a:pt x="3928006" y="4546106"/>
                  </a:moveTo>
                  <a:lnTo>
                    <a:pt x="124460" y="4546106"/>
                  </a:lnTo>
                  <a:cubicBezTo>
                    <a:pt x="55880" y="4546106"/>
                    <a:pt x="0" y="4490226"/>
                    <a:pt x="0" y="442164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28006" y="0"/>
                  </a:lnTo>
                  <a:cubicBezTo>
                    <a:pt x="3996586" y="0"/>
                    <a:pt x="4052466" y="55880"/>
                    <a:pt x="4052466" y="124460"/>
                  </a:cubicBezTo>
                  <a:lnTo>
                    <a:pt x="4052466" y="4421646"/>
                  </a:lnTo>
                  <a:cubicBezTo>
                    <a:pt x="4052466" y="4490226"/>
                    <a:pt x="3996586" y="4546106"/>
                    <a:pt x="3928006" y="4546106"/>
                  </a:cubicBezTo>
                  <a:close/>
                </a:path>
              </a:pathLst>
            </a:custGeom>
            <a:solidFill>
              <a:srgbClr val="FFD1E0">
                <a:alpha val="30000"/>
              </a:srgbClr>
            </a:solidFill>
          </p:spPr>
        </p:sp>
        <p:sp>
          <p:nvSpPr>
            <p:cNvPr id="49" name="文本框 48"/>
            <p:cNvSpPr txBox="1"/>
            <p:nvPr/>
          </p:nvSpPr>
          <p:spPr>
            <a:xfrm>
              <a:off x="694" y="2527"/>
              <a:ext cx="3326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sz="1400">
                  <a:latin typeface="Noto Serif CJK KR Black" panose="02020900000000000000" charset="-122"/>
                  <a:ea typeface="Noto Serif CJK KR Black" panose="02020900000000000000" charset="-122"/>
                  <a:sym typeface="+mn-ea"/>
                </a:rPr>
                <a:t>用户目标与计划上下文</a:t>
              </a:r>
              <a:r>
                <a:rPr lang="en-US" altLang="zh-CN" sz="1400">
                  <a:latin typeface="Noto Serif CJK KR Black" panose="02020900000000000000" charset="-122"/>
                  <a:ea typeface="Noto Serif CJK KR Black" panose="02020900000000000000" charset="-122"/>
                  <a:sym typeface="+mn-ea"/>
                </a:rPr>
                <a:t> </a:t>
              </a:r>
              <a:endParaRPr lang="en-US" altLang="zh-CN" sz="1400">
                <a:latin typeface="Noto Serif CJK KR Black" panose="02020900000000000000" charset="-122"/>
                <a:ea typeface="Noto Serif CJK KR Black" panose="02020900000000000000" charset="-122"/>
                <a:sym typeface="+mn-ea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694" y="3141"/>
              <a:ext cx="3592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sz="1200">
                  <a:ea typeface="+mn-lt"/>
                  <a:cs typeface="+mn-lt"/>
                  <a:sym typeface="+mn-ea"/>
                </a:rPr>
                <a:t>长期目标：职业</a:t>
              </a:r>
              <a:r>
                <a:rPr lang="en-US" altLang="zh-CN" sz="1200">
                  <a:ea typeface="+mn-lt"/>
                  <a:cs typeface="+mn-lt"/>
                  <a:sym typeface="+mn-ea"/>
                </a:rPr>
                <a:t>/</a:t>
              </a:r>
              <a:r>
                <a:rPr lang="zh-CN" altLang="en-US" sz="1200">
                  <a:ea typeface="+mn-lt"/>
                  <a:cs typeface="+mn-lt"/>
                  <a:sym typeface="+mn-ea"/>
                </a:rPr>
                <a:t>研究</a:t>
              </a:r>
              <a:r>
                <a:rPr lang="en-US" altLang="zh-CN" sz="1200">
                  <a:ea typeface="+mn-lt"/>
                  <a:cs typeface="+mn-lt"/>
                  <a:sym typeface="+mn-ea"/>
                </a:rPr>
                <a:t>/</a:t>
              </a:r>
              <a:r>
                <a:rPr lang="zh-CN" altLang="en-US" sz="1200">
                  <a:ea typeface="+mn-lt"/>
                  <a:cs typeface="+mn-lt"/>
                  <a:sym typeface="+mn-ea"/>
                </a:rPr>
                <a:t>创作方向</a:t>
              </a:r>
              <a:endParaRPr lang="zh-CN" altLang="en-US" sz="1200">
                <a:ea typeface="+mn-lt"/>
                <a:cs typeface="+mn-lt"/>
                <a:sym typeface="+mn-ea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694" y="3623"/>
              <a:ext cx="3856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sz="1200">
                  <a:ea typeface="+mn-lt"/>
                  <a:cs typeface="+mn-lt"/>
                  <a:sym typeface="+mn-ea"/>
                </a:rPr>
                <a:t>短期计划：本周重点</a:t>
              </a:r>
              <a:r>
                <a:rPr lang="en-US" altLang="zh-CN" sz="1200">
                  <a:ea typeface="+mn-lt"/>
                  <a:cs typeface="+mn-lt"/>
                  <a:sym typeface="+mn-ea"/>
                </a:rPr>
                <a:t>/</a:t>
              </a:r>
              <a:r>
                <a:rPr lang="zh-CN" sz="1200">
                  <a:ea typeface="+mn-lt"/>
                  <a:cs typeface="+mn-lt"/>
                  <a:sym typeface="+mn-ea"/>
                </a:rPr>
                <a:t>下一步任务</a:t>
              </a:r>
              <a:endParaRPr lang="zh-CN" altLang="en-US" sz="1200">
                <a:ea typeface="+mn-lt"/>
                <a:cs typeface="+mn-lt"/>
                <a:sym typeface="+mn-ea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86" y="4039"/>
              <a:ext cx="3856" cy="91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fontAlgn="auto">
                <a:lnSpc>
                  <a:spcPct val="130000"/>
                </a:lnSpc>
              </a:pPr>
              <a:r>
                <a:rPr lang="zh-CN" sz="1200">
                  <a:ea typeface="+mn-lt"/>
                  <a:cs typeface="+mn-lt"/>
                  <a:sym typeface="+mn-ea"/>
                </a:rPr>
                <a:t>偏好约束：时间预算</a:t>
              </a:r>
              <a:r>
                <a:rPr lang="en-US" altLang="zh-CN" sz="1200">
                  <a:ea typeface="+mn-lt"/>
                  <a:cs typeface="+mn-lt"/>
                  <a:sym typeface="+mn-ea"/>
                </a:rPr>
                <a:t>/</a:t>
              </a:r>
              <a:r>
                <a:rPr lang="zh-CN" altLang="en-US" sz="1200">
                  <a:ea typeface="宋体" charset="0"/>
                  <a:cs typeface="+mn-lt"/>
                  <a:sym typeface="+mn-ea"/>
                </a:rPr>
                <a:t>材料类型</a:t>
              </a:r>
              <a:r>
                <a:rPr lang="en-US" altLang="zh-CN" sz="1200">
                  <a:ea typeface="宋体" charset="0"/>
                  <a:cs typeface="+mn-lt"/>
                  <a:sym typeface="+mn-ea"/>
                </a:rPr>
                <a:t>/</a:t>
              </a:r>
              <a:r>
                <a:rPr lang="zh-CN" altLang="en-US" sz="1200">
                  <a:ea typeface="宋体" charset="0"/>
                  <a:cs typeface="+mn-lt"/>
                  <a:sym typeface="+mn-ea"/>
                </a:rPr>
                <a:t>能力画像</a:t>
              </a:r>
              <a:endParaRPr lang="en-US" altLang="zh-CN" sz="1200">
                <a:ea typeface="宋体" charset="0"/>
                <a:cs typeface="+mn-lt"/>
                <a:sym typeface="+mn-ea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23" y="4908"/>
              <a:ext cx="3856" cy="65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fontAlgn="auto">
                <a:lnSpc>
                  <a:spcPct val="130000"/>
                </a:lnSpc>
              </a:pPr>
              <a:r>
                <a:rPr lang="en-US" altLang="zh-CN" sz="1200">
                  <a:ea typeface="宋体" charset="0"/>
                  <a:cs typeface="+mn-lt"/>
                  <a:sym typeface="+mn-ea"/>
                </a:rPr>
                <a:t>UserContext/Plan/Skill Profile</a:t>
              </a:r>
              <a:endParaRPr lang="en-US" altLang="zh-CN" sz="1200">
                <a:ea typeface="宋体" charset="0"/>
                <a:cs typeface="+mn-lt"/>
                <a:sym typeface="+mn-ea"/>
              </a:endParaRPr>
            </a:p>
          </p:txBody>
        </p:sp>
      </p:grpSp>
      <p:sp>
        <p:nvSpPr>
          <p:cNvPr id="54" name="矩形 53"/>
          <p:cNvSpPr/>
          <p:nvPr/>
        </p:nvSpPr>
        <p:spPr>
          <a:xfrm>
            <a:off x="379730" y="3717925"/>
            <a:ext cx="2515235" cy="359410"/>
          </a:xfrm>
          <a:prstGeom prst="rect">
            <a:avLst/>
          </a:prstGeom>
          <a:solidFill>
            <a:schemeClr val="bg1">
              <a:alpha val="30000"/>
            </a:schemeClr>
          </a:solidFill>
          <a:ln w="6350">
            <a:solidFill>
              <a:schemeClr val="accent2"/>
            </a:solidFill>
          </a:ln>
        </p:spPr>
        <p:txBody>
          <a:bodyPr rtlCol="0" anchor="ctr" anchorCtr="0">
            <a:noAutofit/>
          </a:bodyPr>
          <a:p>
            <a:pPr lvl="0" algn="ctr" fontAlgn="ctr">
              <a:buClrTx/>
              <a:buSzTx/>
              <a:buFontTx/>
            </a:pPr>
            <a:r>
              <a:rPr lang="en-US" altLang="zh-CN" sz="1200">
                <a:solidFill>
                  <a:schemeClr val="accent2">
                    <a:lumMod val="50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sym typeface="+mn-ea"/>
              </a:rPr>
              <a:t>Scheduled Mode</a:t>
            </a:r>
            <a:r>
              <a:rPr lang="zh-CN" altLang="en-US" sz="1200">
                <a:solidFill>
                  <a:schemeClr val="accent2">
                    <a:lumMod val="50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sym typeface="+mn-ea"/>
              </a:rPr>
              <a:t>：周期触发</a:t>
            </a:r>
            <a:endParaRPr lang="zh-CN" altLang="en-US" sz="1200">
              <a:solidFill>
                <a:schemeClr val="accent2">
                  <a:lumMod val="50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sym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79095" y="4161155"/>
            <a:ext cx="2515235" cy="359410"/>
          </a:xfrm>
          <a:prstGeom prst="rect">
            <a:avLst/>
          </a:prstGeom>
          <a:solidFill>
            <a:schemeClr val="bg1">
              <a:alpha val="30000"/>
            </a:schemeClr>
          </a:solidFill>
          <a:ln w="6350">
            <a:solidFill>
              <a:schemeClr val="accent2"/>
            </a:solidFill>
          </a:ln>
        </p:spPr>
        <p:txBody>
          <a:bodyPr rtlCol="0" anchor="ctr" anchorCtr="0">
            <a:noAutofit/>
          </a:bodyPr>
          <a:p>
            <a:pPr lvl="0" algn="ctr" fontAlgn="ctr">
              <a:buClrTx/>
              <a:buSzTx/>
              <a:buFontTx/>
            </a:pPr>
            <a:r>
              <a:rPr lang="en-US" altLang="zh-CN" sz="1200">
                <a:solidFill>
                  <a:schemeClr val="accent2">
                    <a:lumMod val="50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sym typeface="+mn-ea"/>
              </a:rPr>
              <a:t>Manual Mode</a:t>
            </a:r>
            <a:r>
              <a:rPr lang="zh-CN" altLang="en-US" sz="1200">
                <a:solidFill>
                  <a:schemeClr val="accent2">
                    <a:lumMod val="50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sym typeface="+mn-ea"/>
              </a:rPr>
              <a:t>：用户手动设置</a:t>
            </a:r>
            <a:endParaRPr lang="zh-CN" altLang="en-US" sz="1200">
              <a:solidFill>
                <a:schemeClr val="accent2">
                  <a:lumMod val="50000"/>
                </a:schemeClr>
              </a:solidFill>
              <a:latin typeface="Noto Serif CJK KR Black" panose="02020900000000000000" charset="-122"/>
              <a:ea typeface="Noto Serif CJK KR Black" panose="02020900000000000000" charset="-122"/>
              <a:sym typeface="+mn-ea"/>
            </a:endParaRPr>
          </a:p>
        </p:txBody>
      </p:sp>
      <p:cxnSp>
        <p:nvCxnSpPr>
          <p:cNvPr id="59" name="曲线连接符 58"/>
          <p:cNvCxnSpPr>
            <a:endCxn id="24" idx="1"/>
          </p:cNvCxnSpPr>
          <p:nvPr/>
        </p:nvCxnSpPr>
        <p:spPr>
          <a:xfrm flipV="1">
            <a:off x="5879465" y="3430270"/>
            <a:ext cx="366395" cy="19685"/>
          </a:xfrm>
          <a:prstGeom prst="curvedConnector3">
            <a:avLst>
              <a:gd name="adj1" fmla="val 50087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曲线连接符 59"/>
          <p:cNvCxnSpPr>
            <a:stCxn id="24" idx="3"/>
          </p:cNvCxnSpPr>
          <p:nvPr/>
        </p:nvCxnSpPr>
        <p:spPr>
          <a:xfrm flipV="1">
            <a:off x="8843010" y="3343910"/>
            <a:ext cx="414020" cy="86360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曲线连接符 60"/>
          <p:cNvCxnSpPr>
            <a:endCxn id="35" idx="0"/>
          </p:cNvCxnSpPr>
          <p:nvPr/>
        </p:nvCxnSpPr>
        <p:spPr>
          <a:xfrm rot="5400000">
            <a:off x="10466705" y="3999865"/>
            <a:ext cx="460375" cy="288290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曲线连接符 61"/>
          <p:cNvCxnSpPr>
            <a:stCxn id="35" idx="1"/>
          </p:cNvCxnSpPr>
          <p:nvPr/>
        </p:nvCxnSpPr>
        <p:spPr>
          <a:xfrm rot="10800000" flipV="1">
            <a:off x="8844915" y="4859655"/>
            <a:ext cx="408305" cy="161925"/>
          </a:xfrm>
          <a:prstGeom prst="curvedConnector3">
            <a:avLst>
              <a:gd name="adj1" fmla="val 49922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曲线连接符 62"/>
          <p:cNvCxnSpPr>
            <a:stCxn id="40" idx="1"/>
            <a:endCxn id="45" idx="3"/>
          </p:cNvCxnSpPr>
          <p:nvPr/>
        </p:nvCxnSpPr>
        <p:spPr>
          <a:xfrm rot="10800000" flipV="1">
            <a:off x="5868670" y="4860290"/>
            <a:ext cx="377190" cy="3175"/>
          </a:xfrm>
          <a:prstGeom prst="curved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曲线连接符 63"/>
          <p:cNvCxnSpPr>
            <a:stCxn id="54" idx="3"/>
            <a:endCxn id="18" idx="1"/>
          </p:cNvCxnSpPr>
          <p:nvPr/>
        </p:nvCxnSpPr>
        <p:spPr>
          <a:xfrm flipV="1">
            <a:off x="2894965" y="3182620"/>
            <a:ext cx="396875" cy="715010"/>
          </a:xfrm>
          <a:prstGeom prst="curvedConnector3">
            <a:avLst>
              <a:gd name="adj1" fmla="val 5008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曲线连接符 64"/>
          <p:cNvCxnSpPr>
            <a:stCxn id="57" idx="3"/>
            <a:endCxn id="20" idx="1"/>
          </p:cNvCxnSpPr>
          <p:nvPr/>
        </p:nvCxnSpPr>
        <p:spPr>
          <a:xfrm flipV="1">
            <a:off x="2894330" y="3429635"/>
            <a:ext cx="377190" cy="911225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曲线连接符 65"/>
          <p:cNvCxnSpPr/>
          <p:nvPr/>
        </p:nvCxnSpPr>
        <p:spPr>
          <a:xfrm rot="16200000" flipV="1">
            <a:off x="3448050" y="3253105"/>
            <a:ext cx="944880" cy="1298575"/>
          </a:xfrm>
          <a:prstGeom prst="curvedConnector4">
            <a:avLst>
              <a:gd name="adj1" fmla="val 15423"/>
              <a:gd name="adj2" fmla="val 106968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曲线连接符 75"/>
          <p:cNvCxnSpPr>
            <a:stCxn id="51" idx="3"/>
            <a:endCxn id="24" idx="0"/>
          </p:cNvCxnSpPr>
          <p:nvPr/>
        </p:nvCxnSpPr>
        <p:spPr>
          <a:xfrm>
            <a:off x="2896235" y="2376170"/>
            <a:ext cx="4648200" cy="568325"/>
          </a:xfrm>
          <a:prstGeom prst="curvedConnector2">
            <a:avLst/>
          </a:prstGeom>
          <a:ln>
            <a:solidFill>
              <a:schemeClr val="accent6"/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Shape 4"/>
          <p:cNvSpPr/>
          <p:nvPr/>
        </p:nvSpPr>
        <p:spPr>
          <a:xfrm>
            <a:off x="3291840" y="1597025"/>
            <a:ext cx="1647190" cy="308610"/>
          </a:xfrm>
          <a:prstGeom prst="roundRect">
            <a:avLst>
              <a:gd name="adj" fmla="val 14118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</p:spPr>
        <p:txBody>
          <a:bodyPr anchor="ctr" anchorCtr="0"/>
          <a:p>
            <a:pPr algn="ctr"/>
            <a:r>
              <a:rPr lang="en-US" altLang="zh-CN" sz="1200">
                <a:latin typeface="Noto Serif CJK KR Black" panose="02020900000000000000" charset="-122"/>
                <a:ea typeface="Noto Serif CJK KR Black" panose="02020900000000000000" charset="-122"/>
              </a:rPr>
              <a:t>Signal Radar</a:t>
            </a:r>
            <a:endParaRPr lang="en-US" altLang="zh-CN" sz="1200">
              <a:latin typeface="Noto Serif CJK KR Black" panose="02020900000000000000" charset="-122"/>
              <a:ea typeface="Noto Serif CJK KR Black" panose="02020900000000000000" charset="-122"/>
            </a:endParaRPr>
          </a:p>
        </p:txBody>
      </p:sp>
      <p:sp>
        <p:nvSpPr>
          <p:cNvPr id="78" name="Shape 4"/>
          <p:cNvSpPr/>
          <p:nvPr/>
        </p:nvSpPr>
        <p:spPr>
          <a:xfrm>
            <a:off x="5303520" y="1597025"/>
            <a:ext cx="1507490" cy="308610"/>
          </a:xfrm>
          <a:prstGeom prst="roundRect">
            <a:avLst>
              <a:gd name="adj" fmla="val 14118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</p:spPr>
        <p:txBody>
          <a:bodyPr anchor="ctr" anchorCtr="0"/>
          <a:p>
            <a:pPr algn="ctr"/>
            <a:r>
              <a:rPr lang="en-US" altLang="zh-CN" sz="1200">
                <a:latin typeface="Noto Serif CJK KR Black" panose="02020900000000000000" charset="-122"/>
                <a:ea typeface="Noto Serif CJK KR Black" panose="02020900000000000000" charset="-122"/>
              </a:rPr>
              <a:t>Deep Dive</a:t>
            </a:r>
            <a:endParaRPr lang="en-US" altLang="zh-CN" sz="1200">
              <a:latin typeface="Noto Serif CJK KR Black" panose="02020900000000000000" charset="-122"/>
              <a:ea typeface="Noto Serif CJK KR Black" panose="02020900000000000000" charset="-122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7164705" y="1597025"/>
            <a:ext cx="2456815" cy="308610"/>
          </a:xfrm>
          <a:prstGeom prst="roundRect">
            <a:avLst>
              <a:gd name="adj" fmla="val 14118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</p:spPr>
        <p:txBody>
          <a:bodyPr anchor="ctr" anchorCtr="0"/>
          <a:p>
            <a:pPr algn="ctr"/>
            <a:r>
              <a:rPr lang="en-US" altLang="zh-CN" sz="1200">
                <a:latin typeface="Noto Serif CJK KR Black" panose="02020900000000000000" charset="-122"/>
                <a:ea typeface="Noto Serif CJK KR Black" panose="02020900000000000000" charset="-122"/>
              </a:rPr>
              <a:t>Opportunity Alignment</a:t>
            </a:r>
            <a:endParaRPr lang="en-US" altLang="zh-CN" sz="1200">
              <a:latin typeface="Noto Serif CJK KR Black" panose="02020900000000000000" charset="-122"/>
              <a:ea typeface="Noto Serif CJK KR Black" panose="02020900000000000000" charset="-122"/>
            </a:endParaRPr>
          </a:p>
        </p:txBody>
      </p:sp>
      <p:sp>
        <p:nvSpPr>
          <p:cNvPr id="80" name="Shape 4"/>
          <p:cNvSpPr/>
          <p:nvPr/>
        </p:nvSpPr>
        <p:spPr>
          <a:xfrm>
            <a:off x="9943465" y="1597025"/>
            <a:ext cx="1507490" cy="308610"/>
          </a:xfrm>
          <a:prstGeom prst="roundRect">
            <a:avLst>
              <a:gd name="adj" fmla="val 14118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</p:spPr>
        <p:txBody>
          <a:bodyPr anchor="ctr" anchorCtr="0"/>
          <a:p>
            <a:pPr algn="ctr"/>
            <a:r>
              <a:rPr lang="en-US" altLang="zh-CN" sz="1200">
                <a:latin typeface="Noto Serif CJK KR Black" panose="02020900000000000000" charset="-122"/>
                <a:ea typeface="Noto Serif CJK KR Black" panose="02020900000000000000" charset="-122"/>
              </a:rPr>
              <a:t>Weekly Studio</a:t>
            </a:r>
            <a:endParaRPr lang="en-US" altLang="zh-CN" sz="1200">
              <a:latin typeface="Noto Serif CJK KR Black" panose="02020900000000000000" charset="-122"/>
              <a:ea typeface="Noto Serif CJK KR Black" panose="02020900000000000000" charset="-122"/>
            </a:endParaRPr>
          </a:p>
        </p:txBody>
      </p:sp>
      <p:cxnSp>
        <p:nvCxnSpPr>
          <p:cNvPr id="81" name="曲线连接符 80"/>
          <p:cNvCxnSpPr>
            <a:stCxn id="77" idx="3"/>
            <a:endCxn id="78" idx="1"/>
          </p:cNvCxnSpPr>
          <p:nvPr/>
        </p:nvCxnSpPr>
        <p:spPr>
          <a:xfrm>
            <a:off x="4939030" y="1751330"/>
            <a:ext cx="364490" cy="3175"/>
          </a:xfrm>
          <a:prstGeom prst="curvedConnector2">
            <a:avLst/>
          </a:prstGeom>
          <a:ln>
            <a:solidFill>
              <a:srgbClr val="99B0E4"/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曲线连接符 81"/>
          <p:cNvCxnSpPr>
            <a:stCxn id="78" idx="3"/>
            <a:endCxn id="79" idx="1"/>
          </p:cNvCxnSpPr>
          <p:nvPr/>
        </p:nvCxnSpPr>
        <p:spPr>
          <a:xfrm>
            <a:off x="6811010" y="1751330"/>
            <a:ext cx="353695" cy="3175"/>
          </a:xfrm>
          <a:prstGeom prst="curvedConnector2">
            <a:avLst/>
          </a:prstGeom>
          <a:ln>
            <a:solidFill>
              <a:srgbClr val="99B0E4"/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曲线连接符 82"/>
          <p:cNvCxnSpPr>
            <a:stCxn id="79" idx="3"/>
            <a:endCxn id="80" idx="1"/>
          </p:cNvCxnSpPr>
          <p:nvPr/>
        </p:nvCxnSpPr>
        <p:spPr>
          <a:xfrm>
            <a:off x="9621520" y="1751330"/>
            <a:ext cx="321945" cy="3175"/>
          </a:xfrm>
          <a:prstGeom prst="curvedConnector2">
            <a:avLst/>
          </a:prstGeom>
          <a:ln>
            <a:solidFill>
              <a:srgbClr val="99B0E4"/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曲线连接符 83"/>
          <p:cNvCxnSpPr>
            <a:stCxn id="80" idx="0"/>
            <a:endCxn id="77" idx="0"/>
          </p:cNvCxnSpPr>
          <p:nvPr/>
        </p:nvCxnSpPr>
        <p:spPr>
          <a:xfrm rot="16200000" flipH="1" flipV="1">
            <a:off x="7406005" y="-1693545"/>
            <a:ext cx="3175" cy="6581775"/>
          </a:xfrm>
          <a:prstGeom prst="curvedConnector3">
            <a:avLst>
              <a:gd name="adj1" fmla="val -4800000"/>
            </a:avLst>
          </a:prstGeom>
          <a:ln>
            <a:solidFill>
              <a:srgbClr val="99B0E4"/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" name="Text 1"/>
          <p:cNvSpPr/>
          <p:nvPr/>
        </p:nvSpPr>
        <p:spPr>
          <a:xfrm>
            <a:off x="508000" y="211455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zh-CN" altLang="en-US" sz="2800" b="1" dirty="0">
                <a:solidFill>
                  <a:srgbClr val="111428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mbria" pitchFamily="34" charset="-120"/>
              </a:rPr>
              <a:t>两层结构设计，六步完整闭环</a:t>
            </a:r>
            <a:endParaRPr lang="zh-CN" altLang="en-US" sz="2800" b="1" dirty="0">
              <a:solidFill>
                <a:srgbClr val="111428"/>
              </a:solidFill>
              <a:latin typeface="Noto Serif CJK KR Black" panose="02020900000000000000" charset="-122"/>
              <a:ea typeface="Noto Serif CJK KR Black" panose="02020900000000000000" charset="-122"/>
              <a:cs typeface="Cambria" pitchFamily="34" charset="-120"/>
            </a:endParaRPr>
          </a:p>
        </p:txBody>
      </p:sp>
      <p:sp>
        <p:nvSpPr>
          <p:cNvPr id="56" name="Text 2"/>
          <p:cNvSpPr/>
          <p:nvPr/>
        </p:nvSpPr>
        <p:spPr>
          <a:xfrm>
            <a:off x="508000" y="734695"/>
            <a:ext cx="4534535" cy="45720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zh-CN" altLang="en-US" sz="1400" dirty="0">
                <a:solidFill>
                  <a:srgbClr val="6B7394"/>
                </a:solidFill>
                <a:latin typeface="Noto Serif CJK KR Black" panose="02020900000000000000" charset="-122"/>
                <a:ea typeface="Noto Serif CJK KR Black" panose="02020900000000000000" charset="-122"/>
                <a:cs typeface="Calibri" pitchFamily="34" charset="-120"/>
              </a:rPr>
              <a:t>四类会话按用户配置的周期，依次进入任务闭环</a:t>
            </a:r>
            <a:endParaRPr lang="zh-CN" altLang="en-US" sz="1400" dirty="0">
              <a:solidFill>
                <a:srgbClr val="6B7394"/>
              </a:solidFill>
              <a:latin typeface="Noto Serif CJK KR Black" panose="02020900000000000000" charset="-122"/>
              <a:ea typeface="Noto Serif CJK KR Black" panose="02020900000000000000" charset="-122"/>
              <a:cs typeface="Calibri" pitchFamily="34" charset="-120"/>
            </a:endParaRPr>
          </a:p>
        </p:txBody>
      </p:sp>
      <p:pic>
        <p:nvPicPr>
          <p:cNvPr id="8" name="Picture 3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508000" y="6214110"/>
            <a:ext cx="10821035" cy="18415"/>
          </a:xfrm>
          <a:prstGeom prst="rect">
            <a:avLst/>
          </a:prstGeom>
        </p:spPr>
      </p:pic>
      <p:pic>
        <p:nvPicPr>
          <p:cNvPr id="9" name="Picture 4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508000" y="6532245"/>
            <a:ext cx="10821035" cy="18415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834515" y="6369685"/>
            <a:ext cx="309245" cy="15875"/>
          </a:xfrm>
          <a:prstGeom prst="rect">
            <a:avLst/>
          </a:prstGeom>
        </p:spPr>
      </p:pic>
      <p:pic>
        <p:nvPicPr>
          <p:cNvPr id="11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5337810" y="6369685"/>
            <a:ext cx="309245" cy="15875"/>
          </a:xfrm>
          <a:prstGeom prst="rect">
            <a:avLst/>
          </a:prstGeom>
        </p:spPr>
      </p:pic>
      <p:pic>
        <p:nvPicPr>
          <p:cNvPr id="12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0401935" y="6369685"/>
            <a:ext cx="309245" cy="1587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11113770" y="6296025"/>
            <a:ext cx="215265" cy="208915"/>
          </a:xfrm>
          <a:prstGeom prst="rect">
            <a:avLst/>
          </a:prstGeom>
        </p:spPr>
        <p:txBody>
          <a:bodyPr lIns="0" tIns="0" rIns="0" bIns="0" rtlCol="0" anchor="ctr" anchorCtr="0"/>
          <a:p>
            <a:pPr lvl="0" indent="0" algn="ctr" fontAlgn="base">
              <a:lnSpc>
                <a:spcPct val="11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Anek Tamil Expanded SemiBold"/>
              </a:rPr>
              <a:t>04</a:t>
            </a:r>
            <a:endParaRPr lang="en-US" sz="1000" b="0" i="0" u="none" strike="noStrike">
              <a:solidFill>
                <a:srgbClr val="000000"/>
              </a:solidFill>
              <a:latin typeface="Anek Tamil Expanded SemiBold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519420" y="6259830"/>
            <a:ext cx="4578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 </a:t>
            </a:r>
            <a:r>
              <a:rPr lang="zh-CN" altLang="en-US" sz="1000" b="1"/>
              <a:t>无界应用</a:t>
            </a:r>
            <a:r>
              <a:rPr lang="en-US" altLang="zh-CN" sz="1000" b="1"/>
              <a:t>Boundless Agents |</a:t>
            </a:r>
            <a:r>
              <a:rPr lang="en-US" altLang="zh-CN" sz="1000"/>
              <a:t> AI + Education</a:t>
            </a:r>
            <a:endParaRPr lang="en-US" altLang="zh-CN" sz="100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997075" y="6256020"/>
            <a:ext cx="21818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 b="1">
                <a:sym typeface="+mn-ea"/>
              </a:rPr>
              <a:t>Orbit Engine | </a:t>
            </a:r>
            <a:r>
              <a:rPr lang="zh-CN" altLang="en-US" sz="1000" b="1">
                <a:sym typeface="+mn-ea"/>
              </a:rPr>
              <a:t>圆周引擎</a:t>
            </a:r>
            <a:endParaRPr lang="zh-CN" altLang="en-US" sz="1000" b="1">
              <a:sym typeface="+mn-ea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508000" y="6259830"/>
            <a:ext cx="140208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000" b="1">
                <a:sym typeface="+mn-ea"/>
              </a:rPr>
              <a:t>03 Solution</a:t>
            </a:r>
            <a:endParaRPr lang="en-US" sz="1000" b="1"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85140" y="1167765"/>
            <a:ext cx="11284585" cy="54000"/>
          </a:xfrm>
          <a:prstGeom prst="rect">
            <a:avLst/>
          </a:prstGeom>
          <a:gradFill>
            <a:gsLst>
              <a:gs pos="0">
                <a:srgbClr val="FC9686"/>
              </a:gs>
              <a:gs pos="63000">
                <a:srgbClr val="8DB7FF"/>
              </a:gs>
              <a:gs pos="32000">
                <a:srgbClr val="99B0E4"/>
              </a:gs>
              <a:gs pos="100000">
                <a:srgbClr val="C2B5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3271520" y="2943860"/>
            <a:ext cx="2597150" cy="970280"/>
            <a:chOff x="5568" y="2383"/>
            <a:chExt cx="4090" cy="1528"/>
          </a:xfrm>
        </p:grpSpPr>
        <p:sp>
          <p:nvSpPr>
            <p:cNvPr id="20" name="矩形 19"/>
            <p:cNvSpPr/>
            <p:nvPr/>
          </p:nvSpPr>
          <p:spPr>
            <a:xfrm>
              <a:off x="5568" y="2383"/>
              <a:ext cx="4090" cy="1529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 w="6350">
              <a:solidFill>
                <a:schemeClr val="tx1"/>
              </a:solidFill>
            </a:ln>
          </p:spPr>
          <p:txBody>
            <a:bodyPr rtlCol="0" anchor="t">
              <a:noAutofit/>
            </a:bodyPr>
            <a:p>
              <a:pPr lvl="0" algn="l">
                <a:buClrTx/>
                <a:buSzTx/>
                <a:buFontTx/>
              </a:pPr>
              <a:endParaRPr lang="en-US" altLang="zh-CN">
                <a:latin typeface="Noto Serif CJK KR Black" panose="02020900000000000000" charset="-122"/>
                <a:ea typeface="Noto Serif CJK KR Black" panose="02020900000000000000" charset="-122"/>
                <a:sym typeface="+mn-ea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600" y="2516"/>
              <a:ext cx="2594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>
                  <a:latin typeface="Noto Serif CJK KR Black" panose="02020900000000000000" charset="-122"/>
                  <a:ea typeface="Noto Serif CJK KR Black" panose="02020900000000000000" charset="-122"/>
                  <a:sym typeface="+mn-ea"/>
                </a:rPr>
                <a:t>①节奏触发</a:t>
              </a:r>
              <a:endParaRPr lang="en-US" altLang="zh-CN" sz="1600">
                <a:latin typeface="Noto Serif CJK KR Black" panose="02020900000000000000" charset="-122"/>
                <a:ea typeface="Noto Serif CJK KR Black" panose="02020900000000000000" charset="-122"/>
              </a:endParaRPr>
            </a:p>
            <a:p>
              <a:endParaRPr lang="en-US" altLang="zh-CN" sz="1600"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744" y="2970"/>
              <a:ext cx="3791" cy="9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>
                  <a:solidFill>
                    <a:schemeClr val="bg1">
                      <a:lumMod val="50000"/>
                    </a:schemeClr>
                  </a:solidFill>
                  <a:ea typeface="+mn-lt"/>
                  <a:cs typeface="+mn-lt"/>
                  <a:sym typeface="+mn-ea"/>
                </a:rPr>
                <a:t>日期</a:t>
              </a:r>
              <a:r>
                <a:rPr lang="en-US" altLang="zh-CN" sz="1200" b="1">
                  <a:solidFill>
                    <a:schemeClr val="bg1">
                      <a:lumMod val="50000"/>
                    </a:schemeClr>
                  </a:solidFill>
                  <a:ea typeface="+mn-lt"/>
                  <a:cs typeface="+mn-lt"/>
                  <a:sym typeface="+mn-ea"/>
                </a:rPr>
                <a:t>/</a:t>
              </a:r>
              <a:r>
                <a:rPr lang="zh-CN" altLang="en-US" sz="1200" b="1">
                  <a:solidFill>
                    <a:schemeClr val="bg1">
                      <a:lumMod val="50000"/>
                    </a:schemeClr>
                  </a:solidFill>
                  <a:ea typeface="+mn-lt"/>
                  <a:cs typeface="+mn-lt"/>
                  <a:sym typeface="+mn-ea"/>
                </a:rPr>
                <a:t>用户选择决定今天进入哪类</a:t>
              </a:r>
              <a:r>
                <a:rPr lang="en-US" altLang="zh-CN" sz="1200" b="1">
                  <a:solidFill>
                    <a:schemeClr val="bg1">
                      <a:lumMod val="50000"/>
                    </a:schemeClr>
                  </a:solidFill>
                  <a:ea typeface="+mn-lt"/>
                  <a:cs typeface="+mn-lt"/>
                  <a:sym typeface="+mn-ea"/>
                </a:rPr>
                <a:t>Session</a:t>
              </a:r>
              <a:endParaRPr lang="en-US" altLang="zh-CN" sz="1200" b="1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  <a:sym typeface="+mn-ea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245860" y="2944495"/>
            <a:ext cx="2597150" cy="970280"/>
            <a:chOff x="5568" y="2383"/>
            <a:chExt cx="4090" cy="1528"/>
          </a:xfrm>
        </p:grpSpPr>
        <p:sp>
          <p:nvSpPr>
            <p:cNvPr id="24" name="矩形 23"/>
            <p:cNvSpPr/>
            <p:nvPr/>
          </p:nvSpPr>
          <p:spPr>
            <a:xfrm>
              <a:off x="5568" y="2383"/>
              <a:ext cx="4090" cy="1529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 w="6350">
              <a:solidFill>
                <a:schemeClr val="tx1"/>
              </a:solidFill>
            </a:ln>
          </p:spPr>
          <p:txBody>
            <a:bodyPr rtlCol="0" anchor="t">
              <a:noAutofit/>
            </a:bodyPr>
            <a:p>
              <a:pPr lvl="0" algn="l">
                <a:buClrTx/>
                <a:buSzTx/>
                <a:buFontTx/>
              </a:pPr>
              <a:endParaRPr lang="en-US" altLang="zh-CN">
                <a:latin typeface="Noto Serif CJK KR Black" panose="02020900000000000000" charset="-122"/>
                <a:ea typeface="Noto Serif CJK KR Black" panose="02020900000000000000" charset="-122"/>
                <a:sym typeface="+mn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600" y="2516"/>
              <a:ext cx="2594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 b="1">
                  <a:latin typeface="东文宋体" charset="0"/>
                  <a:ea typeface="东文宋体" charset="0"/>
                  <a:sym typeface="+mn-ea"/>
                </a:rPr>
                <a:t>②材料包生成</a:t>
              </a:r>
              <a:endParaRPr lang="en-US" altLang="zh-CN" sz="1600" b="1">
                <a:latin typeface="Noto Serif CJK KR Black" panose="02020900000000000000" charset="-122"/>
                <a:ea typeface="Noto Serif CJK KR Black" panose="02020900000000000000" charset="-122"/>
              </a:endParaRPr>
            </a:p>
            <a:p>
              <a:endParaRPr lang="en-US" altLang="zh-CN" sz="1600" b="1"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744" y="2970"/>
              <a:ext cx="3791" cy="9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生成</a:t>
              </a:r>
              <a:r>
                <a:rPr lang="en-US" altLang="zh-CN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payload</a:t>
              </a:r>
              <a:r>
                <a:rPr lang="zh-CN" altLang="en-US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、材料、推荐理由和完成标准</a:t>
              </a:r>
              <a:endParaRPr lang="zh-CN" altLang="en-US" sz="1200" b="1">
                <a:solidFill>
                  <a:schemeClr val="bg1">
                    <a:lumMod val="50000"/>
                  </a:schemeClr>
                </a:solidFill>
                <a:ea typeface="宋体" charset="0"/>
                <a:cs typeface="+mn-lt"/>
                <a:sym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9253855" y="2944495"/>
            <a:ext cx="2597150" cy="970280"/>
            <a:chOff x="5568" y="2383"/>
            <a:chExt cx="4090" cy="1528"/>
          </a:xfrm>
        </p:grpSpPr>
        <p:sp>
          <p:nvSpPr>
            <p:cNvPr id="29" name="矩形 28"/>
            <p:cNvSpPr/>
            <p:nvPr/>
          </p:nvSpPr>
          <p:spPr>
            <a:xfrm>
              <a:off x="5568" y="2383"/>
              <a:ext cx="4090" cy="1529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 w="6350">
              <a:solidFill>
                <a:schemeClr val="tx1"/>
              </a:solidFill>
            </a:ln>
          </p:spPr>
          <p:txBody>
            <a:bodyPr rtlCol="0" anchor="t">
              <a:noAutofit/>
            </a:bodyPr>
            <a:p>
              <a:pPr lvl="0" algn="l">
                <a:buClrTx/>
                <a:buSzTx/>
                <a:buFontTx/>
              </a:pPr>
              <a:endParaRPr lang="en-US" altLang="zh-CN">
                <a:latin typeface="Noto Serif CJK KR Black" panose="02020900000000000000" charset="-122"/>
                <a:ea typeface="Noto Serif CJK KR Black" panose="02020900000000000000" charset="-122"/>
                <a:sym typeface="+mn-ea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600" y="2516"/>
              <a:ext cx="2594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 b="1">
                  <a:latin typeface="东文宋体" charset="0"/>
                  <a:ea typeface="东文宋体" charset="0"/>
                  <a:sym typeface="+mn-ea"/>
                </a:rPr>
                <a:t>③任务执行</a:t>
              </a:r>
              <a:endParaRPr lang="en-US" altLang="zh-CN" sz="1600" b="1">
                <a:latin typeface="Noto Serif CJK KR Black" panose="02020900000000000000" charset="-122"/>
                <a:ea typeface="Noto Serif CJK KR Black" panose="02020900000000000000" charset="-122"/>
              </a:endParaRPr>
            </a:p>
            <a:p>
              <a:endParaRPr lang="en-US" altLang="zh-CN" sz="1600" b="1"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744" y="2970"/>
              <a:ext cx="3791" cy="9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进入工作区，完成一次定时执行任务</a:t>
              </a:r>
              <a:endParaRPr lang="en-US" altLang="zh-CN" sz="1200" b="1">
                <a:solidFill>
                  <a:schemeClr val="bg1">
                    <a:lumMod val="50000"/>
                  </a:schemeClr>
                </a:solidFill>
                <a:ea typeface="宋体" charset="0"/>
                <a:cs typeface="+mn-lt"/>
                <a:sym typeface="+mn-ea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9253855" y="4374515"/>
            <a:ext cx="2597150" cy="970280"/>
            <a:chOff x="5568" y="2383"/>
            <a:chExt cx="4090" cy="1528"/>
          </a:xfrm>
        </p:grpSpPr>
        <p:sp>
          <p:nvSpPr>
            <p:cNvPr id="35" name="矩形 34"/>
            <p:cNvSpPr/>
            <p:nvPr/>
          </p:nvSpPr>
          <p:spPr>
            <a:xfrm>
              <a:off x="5568" y="2383"/>
              <a:ext cx="4090" cy="1529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 w="6350">
              <a:solidFill>
                <a:schemeClr val="tx1"/>
              </a:solidFill>
            </a:ln>
          </p:spPr>
          <p:txBody>
            <a:bodyPr rtlCol="0" anchor="t">
              <a:noAutofit/>
            </a:bodyPr>
            <a:p>
              <a:pPr lvl="0" algn="l">
                <a:buClrTx/>
                <a:buSzTx/>
                <a:buFontTx/>
              </a:pPr>
              <a:endParaRPr lang="en-US" altLang="zh-CN">
                <a:latin typeface="Noto Serif CJK KR Black" panose="02020900000000000000" charset="-122"/>
                <a:ea typeface="Noto Serif CJK KR Black" panose="02020900000000000000" charset="-122"/>
                <a:sym typeface="+mn-ea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600" y="2516"/>
              <a:ext cx="2594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 b="1">
                  <a:latin typeface="东文宋体" charset="0"/>
                  <a:ea typeface="东文宋体" charset="0"/>
                  <a:sym typeface="+mn-ea"/>
                </a:rPr>
                <a:t>④打卡归档</a:t>
              </a:r>
              <a:endParaRPr lang="zh-CN" altLang="en-US" sz="1600" b="1">
                <a:latin typeface="东文宋体" charset="0"/>
                <a:ea typeface="东文宋体" charset="0"/>
              </a:endParaRPr>
            </a:p>
            <a:p>
              <a:endParaRPr lang="en-US" altLang="zh-CN" sz="1600" b="1"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744" y="2970"/>
              <a:ext cx="3791" cy="9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用户确认完成</a:t>
              </a:r>
              <a:r>
                <a:rPr lang="en-US" altLang="zh-CN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/</a:t>
              </a:r>
              <a:r>
                <a:rPr lang="zh-CN" altLang="en-US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部分完成，沉淀</a:t>
              </a:r>
              <a:r>
                <a:rPr lang="en-US" altLang="zh-CN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summary</a:t>
              </a:r>
              <a:r>
                <a:rPr lang="zh-CN" altLang="en-US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与</a:t>
              </a:r>
              <a:r>
                <a:rPr lang="en-US" altLang="zh-CN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next action</a:t>
              </a:r>
              <a:endParaRPr lang="en-US" altLang="zh-CN" sz="1200" b="1">
                <a:solidFill>
                  <a:schemeClr val="bg1">
                    <a:lumMod val="50000"/>
                  </a:schemeClr>
                </a:solidFill>
                <a:ea typeface="宋体" charset="0"/>
                <a:cs typeface="+mn-lt"/>
                <a:sym typeface="+mn-ea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6245860" y="4374515"/>
            <a:ext cx="2597150" cy="970915"/>
            <a:chOff x="5568" y="2383"/>
            <a:chExt cx="4090" cy="1529"/>
          </a:xfrm>
        </p:grpSpPr>
        <p:sp>
          <p:nvSpPr>
            <p:cNvPr id="40" name="矩形 39"/>
            <p:cNvSpPr/>
            <p:nvPr/>
          </p:nvSpPr>
          <p:spPr>
            <a:xfrm>
              <a:off x="5568" y="2383"/>
              <a:ext cx="4090" cy="1529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 w="6350">
              <a:solidFill>
                <a:schemeClr val="tx1"/>
              </a:solidFill>
            </a:ln>
          </p:spPr>
          <p:txBody>
            <a:bodyPr rtlCol="0" anchor="t">
              <a:noAutofit/>
            </a:bodyPr>
            <a:p>
              <a:pPr lvl="0" algn="l">
                <a:buClrTx/>
                <a:buSzTx/>
                <a:buFontTx/>
              </a:pPr>
              <a:endParaRPr lang="en-US" altLang="zh-CN">
                <a:latin typeface="Noto Serif CJK KR Black" panose="02020900000000000000" charset="-122"/>
                <a:ea typeface="Noto Serif CJK KR Black" panose="02020900000000000000" charset="-122"/>
                <a:sym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600" y="2500"/>
              <a:ext cx="2594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 b="1">
                  <a:latin typeface="东文宋体" charset="0"/>
                  <a:ea typeface="东文宋体" charset="0"/>
                  <a:sym typeface="+mn-ea"/>
                </a:rPr>
                <a:t>⑤Agent反馈</a:t>
              </a:r>
              <a:endParaRPr lang="zh-CN" altLang="en-US" sz="1600" b="1">
                <a:latin typeface="东文宋体" charset="0"/>
                <a:ea typeface="东文宋体" charset="0"/>
              </a:endParaRPr>
            </a:p>
            <a:p>
              <a:endParaRPr lang="en-US" altLang="zh-CN" sz="1600" b="1"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5744" y="2970"/>
              <a:ext cx="3791" cy="9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生成草稿、讨论材料、补齐洞察和下一步</a:t>
              </a:r>
              <a:endParaRPr lang="zh-CN" sz="1200" b="1">
                <a:solidFill>
                  <a:schemeClr val="bg1">
                    <a:lumMod val="50000"/>
                  </a:schemeClr>
                </a:solidFill>
                <a:ea typeface="宋体" charset="0"/>
                <a:cs typeface="+mn-lt"/>
                <a:sym typeface="+mn-ea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3271520" y="4374515"/>
            <a:ext cx="2597150" cy="970915"/>
            <a:chOff x="5568" y="2383"/>
            <a:chExt cx="4090" cy="1529"/>
          </a:xfrm>
        </p:grpSpPr>
        <p:sp>
          <p:nvSpPr>
            <p:cNvPr id="45" name="矩形 44"/>
            <p:cNvSpPr/>
            <p:nvPr/>
          </p:nvSpPr>
          <p:spPr>
            <a:xfrm>
              <a:off x="5568" y="2383"/>
              <a:ext cx="4090" cy="1529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 w="6350">
              <a:solidFill>
                <a:schemeClr val="tx1"/>
              </a:solidFill>
            </a:ln>
          </p:spPr>
          <p:txBody>
            <a:bodyPr rtlCol="0" anchor="t">
              <a:noAutofit/>
            </a:bodyPr>
            <a:p>
              <a:pPr lvl="0" algn="l">
                <a:buClrTx/>
                <a:buSzTx/>
                <a:buFontTx/>
              </a:pPr>
              <a:endParaRPr lang="en-US" altLang="zh-CN">
                <a:latin typeface="Noto Serif CJK KR Black" panose="02020900000000000000" charset="-122"/>
                <a:ea typeface="Noto Serif CJK KR Black" panose="02020900000000000000" charset="-122"/>
                <a:sym typeface="+mn-ea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5600" y="2500"/>
              <a:ext cx="2594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 b="1">
                  <a:latin typeface="东文宋体" charset="0"/>
                  <a:ea typeface="东文宋体" charset="0"/>
                  <a:sym typeface="+mn-ea"/>
                </a:rPr>
                <a:t>⑥复盘沉淀</a:t>
              </a:r>
              <a:endParaRPr lang="zh-CN" altLang="en-US" sz="1600" b="1">
                <a:latin typeface="东文宋体" charset="0"/>
                <a:ea typeface="东文宋体" charset="0"/>
              </a:endParaRPr>
            </a:p>
            <a:p>
              <a:endParaRPr lang="en-US" altLang="zh-CN" sz="1600" b="1"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5744" y="2970"/>
              <a:ext cx="3791" cy="9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写入</a:t>
              </a:r>
              <a:r>
                <a:rPr lang="en-US" altLang="zh-CN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History</a:t>
              </a:r>
              <a:r>
                <a:rPr lang="zh-CN" altLang="en-US" sz="1200" b="1">
                  <a:solidFill>
                    <a:schemeClr val="bg1">
                      <a:lumMod val="50000"/>
                    </a:schemeClr>
                  </a:solidFill>
                  <a:ea typeface="宋体" charset="0"/>
                  <a:cs typeface="+mn-lt"/>
                  <a:sym typeface="+mn-ea"/>
                </a:rPr>
                <a:t>，归档，反哺下个周期选择</a:t>
              </a:r>
              <a:endParaRPr lang="zh-CN" altLang="en-US" sz="1200" b="1">
                <a:solidFill>
                  <a:schemeClr val="bg1">
                    <a:lumMod val="50000"/>
                  </a:schemeClr>
                </a:solidFill>
                <a:ea typeface="宋体" charset="0"/>
                <a:cs typeface="+mn-lt"/>
                <a:sym typeface="+mn-ea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328930" y="2945130"/>
            <a:ext cx="2506345" cy="2381335"/>
            <a:chOff x="604" y="2279"/>
            <a:chExt cx="3947" cy="3309"/>
          </a:xfrm>
        </p:grpSpPr>
        <p:sp>
          <p:nvSpPr>
            <p:cNvPr id="48" name="Freeform 9"/>
            <p:cNvSpPr/>
            <p:nvPr/>
          </p:nvSpPr>
          <p:spPr>
            <a:xfrm>
              <a:off x="604" y="2279"/>
              <a:ext cx="3947" cy="3309"/>
            </a:xfrm>
            <a:custGeom>
              <a:avLst/>
              <a:gdLst/>
              <a:ahLst/>
              <a:cxnLst/>
              <a:rect l="l" t="t" r="r" b="b"/>
              <a:pathLst>
                <a:path w="4052466" h="4546106">
                  <a:moveTo>
                    <a:pt x="3928006" y="4546106"/>
                  </a:moveTo>
                  <a:lnTo>
                    <a:pt x="124460" y="4546106"/>
                  </a:lnTo>
                  <a:cubicBezTo>
                    <a:pt x="55880" y="4546106"/>
                    <a:pt x="0" y="4490226"/>
                    <a:pt x="0" y="442164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28006" y="0"/>
                  </a:lnTo>
                  <a:cubicBezTo>
                    <a:pt x="3996586" y="0"/>
                    <a:pt x="4052466" y="55880"/>
                    <a:pt x="4052466" y="124460"/>
                  </a:cubicBezTo>
                  <a:lnTo>
                    <a:pt x="4052466" y="4421646"/>
                  </a:lnTo>
                  <a:cubicBezTo>
                    <a:pt x="4052466" y="4490226"/>
                    <a:pt x="3996586" y="4546106"/>
                    <a:pt x="3928006" y="4546106"/>
                  </a:cubicBezTo>
                  <a:close/>
                </a:path>
              </a:pathLst>
            </a:custGeom>
            <a:solidFill>
              <a:srgbClr val="FFD1E0">
                <a:alpha val="30000"/>
              </a:srgbClr>
            </a:solidFill>
          </p:spPr>
        </p:sp>
        <p:sp>
          <p:nvSpPr>
            <p:cNvPr id="49" name="文本框 48"/>
            <p:cNvSpPr txBox="1"/>
            <p:nvPr/>
          </p:nvSpPr>
          <p:spPr>
            <a:xfrm>
              <a:off x="694" y="2527"/>
              <a:ext cx="3326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sz="1400">
                  <a:solidFill>
                    <a:schemeClr val="accent6">
                      <a:lumMod val="75000"/>
                    </a:schemeClr>
                  </a:solidFill>
                  <a:latin typeface="Noto Serif CJK KR Black" panose="02020900000000000000" charset="-122"/>
                  <a:ea typeface="Noto Serif CJK KR Black" panose="02020900000000000000" charset="-122"/>
                  <a:sym typeface="+mn-ea"/>
                </a:rPr>
                <a:t>用户目标与计划上下文</a:t>
              </a:r>
              <a:r>
                <a:rPr lang="en-US" altLang="zh-CN" sz="1400">
                  <a:solidFill>
                    <a:schemeClr val="accent6">
                      <a:lumMod val="75000"/>
                    </a:schemeClr>
                  </a:solidFill>
                  <a:latin typeface="Noto Serif CJK KR Black" panose="02020900000000000000" charset="-122"/>
                  <a:ea typeface="Noto Serif CJK KR Black" panose="02020900000000000000" charset="-122"/>
                  <a:sym typeface="+mn-ea"/>
                </a:rPr>
                <a:t> </a:t>
              </a:r>
              <a:endParaRPr lang="en-US" altLang="zh-CN" sz="1400">
                <a:solidFill>
                  <a:schemeClr val="accent6">
                    <a:lumMod val="75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sym typeface="+mn-ea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694" y="3141"/>
              <a:ext cx="3592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sz="1200" b="1">
                  <a:ea typeface="+mn-lt"/>
                  <a:cs typeface="+mn-lt"/>
                  <a:sym typeface="+mn-ea"/>
                </a:rPr>
                <a:t>长期目标</a:t>
              </a:r>
              <a:r>
                <a:rPr lang="zh-CN" sz="1200">
                  <a:ea typeface="+mn-lt"/>
                  <a:cs typeface="+mn-lt"/>
                  <a:sym typeface="+mn-ea"/>
                </a:rPr>
                <a:t>：职业</a:t>
              </a:r>
              <a:r>
                <a:rPr lang="en-US" altLang="zh-CN" sz="1200">
                  <a:ea typeface="+mn-lt"/>
                  <a:cs typeface="+mn-lt"/>
                  <a:sym typeface="+mn-ea"/>
                </a:rPr>
                <a:t>/</a:t>
              </a:r>
              <a:r>
                <a:rPr lang="zh-CN" altLang="en-US" sz="1200">
                  <a:ea typeface="+mn-lt"/>
                  <a:cs typeface="+mn-lt"/>
                  <a:sym typeface="+mn-ea"/>
                </a:rPr>
                <a:t>研究</a:t>
              </a:r>
              <a:r>
                <a:rPr lang="en-US" altLang="zh-CN" sz="1200">
                  <a:ea typeface="+mn-lt"/>
                  <a:cs typeface="+mn-lt"/>
                  <a:sym typeface="+mn-ea"/>
                </a:rPr>
                <a:t>/</a:t>
              </a:r>
              <a:r>
                <a:rPr lang="zh-CN" altLang="en-US" sz="1200">
                  <a:ea typeface="+mn-lt"/>
                  <a:cs typeface="+mn-lt"/>
                  <a:sym typeface="+mn-ea"/>
                </a:rPr>
                <a:t>创作方向</a:t>
              </a:r>
              <a:endParaRPr lang="zh-CN" altLang="en-US" sz="1200">
                <a:ea typeface="+mn-lt"/>
                <a:cs typeface="+mn-lt"/>
                <a:sym typeface="+mn-ea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694" y="3623"/>
              <a:ext cx="3856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sz="1200" b="1">
                  <a:ea typeface="+mn-lt"/>
                  <a:cs typeface="+mn-lt"/>
                  <a:sym typeface="+mn-ea"/>
                </a:rPr>
                <a:t>短期计划</a:t>
              </a:r>
              <a:r>
                <a:rPr lang="zh-CN" sz="1200">
                  <a:ea typeface="+mn-lt"/>
                  <a:cs typeface="+mn-lt"/>
                  <a:sym typeface="+mn-ea"/>
                </a:rPr>
                <a:t>：本周重点</a:t>
              </a:r>
              <a:r>
                <a:rPr lang="en-US" altLang="zh-CN" sz="1200">
                  <a:ea typeface="+mn-lt"/>
                  <a:cs typeface="+mn-lt"/>
                  <a:sym typeface="+mn-ea"/>
                </a:rPr>
                <a:t>/</a:t>
              </a:r>
              <a:r>
                <a:rPr lang="zh-CN" sz="1200">
                  <a:ea typeface="+mn-lt"/>
                  <a:cs typeface="+mn-lt"/>
                  <a:sym typeface="+mn-ea"/>
                </a:rPr>
                <a:t>下一步任务</a:t>
              </a:r>
              <a:endParaRPr lang="zh-CN" altLang="en-US" sz="1200">
                <a:ea typeface="+mn-lt"/>
                <a:cs typeface="+mn-lt"/>
                <a:sym typeface="+mn-ea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86" y="4039"/>
              <a:ext cx="3856" cy="91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fontAlgn="auto">
                <a:lnSpc>
                  <a:spcPct val="130000"/>
                </a:lnSpc>
              </a:pPr>
              <a:r>
                <a:rPr lang="zh-CN" sz="1200" b="1">
                  <a:ea typeface="+mn-lt"/>
                  <a:cs typeface="+mn-lt"/>
                  <a:sym typeface="+mn-ea"/>
                </a:rPr>
                <a:t>偏好约束</a:t>
              </a:r>
              <a:r>
                <a:rPr lang="zh-CN" sz="1200">
                  <a:ea typeface="+mn-lt"/>
                  <a:cs typeface="+mn-lt"/>
                  <a:sym typeface="+mn-ea"/>
                </a:rPr>
                <a:t>：时间预算</a:t>
              </a:r>
              <a:r>
                <a:rPr lang="en-US" altLang="zh-CN" sz="1200">
                  <a:ea typeface="+mn-lt"/>
                  <a:cs typeface="+mn-lt"/>
                  <a:sym typeface="+mn-ea"/>
                </a:rPr>
                <a:t>/</a:t>
              </a:r>
              <a:r>
                <a:rPr lang="zh-CN" altLang="en-US" sz="1200">
                  <a:ea typeface="宋体" charset="0"/>
                  <a:cs typeface="+mn-lt"/>
                  <a:sym typeface="+mn-ea"/>
                </a:rPr>
                <a:t>材料类型</a:t>
              </a:r>
              <a:r>
                <a:rPr lang="en-US" altLang="zh-CN" sz="1200">
                  <a:ea typeface="宋体" charset="0"/>
                  <a:cs typeface="+mn-lt"/>
                  <a:sym typeface="+mn-ea"/>
                </a:rPr>
                <a:t>/</a:t>
              </a:r>
              <a:r>
                <a:rPr lang="zh-CN" altLang="en-US" sz="1200">
                  <a:ea typeface="宋体" charset="0"/>
                  <a:cs typeface="+mn-lt"/>
                  <a:sym typeface="+mn-ea"/>
                </a:rPr>
                <a:t>能力画像</a:t>
              </a:r>
              <a:endParaRPr lang="en-US" altLang="zh-CN" sz="1200">
                <a:ea typeface="宋体" charset="0"/>
                <a:cs typeface="+mn-lt"/>
                <a:sym typeface="+mn-ea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23" y="4908"/>
              <a:ext cx="3819" cy="4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fontAlgn="auto">
                <a:lnSpc>
                  <a:spcPct val="130000"/>
                </a:lnSpc>
              </a:pPr>
              <a:r>
                <a:rPr lang="en-US" altLang="zh-CN" sz="1000" b="1">
                  <a:ea typeface="宋体" charset="0"/>
                  <a:cs typeface="+mn-lt"/>
                  <a:sym typeface="+mn-ea"/>
                </a:rPr>
                <a:t>UserContext/Plan/Skill Profile</a:t>
              </a:r>
              <a:endParaRPr lang="en-US" altLang="zh-CN" sz="1000" b="1">
                <a:ea typeface="宋体" charset="0"/>
                <a:cs typeface="+mn-lt"/>
                <a:sym typeface="+mn-ea"/>
              </a:endParaRPr>
            </a:p>
          </p:txBody>
        </p:sp>
      </p:grpSp>
      <p:sp>
        <p:nvSpPr>
          <p:cNvPr id="54" name="矩形 53"/>
          <p:cNvSpPr/>
          <p:nvPr/>
        </p:nvSpPr>
        <p:spPr>
          <a:xfrm>
            <a:off x="508000" y="2185670"/>
            <a:ext cx="5370830" cy="35941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rtlCol="0" anchor="ctr" anchorCtr="0">
            <a:noAutofit/>
          </a:bodyPr>
          <a:p>
            <a:pPr lvl="0" algn="ctr" fontAlgn="ctr">
              <a:buClrTx/>
              <a:buSzTx/>
              <a:buFontTx/>
            </a:pPr>
            <a:r>
              <a:rPr lang="en-US" altLang="zh-CN" sz="1200" b="1">
                <a:solidFill>
                  <a:schemeClr val="accent6">
                    <a:lumMod val="40000"/>
                    <a:lumOff val="60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sym typeface="+mn-ea"/>
              </a:rPr>
              <a:t>Scheduled Mode</a:t>
            </a:r>
            <a:r>
              <a:rPr lang="en-US" altLang="zh-CN" sz="1200" b="1">
                <a:solidFill>
                  <a:schemeClr val="bg1"/>
                </a:solidFill>
                <a:latin typeface="Noto Serif CJK KR Black" panose="02020900000000000000" charset="-122"/>
                <a:ea typeface="Noto Serif CJK KR Black" panose="02020900000000000000" charset="-122"/>
                <a:sym typeface="+mn-ea"/>
              </a:rPr>
              <a:t>：周期触发</a:t>
            </a:r>
            <a:endParaRPr lang="en-US" altLang="zh-CN" sz="1200" b="1">
              <a:solidFill>
                <a:schemeClr val="bg1"/>
              </a:solidFill>
              <a:latin typeface="Noto Serif CJK KR Black" panose="02020900000000000000" charset="-122"/>
              <a:ea typeface="Noto Serif CJK KR Black" panose="02020900000000000000" charset="-122"/>
              <a:sym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970270" y="2185670"/>
            <a:ext cx="5798185" cy="35941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rtlCol="0" anchor="ctr" anchorCtr="0">
            <a:noAutofit/>
          </a:bodyPr>
          <a:p>
            <a:pPr lvl="0" algn="ctr" fontAlgn="ctr">
              <a:buClrTx/>
              <a:buSzTx/>
              <a:buFontTx/>
            </a:pPr>
            <a:r>
              <a:rPr lang="en-US" altLang="zh-CN" sz="1200" b="1">
                <a:solidFill>
                  <a:schemeClr val="accent6">
                    <a:lumMod val="40000"/>
                    <a:lumOff val="60000"/>
                  </a:schemeClr>
                </a:solidFill>
                <a:latin typeface="Noto Serif CJK KR Black" panose="02020900000000000000" charset="-122"/>
                <a:ea typeface="Noto Serif CJK KR Black" panose="02020900000000000000" charset="-122"/>
                <a:sym typeface="+mn-ea"/>
              </a:rPr>
              <a:t>Manual Mode</a:t>
            </a:r>
            <a:r>
              <a:rPr lang="en-US" altLang="zh-CN" sz="1200" b="1">
                <a:solidFill>
                  <a:schemeClr val="bg1"/>
                </a:solidFill>
                <a:latin typeface="Noto Serif CJK KR Black" panose="02020900000000000000" charset="-122"/>
                <a:ea typeface="Noto Serif CJK KR Black" panose="02020900000000000000" charset="-122"/>
                <a:sym typeface="+mn-ea"/>
              </a:rPr>
              <a:t>：用户手动设置</a:t>
            </a:r>
            <a:endParaRPr lang="en-US" altLang="zh-CN" sz="1200" b="1">
              <a:solidFill>
                <a:schemeClr val="bg1"/>
              </a:solidFill>
              <a:latin typeface="Noto Serif CJK KR Black" panose="02020900000000000000" charset="-122"/>
              <a:ea typeface="Noto Serif CJK KR Black" panose="02020900000000000000" charset="-122"/>
              <a:sym typeface="+mn-ea"/>
            </a:endParaRPr>
          </a:p>
        </p:txBody>
      </p:sp>
      <p:cxnSp>
        <p:nvCxnSpPr>
          <p:cNvPr id="59" name="曲线连接符 58"/>
          <p:cNvCxnSpPr>
            <a:endCxn id="24" idx="1"/>
          </p:cNvCxnSpPr>
          <p:nvPr/>
        </p:nvCxnSpPr>
        <p:spPr>
          <a:xfrm flipV="1">
            <a:off x="5879465" y="3430270"/>
            <a:ext cx="366395" cy="19685"/>
          </a:xfrm>
          <a:prstGeom prst="curvedConnector3">
            <a:avLst>
              <a:gd name="adj1" fmla="val 50087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曲线连接符 59"/>
          <p:cNvCxnSpPr>
            <a:stCxn id="24" idx="3"/>
          </p:cNvCxnSpPr>
          <p:nvPr/>
        </p:nvCxnSpPr>
        <p:spPr>
          <a:xfrm flipV="1">
            <a:off x="8843010" y="3343910"/>
            <a:ext cx="414020" cy="86360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曲线连接符 60"/>
          <p:cNvCxnSpPr>
            <a:endCxn id="35" idx="0"/>
          </p:cNvCxnSpPr>
          <p:nvPr/>
        </p:nvCxnSpPr>
        <p:spPr>
          <a:xfrm rot="5400000">
            <a:off x="10466705" y="3999865"/>
            <a:ext cx="460375" cy="288290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曲线连接符 61"/>
          <p:cNvCxnSpPr>
            <a:stCxn id="35" idx="1"/>
          </p:cNvCxnSpPr>
          <p:nvPr/>
        </p:nvCxnSpPr>
        <p:spPr>
          <a:xfrm rot="10800000" flipV="1">
            <a:off x="8844915" y="4859655"/>
            <a:ext cx="408305" cy="161925"/>
          </a:xfrm>
          <a:prstGeom prst="curvedConnector3">
            <a:avLst>
              <a:gd name="adj1" fmla="val 49922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曲线连接符 62"/>
          <p:cNvCxnSpPr>
            <a:stCxn id="40" idx="1"/>
            <a:endCxn id="45" idx="3"/>
          </p:cNvCxnSpPr>
          <p:nvPr/>
        </p:nvCxnSpPr>
        <p:spPr>
          <a:xfrm rot="10800000" flipV="1">
            <a:off x="5868670" y="4860290"/>
            <a:ext cx="377190" cy="3175"/>
          </a:xfrm>
          <a:prstGeom prst="curved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曲线连接符 63"/>
          <p:cNvCxnSpPr>
            <a:stCxn id="54" idx="2"/>
            <a:endCxn id="20" idx="0"/>
          </p:cNvCxnSpPr>
          <p:nvPr/>
        </p:nvCxnSpPr>
        <p:spPr>
          <a:xfrm rot="5400000" flipV="1">
            <a:off x="3682365" y="2056130"/>
            <a:ext cx="398780" cy="1376680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曲线连接符 64"/>
          <p:cNvCxnSpPr>
            <a:stCxn id="57" idx="2"/>
            <a:endCxn id="20" idx="0"/>
          </p:cNvCxnSpPr>
          <p:nvPr/>
        </p:nvCxnSpPr>
        <p:spPr>
          <a:xfrm rot="5400000">
            <a:off x="6520498" y="594678"/>
            <a:ext cx="398780" cy="4299585"/>
          </a:xfrm>
          <a:prstGeom prst="curvedConnector3">
            <a:avLst>
              <a:gd name="adj1" fmla="val 4992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曲线连接符 65"/>
          <p:cNvCxnSpPr>
            <a:stCxn id="45" idx="1"/>
            <a:endCxn id="20" idx="1"/>
          </p:cNvCxnSpPr>
          <p:nvPr/>
        </p:nvCxnSpPr>
        <p:spPr>
          <a:xfrm rot="10800000" flipH="1">
            <a:off x="3271520" y="3429000"/>
            <a:ext cx="3175" cy="1430655"/>
          </a:xfrm>
          <a:prstGeom prst="curvedConnector3">
            <a:avLst>
              <a:gd name="adj1" fmla="val -750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曲线连接符 75"/>
          <p:cNvCxnSpPr>
            <a:endCxn id="26" idx="2"/>
          </p:cNvCxnSpPr>
          <p:nvPr/>
        </p:nvCxnSpPr>
        <p:spPr>
          <a:xfrm flipV="1">
            <a:off x="2891790" y="3895090"/>
            <a:ext cx="4669790" cy="344805"/>
          </a:xfrm>
          <a:prstGeom prst="curvedConnector2">
            <a:avLst/>
          </a:prstGeom>
          <a:ln>
            <a:solidFill>
              <a:schemeClr val="accent6"/>
            </a:solidFill>
            <a:prstDash val="das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508000" y="1311910"/>
            <a:ext cx="11261725" cy="802005"/>
            <a:chOff x="4905" y="2061"/>
            <a:chExt cx="13456" cy="1263"/>
          </a:xfrm>
        </p:grpSpPr>
        <p:sp>
          <p:nvSpPr>
            <p:cNvPr id="86" name="Freeform 9"/>
            <p:cNvSpPr/>
            <p:nvPr/>
          </p:nvSpPr>
          <p:spPr>
            <a:xfrm>
              <a:off x="4905" y="2061"/>
              <a:ext cx="13456" cy="1263"/>
            </a:xfrm>
            <a:custGeom>
              <a:avLst/>
              <a:gdLst/>
              <a:ahLst/>
              <a:cxnLst/>
              <a:rect l="l" t="t" r="r" b="b"/>
              <a:pathLst>
                <a:path w="4052466" h="4546106">
                  <a:moveTo>
                    <a:pt x="3928006" y="4546106"/>
                  </a:moveTo>
                  <a:lnTo>
                    <a:pt x="124460" y="4546106"/>
                  </a:lnTo>
                  <a:cubicBezTo>
                    <a:pt x="55880" y="4546106"/>
                    <a:pt x="0" y="4490226"/>
                    <a:pt x="0" y="442164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28006" y="0"/>
                  </a:lnTo>
                  <a:cubicBezTo>
                    <a:pt x="3996586" y="0"/>
                    <a:pt x="4052466" y="55880"/>
                    <a:pt x="4052466" y="124460"/>
                  </a:cubicBezTo>
                  <a:lnTo>
                    <a:pt x="4052466" y="4421646"/>
                  </a:lnTo>
                  <a:cubicBezTo>
                    <a:pt x="4052466" y="4490226"/>
                    <a:pt x="3996586" y="4546106"/>
                    <a:pt x="3928006" y="4546106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  <a:alpha val="30000"/>
              </a:schemeClr>
            </a:solidFill>
            <a:ln>
              <a:solidFill>
                <a:schemeClr val="accent1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7" name="Shape 4"/>
            <p:cNvSpPr/>
            <p:nvPr/>
          </p:nvSpPr>
          <p:spPr>
            <a:xfrm>
              <a:off x="5184" y="2515"/>
              <a:ext cx="2594" cy="486"/>
            </a:xfrm>
            <a:prstGeom prst="roundRect">
              <a:avLst>
                <a:gd name="adj" fmla="val 14118"/>
              </a:avLst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</p:spPr>
          <p:txBody>
            <a:bodyPr anchor="ctr" anchorCtr="0"/>
            <a:p>
              <a:pPr algn="ctr"/>
              <a:r>
                <a:rPr lang="en-US" altLang="zh-CN" sz="1200">
                  <a:latin typeface="Noto Serif CJK KR Black" panose="02020900000000000000" charset="-122"/>
                  <a:ea typeface="Noto Serif CJK KR Black" panose="02020900000000000000" charset="-122"/>
                </a:rPr>
                <a:t>Signal Radar</a:t>
              </a:r>
              <a:endParaRPr lang="en-US" altLang="zh-CN" sz="1200"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78" name="Shape 4"/>
            <p:cNvSpPr/>
            <p:nvPr/>
          </p:nvSpPr>
          <p:spPr>
            <a:xfrm>
              <a:off x="8352" y="2515"/>
              <a:ext cx="2374" cy="486"/>
            </a:xfrm>
            <a:prstGeom prst="roundRect">
              <a:avLst>
                <a:gd name="adj" fmla="val 14118"/>
              </a:avLst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</p:spPr>
          <p:txBody>
            <a:bodyPr anchor="ctr" anchorCtr="0"/>
            <a:p>
              <a:pPr algn="ctr"/>
              <a:r>
                <a:rPr lang="en-US" altLang="zh-CN" sz="1200">
                  <a:latin typeface="Noto Serif CJK KR Black" panose="02020900000000000000" charset="-122"/>
                  <a:ea typeface="Noto Serif CJK KR Black" panose="02020900000000000000" charset="-122"/>
                </a:rPr>
                <a:t>Deep Dive</a:t>
              </a:r>
              <a:endParaRPr lang="en-US" altLang="zh-CN" sz="1200"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79" name="Shape 4"/>
            <p:cNvSpPr/>
            <p:nvPr/>
          </p:nvSpPr>
          <p:spPr>
            <a:xfrm>
              <a:off x="11283" y="2515"/>
              <a:ext cx="3869" cy="486"/>
            </a:xfrm>
            <a:prstGeom prst="roundRect">
              <a:avLst>
                <a:gd name="adj" fmla="val 14118"/>
              </a:avLst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</p:spPr>
          <p:txBody>
            <a:bodyPr anchor="ctr" anchorCtr="0"/>
            <a:p>
              <a:pPr algn="ctr"/>
              <a:r>
                <a:rPr lang="en-US" altLang="zh-CN" sz="1200">
                  <a:latin typeface="Noto Serif CJK KR Black" panose="02020900000000000000" charset="-122"/>
                  <a:ea typeface="Noto Serif CJK KR Black" panose="02020900000000000000" charset="-122"/>
                </a:rPr>
                <a:t>Opportunity Alignment</a:t>
              </a:r>
              <a:endParaRPr lang="en-US" altLang="zh-CN" sz="1200"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sp>
          <p:nvSpPr>
            <p:cNvPr id="80" name="Shape 4"/>
            <p:cNvSpPr/>
            <p:nvPr/>
          </p:nvSpPr>
          <p:spPr>
            <a:xfrm>
              <a:off x="15659" y="2515"/>
              <a:ext cx="2374" cy="486"/>
            </a:xfrm>
            <a:prstGeom prst="roundRect">
              <a:avLst>
                <a:gd name="adj" fmla="val 14118"/>
              </a:avLst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</p:spPr>
          <p:txBody>
            <a:bodyPr anchor="ctr" anchorCtr="0"/>
            <a:p>
              <a:pPr algn="ctr"/>
              <a:r>
                <a:rPr lang="en-US" altLang="zh-CN" sz="1200">
                  <a:latin typeface="Noto Serif CJK KR Black" panose="02020900000000000000" charset="-122"/>
                  <a:ea typeface="Noto Serif CJK KR Black" panose="02020900000000000000" charset="-122"/>
                </a:rPr>
                <a:t>Weekly Studio</a:t>
              </a:r>
              <a:endParaRPr lang="en-US" altLang="zh-CN" sz="1200">
                <a:latin typeface="Noto Serif CJK KR Black" panose="02020900000000000000" charset="-122"/>
                <a:ea typeface="Noto Serif CJK KR Black" panose="02020900000000000000" charset="-122"/>
              </a:endParaRPr>
            </a:p>
          </p:txBody>
        </p:sp>
        <p:cxnSp>
          <p:nvCxnSpPr>
            <p:cNvPr id="81" name="曲线连接符 80"/>
            <p:cNvCxnSpPr>
              <a:stCxn id="77" idx="3"/>
              <a:endCxn id="78" idx="1"/>
            </p:cNvCxnSpPr>
            <p:nvPr/>
          </p:nvCxnSpPr>
          <p:spPr>
            <a:xfrm>
              <a:off x="7778" y="2758"/>
              <a:ext cx="574" cy="5"/>
            </a:xfrm>
            <a:prstGeom prst="curvedConnector2">
              <a:avLst/>
            </a:prstGeom>
            <a:ln>
              <a:solidFill>
                <a:srgbClr val="99B0E4"/>
              </a:solidFill>
              <a:prstDash val="dash"/>
              <a:tailEnd type="stealth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2" name="曲线连接符 81"/>
            <p:cNvCxnSpPr>
              <a:stCxn id="78" idx="3"/>
              <a:endCxn id="79" idx="1"/>
            </p:cNvCxnSpPr>
            <p:nvPr/>
          </p:nvCxnSpPr>
          <p:spPr>
            <a:xfrm>
              <a:off x="10726" y="2758"/>
              <a:ext cx="557" cy="5"/>
            </a:xfrm>
            <a:prstGeom prst="curvedConnector2">
              <a:avLst/>
            </a:prstGeom>
            <a:ln>
              <a:solidFill>
                <a:srgbClr val="99B0E4"/>
              </a:solidFill>
              <a:prstDash val="dash"/>
              <a:tailEnd type="stealth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3" name="曲线连接符 82"/>
            <p:cNvCxnSpPr>
              <a:stCxn id="79" idx="3"/>
              <a:endCxn id="80" idx="1"/>
            </p:cNvCxnSpPr>
            <p:nvPr/>
          </p:nvCxnSpPr>
          <p:spPr>
            <a:xfrm>
              <a:off x="15152" y="2758"/>
              <a:ext cx="507" cy="5"/>
            </a:xfrm>
            <a:prstGeom prst="curvedConnector2">
              <a:avLst/>
            </a:prstGeom>
            <a:ln>
              <a:solidFill>
                <a:srgbClr val="99B0E4"/>
              </a:solidFill>
              <a:prstDash val="dash"/>
              <a:tailEnd type="stealth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4" name="曲线连接符 83"/>
            <p:cNvCxnSpPr>
              <a:stCxn id="80" idx="0"/>
              <a:endCxn id="77" idx="0"/>
            </p:cNvCxnSpPr>
            <p:nvPr/>
          </p:nvCxnSpPr>
          <p:spPr>
            <a:xfrm rot="16200000" flipH="1" flipV="1">
              <a:off x="11663" y="-2667"/>
              <a:ext cx="5" cy="10365"/>
            </a:xfrm>
            <a:prstGeom prst="curvedConnector3">
              <a:avLst>
                <a:gd name="adj1" fmla="val -4800000"/>
              </a:avLst>
            </a:prstGeom>
            <a:ln>
              <a:solidFill>
                <a:srgbClr val="99B0E4"/>
              </a:solidFill>
              <a:prstDash val="dash"/>
              <a:tailEnd type="stealth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2663</Words>
  <Application>WPS 演示</Application>
  <PresentationFormat>宽屏</PresentationFormat>
  <Paragraphs>322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7</vt:i4>
      </vt:variant>
    </vt:vector>
  </HeadingPairs>
  <TitlesOfParts>
    <vt:vector size="98" baseType="lpstr">
      <vt:lpstr>Arial</vt:lpstr>
      <vt:lpstr>宋体</vt:lpstr>
      <vt:lpstr>Wingdings</vt:lpstr>
      <vt:lpstr>DejaVu Sans</vt:lpstr>
      <vt:lpstr>Calibri Light</vt:lpstr>
      <vt:lpstr>Noto Serif CJK SC</vt:lpstr>
      <vt:lpstr>微软雅黑</vt:lpstr>
      <vt:lpstr>Droid Sans Fallback</vt:lpstr>
      <vt:lpstr>宋体</vt:lpstr>
      <vt:lpstr>Arial Unicode MS</vt:lpstr>
      <vt:lpstr>Calibri</vt:lpstr>
      <vt:lpstr>OpenSymbol</vt:lpstr>
      <vt:lpstr>Arial</vt:lpstr>
      <vt:lpstr>TT Commons Pro</vt:lpstr>
      <vt:lpstr>TAN Mon Cheri</vt:lpstr>
      <vt:lpstr>Gubbi</vt:lpstr>
      <vt:lpstr>Anek Tamil Expanded Regular</vt:lpstr>
      <vt:lpstr>AR PL UKai TW</vt:lpstr>
      <vt:lpstr>AR PL UKai HK</vt:lpstr>
      <vt:lpstr>Chandas</vt:lpstr>
      <vt:lpstr>Chilanka</vt:lpstr>
      <vt:lpstr>Courier 10 Pitch</vt:lpstr>
      <vt:lpstr>DejaVu Math TeX Gyre</vt:lpstr>
      <vt:lpstr>Dhurjati</vt:lpstr>
      <vt:lpstr>Dyuthi</vt:lpstr>
      <vt:lpstr>FreeSans</vt:lpstr>
      <vt:lpstr>Jamrul</vt:lpstr>
      <vt:lpstr>KacstArt</vt:lpstr>
      <vt:lpstr>KacstBook</vt:lpstr>
      <vt:lpstr>KacstQurn</vt:lpstr>
      <vt:lpstr>Kinnari</vt:lpstr>
      <vt:lpstr>Khmer OS System</vt:lpstr>
      <vt:lpstr>Khmer OS</vt:lpstr>
      <vt:lpstr>C059</vt:lpstr>
      <vt:lpstr>Bitstream Charter</vt:lpstr>
      <vt:lpstr>Ani</vt:lpstr>
      <vt:lpstr>Abyssinica SIL</vt:lpstr>
      <vt:lpstr>AR PL UMing TW</vt:lpstr>
      <vt:lpstr>AR PL UMing HK</vt:lpstr>
      <vt:lpstr>DejaVu Sans Mono</vt:lpstr>
      <vt:lpstr>DejaVu Serif</vt:lpstr>
      <vt:lpstr>KacstTitle</vt:lpstr>
      <vt:lpstr>KacstScreen</vt:lpstr>
      <vt:lpstr>Karumbi</vt:lpstr>
      <vt:lpstr>Noto Serif CJK KR ExtraLight</vt:lpstr>
      <vt:lpstr>Noto Serif CJK KR Black</vt:lpstr>
      <vt:lpstr>Samyak Devanagari</vt:lpstr>
      <vt:lpstr>RaghuMalayalamSans</vt:lpstr>
      <vt:lpstr>Rachana</vt:lpstr>
      <vt:lpstr>Purisa</vt:lpstr>
      <vt:lpstr>Ramabhadra</vt:lpstr>
      <vt:lpstr>Rasa</vt:lpstr>
      <vt:lpstr>Samanata</vt:lpstr>
      <vt:lpstr>Samyak Gujarati</vt:lpstr>
      <vt:lpstr>Samyak Malayalam</vt:lpstr>
      <vt:lpstr>Ramaraja</vt:lpstr>
      <vt:lpstr>RaviPrakash</vt:lpstr>
      <vt:lpstr>Sawasdee</vt:lpstr>
      <vt:lpstr>Timmana</vt:lpstr>
      <vt:lpstr>Tlwg Typewriter</vt:lpstr>
      <vt:lpstr>URW Gothic</vt:lpstr>
      <vt:lpstr>URW Bookman</vt:lpstr>
      <vt:lpstr>Ubuntu</vt:lpstr>
      <vt:lpstr>AR PL UKai CN</vt:lpstr>
      <vt:lpstr>汉仪叶叶相思体简</vt:lpstr>
      <vt:lpstr>汉仪中圆B5</vt:lpstr>
      <vt:lpstr>AR PL UKai TW MBE</vt:lpstr>
      <vt:lpstr>AR PL UMing CN</vt:lpstr>
      <vt:lpstr>KacstFarsi</vt:lpstr>
      <vt:lpstr>方正仿宋_GBK</vt:lpstr>
      <vt:lpstr>Calibri</vt:lpstr>
      <vt:lpstr>Calibri</vt:lpstr>
      <vt:lpstr>FreeSerif</vt:lpstr>
      <vt:lpstr>Gayathri Thin</vt:lpstr>
      <vt:lpstr>aakar</vt:lpstr>
      <vt:lpstr>mry_KacstQurn</vt:lpstr>
      <vt:lpstr>KacstPoster</vt:lpstr>
      <vt:lpstr>Liberation Sans Narrow</vt:lpstr>
      <vt:lpstr>NTR</vt:lpstr>
      <vt:lpstr>Anek Tamil Expanded ExtraBold</vt:lpstr>
      <vt:lpstr>Anek Tamil Expanded SemiBold</vt:lpstr>
      <vt:lpstr>Anek Tamil Expanded Light</vt:lpstr>
      <vt:lpstr>Cambria</vt:lpstr>
      <vt:lpstr>Cambria</vt:lpstr>
      <vt:lpstr>Cambria</vt:lpstr>
      <vt:lpstr>东文宋体</vt:lpstr>
      <vt:lpstr>WPS</vt:lpstr>
      <vt:lpstr>自定义设计方案</vt:lpstr>
      <vt:lpstr>1_自定义设计方案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maxiaohan</cp:lastModifiedBy>
  <cp:revision>85</cp:revision>
  <dcterms:created xsi:type="dcterms:W3CDTF">2026-08-10T14:20:22Z</dcterms:created>
  <dcterms:modified xsi:type="dcterms:W3CDTF">2026-08-10T14:20:22Z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2052-12.1.2.22571</vt:lpwstr>
  </property>
  <property fmtid="{D5CDD505-2E9C-101B-9397-08002B2CF9AE}" pid="3" name="ICV">
    <vt:lpwstr>4C5BE1D3321C749C159A766AC0D3627C_41</vt:lpwstr>
  </property>
</Properties>
</file>