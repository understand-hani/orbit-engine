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</p:sldMasterIdLst>
  <p:notesMasterIdLst>
    <p:notesMasterId r:id="rId23"/>
  </p:notesMasterIdLst>
  <p:handoutMasterIdLst>
    <p:handoutMasterId r:id="rId24"/>
  </p:handoutMasterIdLst>
  <p:sldIdLst>
    <p:sldId id="256" r:id="rId12"/>
    <p:sldId id="272" r:id="rId13"/>
    <p:sldId id="262" r:id="rId14"/>
    <p:sldId id="261" r:id="rId15"/>
    <p:sldId id="264" r:id="rId16"/>
    <p:sldId id="282" r:id="rId17"/>
    <p:sldId id="270" r:id="rId18"/>
    <p:sldId id="273" r:id="rId19"/>
    <p:sldId id="271" r:id="rId20"/>
    <p:sldId id="274" r:id="rId21"/>
    <p:sldId id="269" r:id="rId2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5" userDrawn="1">
          <p15:clr>
            <a:srgbClr val="A4A3A4"/>
          </p15:clr>
        </p15:guide>
        <p15:guide id="2" pos="38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C8BA"/>
    <a:srgbClr val="A2C2BE"/>
    <a:srgbClr val="899CBC"/>
    <a:srgbClr val="E8AC9E"/>
    <a:srgbClr val="859BB4"/>
    <a:srgbClr val="C0392B"/>
    <a:srgbClr val="225BB7"/>
    <a:srgbClr val="0F8DA6"/>
    <a:srgbClr val="8E5BC8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5"/>
        <p:guide pos="384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11.xml"/><Relationship Id="rId21" Type="http://schemas.openxmlformats.org/officeDocument/2006/relationships/slide" Target="slides/slide10.xml"/><Relationship Id="rId20" Type="http://schemas.openxmlformats.org/officeDocument/2006/relationships/slide" Target="slides/slide9.xml"/><Relationship Id="rId2" Type="http://schemas.openxmlformats.org/officeDocument/2006/relationships/theme" Target="theme/theme1.xml"/><Relationship Id="rId19" Type="http://schemas.openxmlformats.org/officeDocument/2006/relationships/slide" Target="slides/slide8.xml"/><Relationship Id="rId18" Type="http://schemas.openxmlformats.org/officeDocument/2006/relationships/slide" Target="slides/slide7.xml"/><Relationship Id="rId17" Type="http://schemas.openxmlformats.org/officeDocument/2006/relationships/slide" Target="slides/slide6.xml"/><Relationship Id="rId16" Type="http://schemas.openxmlformats.org/officeDocument/2006/relationships/slide" Target="slides/slide5.xml"/><Relationship Id="rId15" Type="http://schemas.openxmlformats.org/officeDocument/2006/relationships/slide" Target="slides/slide4.xml"/><Relationship Id="rId14" Type="http://schemas.openxmlformats.org/officeDocument/2006/relationships/slide" Target="slides/slide3.xml"/><Relationship Id="rId13" Type="http://schemas.openxmlformats.org/officeDocument/2006/relationships/slide" Target="slides/slide2.xml"/><Relationship Id="rId12" Type="http://schemas.openxmlformats.org/officeDocument/2006/relationships/slide" Target="slides/slide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/>
          </p:cNvPicPr>
          <p:nvPr userDrawn="1"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3007995" y="10795"/>
            <a:ext cx="7039610" cy="7039610"/>
          </a:xfrm>
          <a:prstGeom prst="rect">
            <a:avLst/>
          </a:prstGeom>
        </p:spPr>
      </p:pic>
      <p:sp>
        <p:nvSpPr>
          <p:cNvPr id="13" name="椭圆 12"/>
          <p:cNvSpPr/>
          <p:nvPr userDrawn="1"/>
        </p:nvSpPr>
        <p:spPr>
          <a:xfrm>
            <a:off x="2514600" y="-399415"/>
            <a:ext cx="5505450" cy="5542915"/>
          </a:xfrm>
          <a:prstGeom prst="ellipse">
            <a:avLst/>
          </a:prstGeom>
          <a:solidFill>
            <a:srgbClr val="F4F1E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-1500000">
            <a:off x="2221865" y="2085340"/>
            <a:ext cx="7503795" cy="2461260"/>
          </a:xfrm>
          <a:prstGeom prst="rect">
            <a:avLst/>
          </a:prstGeom>
        </p:spPr>
      </p:pic>
      <p:pic>
        <p:nvPicPr>
          <p:cNvPr id="12" name="Picture 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-1860000">
            <a:off x="2242185" y="2092325"/>
            <a:ext cx="7463790" cy="24479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gradFill>
          <a:gsLst>
            <a:gs pos="51000">
              <a:srgbClr val="E4D8EE"/>
            </a:gs>
            <a:gs pos="0">
              <a:schemeClr val="accent6">
                <a:lumMod val="20000"/>
                <a:lumOff val="80000"/>
              </a:schemeClr>
            </a:gs>
            <a:gs pos="100000">
              <a:schemeClr val="accent2">
                <a:lumMod val="20000"/>
                <a:lumOff val="80000"/>
              </a:schemeClr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3" descr="a glowing gradient brush stroke "/>
          <p:cNvSpPr/>
          <p:nvPr userDrawn="1"/>
        </p:nvSpPr>
        <p:spPr>
          <a:xfrm rot="9007576">
            <a:off x="-2720340" y="1591310"/>
            <a:ext cx="7639685" cy="8204200"/>
          </a:xfrm>
          <a:custGeom>
            <a:avLst/>
            <a:gdLst/>
            <a:ahLst/>
            <a:cxnLst/>
            <a:rect l="l" t="t" r="r" b="b"/>
            <a:pathLst>
              <a:path w="10624840" h="12724359">
                <a:moveTo>
                  <a:pt x="0" y="0"/>
                </a:moveTo>
                <a:lnTo>
                  <a:pt x="10624840" y="0"/>
                </a:lnTo>
                <a:lnTo>
                  <a:pt x="10624840" y="12724359"/>
                </a:lnTo>
                <a:lnTo>
                  <a:pt x="0" y="127243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5000"/>
            </a:blip>
            <a:stretch>
              <a:fillRect/>
            </a:stretch>
          </a:blipFill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5" Type="http://schemas.openxmlformats.org/officeDocument/2006/relationships/theme" Target="../theme/theme3.xml"/><Relationship Id="rId4" Type="http://schemas.openxmlformats.org/officeDocument/2006/relationships/image" Target="../media/image9.png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Masters/_rels/slideMaster4.xml.rels><?xml version="1.0" encoding="UTF-8" standalone="yes"?>
<Relationships xmlns="http://schemas.openxmlformats.org/package/2006/relationships"><Relationship Id="rId6" Type="http://schemas.openxmlformats.org/officeDocument/2006/relationships/theme" Target="../theme/theme4.xml"/><Relationship Id="rId5" Type="http://schemas.openxmlformats.org/officeDocument/2006/relationships/image" Target="../media/image11.png"/><Relationship Id="rId4" Type="http://schemas.openxmlformats.org/officeDocument/2006/relationships/image" Target="../media/image6.svg"/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theme" Target="../theme/theme10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glowing gradient brush stroke"/>
          <p:cNvSpPr/>
          <p:nvPr userDrawn="1"/>
        </p:nvSpPr>
        <p:spPr>
          <a:xfrm>
            <a:off x="2698750" y="637540"/>
            <a:ext cx="6263640" cy="5582920"/>
          </a:xfrm>
          <a:custGeom>
            <a:avLst/>
            <a:gdLst/>
            <a:ahLst/>
            <a:cxnLst/>
            <a:rect l="l" t="t" r="r" b="b"/>
            <a:pathLst>
              <a:path w="8553310" h="8553310">
                <a:moveTo>
                  <a:pt x="0" y="0"/>
                </a:moveTo>
                <a:lnTo>
                  <a:pt x="8553310" y="0"/>
                </a:lnTo>
                <a:lnTo>
                  <a:pt x="8553310" y="8553310"/>
                </a:lnTo>
                <a:lnTo>
                  <a:pt x="0" y="85533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3"/>
          <p:cNvSpPr/>
          <p:nvPr userDrawn="1"/>
        </p:nvSpPr>
        <p:spPr>
          <a:xfrm rot="-2244769">
            <a:off x="7503160" y="-3639185"/>
            <a:ext cx="8134350" cy="8946515"/>
          </a:xfrm>
          <a:custGeom>
            <a:avLst/>
            <a:gdLst/>
            <a:ahLst/>
            <a:cxnLst/>
            <a:rect l="l" t="t" r="r" b="b"/>
            <a:pathLst>
              <a:path w="12326388" h="12824155">
                <a:moveTo>
                  <a:pt x="0" y="0"/>
                </a:moveTo>
                <a:lnTo>
                  <a:pt x="12326387" y="0"/>
                </a:lnTo>
                <a:lnTo>
                  <a:pt x="12326387" y="12824154"/>
                </a:lnTo>
                <a:lnTo>
                  <a:pt x="0" y="12824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r="-328"/>
            </a:stretch>
          </a:blipFill>
        </p:spPr>
      </p:sp>
      <p:sp>
        <p:nvSpPr>
          <p:cNvPr id="9" name="Freeform 4"/>
          <p:cNvSpPr/>
          <p:nvPr userDrawn="1"/>
        </p:nvSpPr>
        <p:spPr>
          <a:xfrm rot="1162109">
            <a:off x="-5512435" y="3198495"/>
            <a:ext cx="10259695" cy="7027545"/>
          </a:xfrm>
          <a:custGeom>
            <a:avLst/>
            <a:gdLst/>
            <a:ahLst/>
            <a:cxnLst/>
            <a:rect l="l" t="t" r="r" b="b"/>
            <a:pathLst>
              <a:path w="15657358" h="11677597">
                <a:moveTo>
                  <a:pt x="0" y="0"/>
                </a:moveTo>
                <a:lnTo>
                  <a:pt x="15657358" y="0"/>
                </a:lnTo>
                <a:lnTo>
                  <a:pt x="15657358" y="11677597"/>
                </a:lnTo>
                <a:lnTo>
                  <a:pt x="0" y="11677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94350"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rounded gradient shape"/>
          <p:cNvSpPr/>
          <p:nvPr userDrawn="1"/>
        </p:nvSpPr>
        <p:spPr>
          <a:xfrm>
            <a:off x="6096000" y="-3339465"/>
            <a:ext cx="10243185" cy="9320530"/>
          </a:xfrm>
          <a:custGeom>
            <a:avLst/>
            <a:gdLst/>
            <a:ahLst/>
            <a:cxnLst/>
            <a:rect l="l" t="t" r="r" b="b"/>
            <a:pathLst>
              <a:path w="15350424" h="15350424">
                <a:moveTo>
                  <a:pt x="0" y="0"/>
                </a:moveTo>
                <a:lnTo>
                  <a:pt x="15350424" y="0"/>
                </a:lnTo>
                <a:lnTo>
                  <a:pt x="15350424" y="15350424"/>
                </a:lnTo>
                <a:lnTo>
                  <a:pt x="0" y="153504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3"/>
          <p:cNvSpPr/>
          <p:nvPr userDrawn="1"/>
        </p:nvSpPr>
        <p:spPr>
          <a:xfrm>
            <a:off x="-5285105" y="-1374140"/>
            <a:ext cx="12105640" cy="10544175"/>
          </a:xfrm>
          <a:custGeom>
            <a:avLst/>
            <a:gdLst/>
            <a:ahLst/>
            <a:cxnLst/>
            <a:rect l="l" t="t" r="r" b="b"/>
            <a:pathLst>
              <a:path w="18963665" h="18299937">
                <a:moveTo>
                  <a:pt x="0" y="0"/>
                </a:moveTo>
                <a:lnTo>
                  <a:pt x="18963665" y="0"/>
                </a:lnTo>
                <a:lnTo>
                  <a:pt x="18963665" y="18299937"/>
                </a:lnTo>
                <a:lnTo>
                  <a:pt x="0" y="182999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0000"/>
            </a:blip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/>
          <p:cNvSpPr/>
          <p:nvPr userDrawn="1"/>
        </p:nvSpPr>
        <p:spPr>
          <a:xfrm rot="1386800">
            <a:off x="-4359275" y="-4234815"/>
            <a:ext cx="9654540" cy="11571605"/>
          </a:xfrm>
          <a:custGeom>
            <a:avLst/>
            <a:gdLst/>
            <a:ahLst/>
            <a:cxnLst/>
            <a:rect l="l" t="t" r="r" b="b"/>
            <a:pathLst>
              <a:path w="16785154" h="19718242">
                <a:moveTo>
                  <a:pt x="0" y="0"/>
                </a:moveTo>
                <a:lnTo>
                  <a:pt x="16785154" y="0"/>
                </a:lnTo>
                <a:lnTo>
                  <a:pt x="16785154" y="19718242"/>
                </a:lnTo>
                <a:lnTo>
                  <a:pt x="0" y="197182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Freeform 3" descr="a glowing gradient brush stroke"/>
          <p:cNvSpPr/>
          <p:nvPr userDrawn="1"/>
        </p:nvSpPr>
        <p:spPr>
          <a:xfrm>
            <a:off x="3216345" y="596335"/>
            <a:ext cx="5760000" cy="5760000"/>
          </a:xfrm>
          <a:custGeom>
            <a:avLst/>
            <a:gdLst/>
            <a:ahLst/>
            <a:cxnLst/>
            <a:rect l="l" t="t" r="r" b="b"/>
            <a:pathLst>
              <a:path w="8553310" h="8553310">
                <a:moveTo>
                  <a:pt x="0" y="0"/>
                </a:moveTo>
                <a:lnTo>
                  <a:pt x="8553310" y="0"/>
                </a:lnTo>
                <a:lnTo>
                  <a:pt x="8553310" y="8553310"/>
                </a:lnTo>
                <a:lnTo>
                  <a:pt x="0" y="85533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4"/>
          <p:cNvSpPr/>
          <p:nvPr userDrawn="1"/>
        </p:nvSpPr>
        <p:spPr>
          <a:xfrm rot="776759">
            <a:off x="9402445" y="2672715"/>
            <a:ext cx="7814310" cy="5801360"/>
          </a:xfrm>
          <a:custGeom>
            <a:avLst/>
            <a:gdLst/>
            <a:ahLst/>
            <a:cxnLst/>
            <a:rect l="l" t="t" r="r" b="b"/>
            <a:pathLst>
              <a:path w="12435485" h="11098670">
                <a:moveTo>
                  <a:pt x="0" y="0"/>
                </a:moveTo>
                <a:lnTo>
                  <a:pt x="12435485" y="0"/>
                </a:lnTo>
                <a:lnTo>
                  <a:pt x="12435485" y="11098671"/>
                </a:lnTo>
                <a:lnTo>
                  <a:pt x="0" y="11098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colorful glowing gradient brush stroke "/>
          <p:cNvSpPr/>
          <p:nvPr userDrawn="1"/>
        </p:nvSpPr>
        <p:spPr>
          <a:xfrm rot="6381568">
            <a:off x="8330565" y="-2060575"/>
            <a:ext cx="7562215" cy="10107930"/>
          </a:xfrm>
          <a:custGeom>
            <a:avLst/>
            <a:gdLst/>
            <a:ahLst/>
            <a:cxnLst/>
            <a:rect l="l" t="t" r="r" b="b"/>
            <a:pathLst>
              <a:path w="13067819" h="14379993">
                <a:moveTo>
                  <a:pt x="0" y="0"/>
                </a:moveTo>
                <a:lnTo>
                  <a:pt x="13067819" y="0"/>
                </a:lnTo>
                <a:lnTo>
                  <a:pt x="13067819" y="14379993"/>
                </a:lnTo>
                <a:lnTo>
                  <a:pt x="0" y="143799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glowing gradient brush stroke"/>
          <p:cNvSpPr/>
          <p:nvPr userDrawn="1"/>
        </p:nvSpPr>
        <p:spPr>
          <a:xfrm rot="337666">
            <a:off x="-909320" y="767080"/>
            <a:ext cx="12066270" cy="9935845"/>
          </a:xfrm>
          <a:custGeom>
            <a:avLst/>
            <a:gdLst/>
            <a:ahLst/>
            <a:cxnLst/>
            <a:rect l="l" t="t" r="r" b="b"/>
            <a:pathLst>
              <a:path w="18447884" h="15081145">
                <a:moveTo>
                  <a:pt x="0" y="0"/>
                </a:moveTo>
                <a:lnTo>
                  <a:pt x="18447883" y="0"/>
                </a:lnTo>
                <a:lnTo>
                  <a:pt x="18447883" y="15081145"/>
                </a:lnTo>
                <a:lnTo>
                  <a:pt x="0" y="15081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2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8236585" cy="617791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0" name="Picture 4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 rot="10800000" flipH="1">
            <a:off x="0" y="871220"/>
            <a:ext cx="14211300" cy="59867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9" name="Picture 2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630555" y="2211070"/>
            <a:ext cx="4273550" cy="4392295"/>
          </a:xfrm>
          <a:prstGeom prst="ellipse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2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-11430" y="0"/>
            <a:ext cx="9625965" cy="72199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27.svg"/><Relationship Id="rId7" Type="http://schemas.openxmlformats.org/officeDocument/2006/relationships/image" Target="../media/image26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1" Type="http://schemas.openxmlformats.org/officeDocument/2006/relationships/slideLayout" Target="../slideLayouts/slideLayout4.xml"/><Relationship Id="rId10" Type="http://schemas.openxmlformats.org/officeDocument/2006/relationships/image" Target="../media/image19.png"/><Relationship Id="rId1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3286125" y="2357120"/>
            <a:ext cx="608330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6000" b="1">
                <a:latin typeface="URW Gothic" panose="00000500000000000000" charset="0"/>
                <a:ea typeface="Noto Serif CJK KR Black" panose="02020900000000000000" charset="-122"/>
                <a:cs typeface="URW Gothic" panose="00000500000000000000" charset="0"/>
              </a:rPr>
              <a:t>Orbit Engine</a:t>
            </a:r>
            <a:endParaRPr lang="en-US" altLang="zh-CN" sz="6000" b="1">
              <a:latin typeface="URW Gothic" panose="00000500000000000000" charset="0"/>
              <a:ea typeface="Noto Serif CJK KR Black" panose="02020900000000000000" charset="-122"/>
              <a:cs typeface="URW Gothic" panose="00000500000000000000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67150" y="3371850"/>
            <a:ext cx="493077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800" b="1">
                <a:latin typeface="URW Gothic" panose="00000500000000000000" charset="0"/>
                <a:ea typeface="Noto Serif CJK KR Black" panose="02020900000000000000" charset="-122"/>
                <a:cs typeface="URW Gothic" panose="00000500000000000000" charset="0"/>
              </a:rPr>
              <a:t>圆周引擎</a:t>
            </a:r>
            <a:endParaRPr lang="zh-CN" altLang="en-US" sz="4800" b="1">
              <a:latin typeface="URW Gothic" panose="00000500000000000000" charset="0"/>
              <a:ea typeface="Noto Serif CJK KR Black" panose="02020900000000000000" charset="-122"/>
              <a:cs typeface="URW Gothic" panose="00000500000000000000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25955" y="439420"/>
            <a:ext cx="86868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n-ea"/>
                <a:cs typeface="+mn-ea"/>
              </a:rPr>
              <a:t>面向任意专业领域的周期性成长 Agent</a:t>
            </a:r>
            <a:endParaRPr lang="en-US" sz="1600" b="1" dirty="0">
              <a:solidFill>
                <a:schemeClr val="tx1"/>
              </a:solidFill>
              <a:latin typeface="+mn-ea"/>
              <a:cs typeface="+mn-ea"/>
            </a:endParaRPr>
          </a:p>
        </p:txBody>
      </p:sp>
      <p:sp>
        <p:nvSpPr>
          <p:cNvPr id="6" name="Text 8"/>
          <p:cNvSpPr/>
          <p:nvPr/>
        </p:nvSpPr>
        <p:spPr>
          <a:xfrm>
            <a:off x="1925955" y="782320"/>
            <a:ext cx="8686800" cy="41148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+mn-ea"/>
                <a:cs typeface="+mn-ea"/>
              </a:rPr>
              <a:t>每一次循环，都在积累前进的动能 — Every cycle builds momentum.</a:t>
            </a:r>
            <a:endParaRPr lang="en-US" sz="1200" b="1" dirty="0">
              <a:solidFill>
                <a:schemeClr val="tx1"/>
              </a:solidFill>
              <a:latin typeface="+mn-ea"/>
              <a:cs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301240" y="5490210"/>
            <a:ext cx="7589520" cy="10515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40000"/>
              </a:lnSpc>
              <a:buNone/>
            </a:pP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赛道方向：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AI + Education（成人职业技能教育 Agent）
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团队名称：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圆周引擎  |  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提交日期：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2026.08.16
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团队成员：</a:t>
            </a:r>
            <a:r>
              <a:rPr lang="zh-CN" altLang="en-US" sz="1300" b="1" dirty="0">
                <a:solidFill>
                  <a:schemeClr val="tx1"/>
                </a:solidFill>
                <a:latin typeface="Calibri" charset="0"/>
                <a:ea typeface="宋体" charset="0"/>
                <a:cs typeface="Calibri" pitchFamily="34" charset="-120"/>
              </a:rPr>
              <a:t>马小涵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 · 独立开发者（负责产品 / 架构 / 全栈开发）</a:t>
            </a:r>
            <a:endParaRPr lang="en-US" sz="1300" dirty="0">
              <a:solidFill>
                <a:schemeClr val="tx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25755" y="274320"/>
            <a:ext cx="4124960" cy="3657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300" b="1" kern="0" spc="150" dirty="0">
                <a:solidFill>
                  <a:srgbClr val="FFB00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GOAI 世界人工智能开源大赛 · 无界应用赛道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0320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无界应用</a:t>
            </a: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Boundless Agents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赛道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46760"/>
            <a:ext cx="54006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真实场景、可运行闭环、工具</a:t>
            </a:r>
            <a:r>
              <a:rPr lang="en-US" altLang="zh-CN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知识增强、反馈验证和合规边界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909310" y="2766060"/>
            <a:ext cx="5069840" cy="98488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7" name="Shape 4"/>
          <p:cNvSpPr/>
          <p:nvPr/>
        </p:nvSpPr>
        <p:spPr>
          <a:xfrm>
            <a:off x="5909310" y="2776855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D08490">
              <a:alpha val="40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6073902" y="2810383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真实行业场景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57900" y="3297555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成人技术从业者需要</a:t>
            </a: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在工作之外持续跟踪研究、岗位和领域机会。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08675" y="1558925"/>
            <a:ext cx="5069840" cy="98107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12" name="Shape 4"/>
          <p:cNvSpPr/>
          <p:nvPr/>
        </p:nvSpPr>
        <p:spPr>
          <a:xfrm>
            <a:off x="5908675" y="1558925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DE897E">
              <a:alpha val="40000"/>
            </a:srgbClr>
          </a:solidFill>
        </p:spPr>
      </p:sp>
      <p:sp>
        <p:nvSpPr>
          <p:cNvPr id="13" name="Text 6"/>
          <p:cNvSpPr/>
          <p:nvPr/>
        </p:nvSpPr>
        <p:spPr>
          <a:xfrm>
            <a:off x="6073267" y="1592453"/>
            <a:ext cx="2322576" cy="3840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buClrTx/>
              <a:buSzTx/>
              <a:buFont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不是通用聊天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14" name="Text 8"/>
          <p:cNvSpPr/>
          <p:nvPr/>
        </p:nvSpPr>
        <p:spPr>
          <a:xfrm>
            <a:off x="6057265" y="2079625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产品入口</a:t>
            </a: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不是空白对话框，而是按周节奏生成可执行 session。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24" name="Shape 3"/>
          <p:cNvSpPr/>
          <p:nvPr/>
        </p:nvSpPr>
        <p:spPr>
          <a:xfrm>
            <a:off x="5909945" y="3994785"/>
            <a:ext cx="5069840" cy="100520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5" name="Shape 4"/>
          <p:cNvSpPr/>
          <p:nvPr/>
        </p:nvSpPr>
        <p:spPr>
          <a:xfrm>
            <a:off x="5909945" y="4005580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BD83A7">
              <a:alpha val="40000"/>
            </a:srgbClr>
          </a:solidFill>
        </p:spPr>
      </p:sp>
      <p:sp>
        <p:nvSpPr>
          <p:cNvPr id="26" name="Text 6"/>
          <p:cNvSpPr/>
          <p:nvPr/>
        </p:nvSpPr>
        <p:spPr>
          <a:xfrm>
            <a:off x="6074537" y="403910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可验证闭环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7" name="Text 8"/>
          <p:cNvSpPr/>
          <p:nvPr/>
        </p:nvSpPr>
        <p:spPr>
          <a:xfrm>
            <a:off x="6058535" y="4536440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Deep Dive 从材料选择到打卡归档，完成状态和 History 可被检查。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5914390" y="5252085"/>
            <a:ext cx="5069840" cy="1104900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9" name="Shape 4"/>
          <p:cNvSpPr/>
          <p:nvPr/>
        </p:nvSpPr>
        <p:spPr>
          <a:xfrm>
            <a:off x="5914390" y="5262880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A786C1">
              <a:alpha val="40000"/>
            </a:srgbClr>
          </a:solidFill>
        </p:spPr>
      </p:sp>
      <p:sp>
        <p:nvSpPr>
          <p:cNvPr id="30" name="Text 6"/>
          <p:cNvSpPr/>
          <p:nvPr/>
        </p:nvSpPr>
        <p:spPr>
          <a:xfrm>
            <a:off x="6078982" y="529640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可复用模板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1" name="Text 8"/>
          <p:cNvSpPr/>
          <p:nvPr/>
        </p:nvSpPr>
        <p:spPr>
          <a:xfrm>
            <a:off x="5996305" y="5742940"/>
            <a:ext cx="4921250" cy="58293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Radar / Deep Dive / Opportunity Alignment / Weekly Studio 可映射到多个领域。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32" name="Text 1"/>
          <p:cNvSpPr/>
          <p:nvPr/>
        </p:nvSpPr>
        <p:spPr>
          <a:xfrm>
            <a:off x="793115" y="2701290"/>
            <a:ext cx="3970655" cy="1111885"/>
          </a:xfrm>
          <a:prstGeom prst="rect">
            <a:avLst/>
          </a:prstGeom>
          <a:noFill/>
        </p:spPr>
        <p:txBody>
          <a:bodyPr wrap="square" rtlCol="0" anchor="ctr"/>
          <a:p>
            <a:pPr indent="0" algn="ctr" fontAlgn="auto">
              <a:lnSpc>
                <a:spcPct val="130000"/>
              </a:lnSpc>
              <a:buNone/>
            </a:pPr>
            <a:r>
              <a:rPr lang="zh-CN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为什么适合</a:t>
            </a:r>
            <a:endParaRPr lang="zh-CN" altLang="en-US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  <a:p>
            <a:pPr indent="0" algn="ctr" fontAlgn="auto">
              <a:lnSpc>
                <a:spcPct val="130000"/>
              </a:lnSpc>
              <a:buNone/>
            </a:pPr>
            <a:r>
              <a:rPr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Boundless Agents?</a:t>
            </a:r>
            <a:endParaRPr lang="en-US" altLang="zh-CN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cxnSp>
        <p:nvCxnSpPr>
          <p:cNvPr id="35" name="曲线连接符 34"/>
          <p:cNvCxnSpPr>
            <a:stCxn id="32" idx="3"/>
            <a:endCxn id="12" idx="1"/>
          </p:cNvCxnSpPr>
          <p:nvPr/>
        </p:nvCxnSpPr>
        <p:spPr>
          <a:xfrm flipV="1">
            <a:off x="4763770" y="1786890"/>
            <a:ext cx="1144905" cy="1470660"/>
          </a:xfrm>
          <a:prstGeom prst="curvedConnector3">
            <a:avLst>
              <a:gd name="adj1" fmla="val 50028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曲线连接符 36"/>
          <p:cNvCxnSpPr>
            <a:stCxn id="32" idx="3"/>
            <a:endCxn id="7" idx="1"/>
          </p:cNvCxnSpPr>
          <p:nvPr/>
        </p:nvCxnSpPr>
        <p:spPr>
          <a:xfrm flipV="1">
            <a:off x="4763770" y="3004820"/>
            <a:ext cx="1145540" cy="252730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曲线连接符 37"/>
          <p:cNvCxnSpPr>
            <a:stCxn id="32" idx="3"/>
            <a:endCxn id="25" idx="1"/>
          </p:cNvCxnSpPr>
          <p:nvPr/>
        </p:nvCxnSpPr>
        <p:spPr>
          <a:xfrm>
            <a:off x="4763770" y="3257550"/>
            <a:ext cx="1146175" cy="975995"/>
          </a:xfrm>
          <a:prstGeom prst="curvedConnector3">
            <a:avLst>
              <a:gd name="adj1" fmla="val 50028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曲线连接符 38"/>
          <p:cNvCxnSpPr>
            <a:stCxn id="32" idx="3"/>
            <a:endCxn id="29" idx="1"/>
          </p:cNvCxnSpPr>
          <p:nvPr/>
        </p:nvCxnSpPr>
        <p:spPr>
          <a:xfrm>
            <a:off x="4763770" y="3257550"/>
            <a:ext cx="1150620" cy="2233295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Rounded Rectangle 7"/>
          <p:cNvSpPr/>
          <p:nvPr/>
        </p:nvSpPr>
        <p:spPr>
          <a:xfrm>
            <a:off x="1384935" y="4074795"/>
            <a:ext cx="2831465" cy="274320"/>
          </a:xfrm>
          <a:prstGeom prst="roundRect">
            <a:avLst/>
          </a:prstGeom>
          <a:solidFill>
            <a:srgbClr val="225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1" name="TextBox 8"/>
          <p:cNvSpPr txBox="1"/>
          <p:nvPr/>
        </p:nvSpPr>
        <p:spPr>
          <a:xfrm>
            <a:off x="1496568" y="4094734"/>
            <a:ext cx="260604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AI + Education / Vocational Education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43" name="Rounded Rectangle 9"/>
          <p:cNvSpPr/>
          <p:nvPr/>
        </p:nvSpPr>
        <p:spPr>
          <a:xfrm>
            <a:off x="1382395" y="4502277"/>
            <a:ext cx="1417320" cy="274320"/>
          </a:xfrm>
          <a:prstGeom prst="roundRect">
            <a:avLst/>
          </a:prstGeom>
          <a:solidFill>
            <a:srgbClr val="0F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4" name="TextBox 10"/>
          <p:cNvSpPr txBox="1"/>
          <p:nvPr/>
        </p:nvSpPr>
        <p:spPr>
          <a:xfrm>
            <a:off x="1382395" y="4522089"/>
            <a:ext cx="141732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Closed-loop Agent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45" name="Rounded Rectangle 11"/>
          <p:cNvSpPr/>
          <p:nvPr/>
        </p:nvSpPr>
        <p:spPr>
          <a:xfrm>
            <a:off x="2982595" y="4502277"/>
            <a:ext cx="1234440" cy="274320"/>
          </a:xfrm>
          <a:prstGeom prst="roundRect">
            <a:avLst/>
          </a:prstGeom>
          <a:solidFill>
            <a:srgbClr val="4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6" name="TextBox 12"/>
          <p:cNvSpPr txBox="1"/>
          <p:nvPr/>
        </p:nvSpPr>
        <p:spPr>
          <a:xfrm>
            <a:off x="2982595" y="4522089"/>
            <a:ext cx="123444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Runnable Demo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Freeform 9"/>
          <p:cNvSpPr/>
          <p:nvPr/>
        </p:nvSpPr>
        <p:spPr>
          <a:xfrm>
            <a:off x="548640" y="1967865"/>
            <a:ext cx="4369435" cy="4354195"/>
          </a:xfrm>
          <a:custGeom>
            <a:avLst/>
            <a:gdLst/>
            <a:ahLst/>
            <a:cxnLst/>
            <a:rect l="l" t="t" r="r" b="b"/>
            <a:pathLst>
              <a:path w="4052466" h="4546106">
                <a:moveTo>
                  <a:pt x="3928006" y="4546106"/>
                </a:moveTo>
                <a:lnTo>
                  <a:pt x="124460" y="4546106"/>
                </a:lnTo>
                <a:cubicBezTo>
                  <a:pt x="55880" y="4546106"/>
                  <a:pt x="0" y="4490226"/>
                  <a:pt x="0" y="4421646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3928006" y="0"/>
                </a:lnTo>
                <a:cubicBezTo>
                  <a:pt x="3996586" y="0"/>
                  <a:pt x="4052466" y="55880"/>
                  <a:pt x="4052466" y="124460"/>
                </a:cubicBezTo>
                <a:lnTo>
                  <a:pt x="4052466" y="4421646"/>
                </a:lnTo>
                <a:cubicBezTo>
                  <a:pt x="4052466" y="4490226"/>
                  <a:pt x="3996586" y="4546106"/>
                  <a:pt x="3928006" y="4546106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</p:spPr>
      </p:sp>
      <p:sp>
        <p:nvSpPr>
          <p:cNvPr id="6" name="Shape 3"/>
          <p:cNvSpPr/>
          <p:nvPr/>
        </p:nvSpPr>
        <p:spPr>
          <a:xfrm>
            <a:off x="763270" y="2178050"/>
            <a:ext cx="3945255" cy="3949065"/>
          </a:xfrm>
          <a:prstGeom prst="roundRect">
            <a:avLst>
              <a:gd name="adj" fmla="val 4138"/>
            </a:avLst>
          </a:prstGeom>
          <a:solidFill>
            <a:schemeClr val="bg1">
              <a:alpha val="40000"/>
            </a:schemeClr>
          </a:solidFill>
        </p:spPr>
      </p:sp>
      <p:sp>
        <p:nvSpPr>
          <p:cNvPr id="15" name="Text 1"/>
          <p:cNvSpPr/>
          <p:nvPr/>
        </p:nvSpPr>
        <p:spPr>
          <a:xfrm>
            <a:off x="548640" y="86868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真正的阻力，不是缺计划</a:t>
            </a:r>
            <a:endParaRPr 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1405890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而是每一次行动开始之前，反复出现的决策与筛选成本</a:t>
            </a:r>
            <a:endParaRPr 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0" name="Text 6"/>
          <p:cNvSpPr/>
          <p:nvPr/>
        </p:nvSpPr>
        <p:spPr>
          <a:xfrm>
            <a:off x="773430" y="4036695"/>
            <a:ext cx="3945255" cy="17373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E7696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典型用户在开始一次学习/探索行动前，花在</a:t>
            </a:r>
            <a:endParaRPr lang="en-US" sz="1400" b="1" dirty="0">
              <a:solidFill>
                <a:srgbClr val="6E7696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en-US" sz="140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今天该做什么、去哪找材料、值不值得看</a:t>
            </a: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b="1" dirty="0">
              <a:solidFill>
                <a:schemeClr val="accent1">
                  <a:lumMod val="50000"/>
                </a:schemeClr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  <a:p>
            <a:pPr marL="0" algn="ctr">
              <a:lnSpc>
                <a:spcPct val="130000"/>
              </a:lnSpc>
              <a:buClrTx/>
              <a:buSzTx/>
              <a:buNone/>
            </a:pPr>
            <a:r>
              <a:rPr lang="en-US" sz="1400" b="1" dirty="0">
                <a:solidFill>
                  <a:srgbClr val="6E7696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这类决策上的时间</a:t>
            </a:r>
            <a:endParaRPr lang="en-US" sz="1400" b="1" dirty="0">
              <a:solidFill>
                <a:srgbClr val="6E7696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666240" y="2376170"/>
            <a:ext cx="2282825" cy="1660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50000"/>
              </a:lnSpc>
            </a:pPr>
            <a:r>
              <a:rPr lang="en-US" altLang="zh-CN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30</a:t>
            </a:r>
            <a:r>
              <a:rPr lang="zh-CN" altLang="en-US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～</a:t>
            </a:r>
            <a:r>
              <a:rPr lang="en-US" altLang="zh-CN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60</a:t>
            </a:r>
            <a:endParaRPr lang="en-US" altLang="zh-CN" sz="4400" b="1">
              <a:latin typeface="Noto Serif CJK KR Black" panose="02020900000000000000" charset="-122"/>
              <a:ea typeface="Noto Serif CJK KR Black" panose="02020900000000000000" charset="-122"/>
              <a:cs typeface="Noto Serif CJK KR Black" panose="02020900000000000000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400" b="1"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分钟</a:t>
            </a:r>
            <a:endParaRPr lang="zh-CN" altLang="en-US" sz="2400" b="1">
              <a:latin typeface="Noto Serif CJK KR Black" panose="02020900000000000000" charset="-122"/>
              <a:ea typeface="Noto Serif CJK KR Black" panose="02020900000000000000" charset="-122"/>
              <a:cs typeface="Noto Serif CJK KR Black" panose="02020900000000000000" charset="-122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5953760" y="2188845"/>
            <a:ext cx="5051425" cy="912495"/>
            <a:chOff x="9376" y="3447"/>
            <a:chExt cx="7955" cy="1437"/>
          </a:xfrm>
        </p:grpSpPr>
        <p:sp>
          <p:nvSpPr>
            <p:cNvPr id="27" name="Shape 7"/>
            <p:cNvSpPr/>
            <p:nvPr/>
          </p:nvSpPr>
          <p:spPr>
            <a:xfrm>
              <a:off x="9376" y="350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1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29" name="Text 9"/>
            <p:cNvSpPr/>
            <p:nvPr/>
          </p:nvSpPr>
          <p:spPr>
            <a:xfrm>
              <a:off x="10217" y="344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决策疲劳</a:t>
              </a:r>
              <a:endParaRPr 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30" name="Text 10"/>
            <p:cNvSpPr/>
            <p:nvPr/>
          </p:nvSpPr>
          <p:spPr>
            <a:xfrm>
              <a:off x="10217" y="3948"/>
              <a:ext cx="7115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每次开始前都要重新决定“今天做什么”，启动成本消耗在决策上，而非执行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5953760" y="3246120"/>
            <a:ext cx="5051425" cy="912495"/>
            <a:chOff x="9376" y="5037"/>
            <a:chExt cx="7955" cy="1437"/>
          </a:xfrm>
        </p:grpSpPr>
        <p:sp>
          <p:nvSpPr>
            <p:cNvPr id="31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2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2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筛选负担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33" name="Text 10"/>
            <p:cNvSpPr/>
            <p:nvPr/>
          </p:nvSpPr>
          <p:spPr>
            <a:xfrm>
              <a:off x="10217" y="5538"/>
              <a:ext cx="7115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需要自己搜索、比较、判断材料是否值得看，信息噪音掩盖了真正有价值的内容。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5953760" y="4305300"/>
            <a:ext cx="5160010" cy="715645"/>
            <a:chOff x="9376" y="5037"/>
            <a:chExt cx="8126" cy="1127"/>
          </a:xfrm>
        </p:grpSpPr>
        <p:sp>
          <p:nvSpPr>
            <p:cNvPr id="38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3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9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粒度错位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40" name="Text 10"/>
            <p:cNvSpPr/>
            <p:nvPr/>
          </p:nvSpPr>
          <p:spPr>
            <a:xfrm>
              <a:off x="10217" y="5469"/>
              <a:ext cx="7285" cy="69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计划停留在</a:t>
              </a:r>
              <a:r>
                <a:rPr lang="en-US" alt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“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这周要学</a:t>
              </a:r>
              <a:r>
                <a:rPr lang="en-US" alt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 xxx”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层面，缺少可以直接执行的任务单元。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953760" y="5168265"/>
            <a:ext cx="5160010" cy="807085"/>
            <a:chOff x="9376" y="5037"/>
            <a:chExt cx="8126" cy="1271"/>
          </a:xfrm>
        </p:grpSpPr>
        <p:sp>
          <p:nvSpPr>
            <p:cNvPr id="42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4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43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沉淀断层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44" name="Text 10"/>
            <p:cNvSpPr/>
            <p:nvPr/>
          </p:nvSpPr>
          <p:spPr>
            <a:xfrm>
              <a:off x="10217" y="5613"/>
              <a:ext cx="7285" cy="69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学习与观察的结果没有形成持续记录，无法回看进展，也无法反哺能力判断。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pic>
        <p:nvPicPr>
          <p:cNvPr id="46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482600"/>
            <a:ext cx="10821035" cy="18415"/>
          </a:xfrm>
          <a:prstGeom prst="rect">
            <a:avLst/>
          </a:prstGeom>
        </p:spPr>
      </p:pic>
      <p:pic>
        <p:nvPicPr>
          <p:cNvPr id="47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800735"/>
            <a:ext cx="10821035" cy="18415"/>
          </a:xfrm>
          <a:prstGeom prst="rect">
            <a:avLst/>
          </a:prstGeom>
        </p:spPr>
      </p:pic>
      <p:pic>
        <p:nvPicPr>
          <p:cNvPr id="48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8175"/>
            <a:ext cx="309245" cy="15875"/>
          </a:xfrm>
          <a:prstGeom prst="rect">
            <a:avLst/>
          </a:prstGeom>
        </p:spPr>
      </p:pic>
      <p:pic>
        <p:nvPicPr>
          <p:cNvPr id="49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8175"/>
            <a:ext cx="309245" cy="15875"/>
          </a:xfrm>
          <a:prstGeom prst="rect">
            <a:avLst/>
          </a:prstGeom>
        </p:spPr>
      </p:pic>
      <p:pic>
        <p:nvPicPr>
          <p:cNvPr id="50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8175"/>
            <a:ext cx="309245" cy="15875"/>
          </a:xfrm>
          <a:prstGeom prst="rect">
            <a:avLst/>
          </a:prstGeom>
        </p:spPr>
      </p:pic>
      <p:sp>
        <p:nvSpPr>
          <p:cNvPr id="51" name="TextBox 12"/>
          <p:cNvSpPr txBox="1"/>
          <p:nvPr userDrawn="1"/>
        </p:nvSpPr>
        <p:spPr>
          <a:xfrm>
            <a:off x="11113770" y="56451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02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52" name="文本框 51"/>
          <p:cNvSpPr txBox="1"/>
          <p:nvPr userDrawn="1"/>
        </p:nvSpPr>
        <p:spPr>
          <a:xfrm>
            <a:off x="5519420" y="52832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53" name="文本框 52"/>
          <p:cNvSpPr txBox="1"/>
          <p:nvPr userDrawn="1"/>
        </p:nvSpPr>
        <p:spPr>
          <a:xfrm>
            <a:off x="1997075" y="52451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54" name="文本框 53"/>
          <p:cNvSpPr txBox="1"/>
          <p:nvPr userDrawn="1"/>
        </p:nvSpPr>
        <p:spPr>
          <a:xfrm>
            <a:off x="508000" y="52832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01 Problem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Freeform 9"/>
          <p:cNvSpPr/>
          <p:nvPr/>
        </p:nvSpPr>
        <p:spPr>
          <a:xfrm>
            <a:off x="548640" y="2000885"/>
            <a:ext cx="10781030" cy="4039870"/>
          </a:xfrm>
          <a:custGeom>
            <a:avLst/>
            <a:gdLst/>
            <a:ahLst/>
            <a:cxnLst/>
            <a:rect l="l" t="t" r="r" b="b"/>
            <a:pathLst>
              <a:path w="4052466" h="4546106">
                <a:moveTo>
                  <a:pt x="3928006" y="4546106"/>
                </a:moveTo>
                <a:lnTo>
                  <a:pt x="124460" y="4546106"/>
                </a:lnTo>
                <a:cubicBezTo>
                  <a:pt x="55880" y="4546106"/>
                  <a:pt x="0" y="4490226"/>
                  <a:pt x="0" y="4421646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3928006" y="0"/>
                </a:lnTo>
                <a:cubicBezTo>
                  <a:pt x="3996586" y="0"/>
                  <a:pt x="4052466" y="55880"/>
                  <a:pt x="4052466" y="124460"/>
                </a:cubicBezTo>
                <a:lnTo>
                  <a:pt x="4052466" y="4421646"/>
                </a:lnTo>
                <a:cubicBezTo>
                  <a:pt x="4052466" y="4490226"/>
                  <a:pt x="3996586" y="4546106"/>
                  <a:pt x="3928006" y="4546106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</p:spPr>
      </p:sp>
      <p:sp>
        <p:nvSpPr>
          <p:cNvPr id="13" name="Freeform 4" descr="a white circle"/>
          <p:cNvSpPr/>
          <p:nvPr/>
        </p:nvSpPr>
        <p:spPr>
          <a:xfrm>
            <a:off x="944245" y="1026961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FFFF">
              <a:alpha val="40000"/>
            </a:srgbClr>
          </a:solidFill>
        </p:spPr>
      </p:sp>
      <p:sp>
        <p:nvSpPr>
          <p:cNvPr id="15" name="Text 5"/>
          <p:cNvSpPr/>
          <p:nvPr/>
        </p:nvSpPr>
        <p:spPr>
          <a:xfrm>
            <a:off x="1981200" y="1118870"/>
            <a:ext cx="3366770" cy="332105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处于职业方向探索期的</a:t>
            </a:r>
            <a:r>
              <a:rPr lang="en-US" sz="1600" b="1" dirty="0">
                <a:solidFill>
                  <a:srgbClr val="11142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技术从业者</a:t>
            </a:r>
            <a:endParaRPr lang="en-U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erif CJK KR Black" panose="02020900000000000000" charset="-122"/>
              <a:ea typeface="Noto Serif CJK KR Black" panose="02020900000000000000" charset="-122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1168400" y="4636135"/>
            <a:ext cx="3876040" cy="594360"/>
            <a:chOff x="1209" y="6804"/>
            <a:chExt cx="6104" cy="936"/>
          </a:xfrm>
        </p:grpSpPr>
        <p:sp>
          <p:nvSpPr>
            <p:cNvPr id="18" name="Text 10"/>
            <p:cNvSpPr/>
            <p:nvPr/>
          </p:nvSpPr>
          <p:spPr>
            <a:xfrm>
              <a:off x="1683" y="6804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希望市场感知与能力建设并行，而非临时抱佛脚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3" name="Freeform 4" descr="an icon of a lightbulb"/>
            <p:cNvSpPr/>
            <p:nvPr/>
          </p:nvSpPr>
          <p:spPr>
            <a:xfrm>
              <a:off x="1209" y="7030"/>
              <a:ext cx="340" cy="454"/>
            </a:xfrm>
            <a:custGeom>
              <a:avLst/>
              <a:gdLst/>
              <a:ahLst/>
              <a:cxnLst/>
              <a:rect l="l" t="t" r="r" b="b"/>
              <a:pathLst>
                <a:path w="715320" h="910708">
                  <a:moveTo>
                    <a:pt x="0" y="0"/>
                  </a:moveTo>
                  <a:lnTo>
                    <a:pt x="715320" y="0"/>
                  </a:lnTo>
                  <a:lnTo>
                    <a:pt x="715320" y="910709"/>
                  </a:lnTo>
                  <a:lnTo>
                    <a:pt x="0" y="910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6" name="组合 25"/>
          <p:cNvGrpSpPr/>
          <p:nvPr/>
        </p:nvGrpSpPr>
        <p:grpSpPr>
          <a:xfrm>
            <a:off x="1144905" y="2131060"/>
            <a:ext cx="3899535" cy="594360"/>
            <a:chOff x="1172" y="4932"/>
            <a:chExt cx="6141" cy="936"/>
          </a:xfrm>
        </p:grpSpPr>
        <p:sp>
          <p:nvSpPr>
            <p:cNvPr id="30" name="Text 10"/>
            <p:cNvSpPr/>
            <p:nvPr/>
          </p:nvSpPr>
          <p:spPr>
            <a:xfrm>
              <a:off x="1683" y="4932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希望在特定方向保持持续成长和技术敏感度</a:t>
              </a:r>
              <a:endParaRPr 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4" name="Freeform 5" descr="an icon of a person with a tie"/>
            <p:cNvSpPr/>
            <p:nvPr/>
          </p:nvSpPr>
          <p:spPr>
            <a:xfrm>
              <a:off x="1172" y="5145"/>
              <a:ext cx="510" cy="510"/>
            </a:xfrm>
            <a:custGeom>
              <a:avLst/>
              <a:gdLst/>
              <a:ahLst/>
              <a:cxnLst/>
              <a:rect l="l" t="t" r="r" b="b"/>
              <a:pathLst>
                <a:path w="859377" h="910708">
                  <a:moveTo>
                    <a:pt x="0" y="0"/>
                  </a:moveTo>
                  <a:lnTo>
                    <a:pt x="859378" y="0"/>
                  </a:lnTo>
                  <a:lnTo>
                    <a:pt x="859378" y="910709"/>
                  </a:lnTo>
                  <a:lnTo>
                    <a:pt x="0" y="910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9" name="组合 28"/>
          <p:cNvGrpSpPr/>
          <p:nvPr/>
        </p:nvGrpSpPr>
        <p:grpSpPr>
          <a:xfrm>
            <a:off x="1144905" y="5383530"/>
            <a:ext cx="3898900" cy="594360"/>
            <a:chOff x="1174" y="7740"/>
            <a:chExt cx="6140" cy="936"/>
          </a:xfrm>
        </p:grpSpPr>
        <p:sp>
          <p:nvSpPr>
            <p:cNvPr id="21" name="Text 10"/>
            <p:cNvSpPr/>
            <p:nvPr/>
          </p:nvSpPr>
          <p:spPr>
            <a:xfrm>
              <a:off x="1683" y="7740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碎片时间是主要使用场景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5" name="Freeform 6" descr="an icon of a thumbs-up hand"/>
            <p:cNvSpPr/>
            <p:nvPr/>
          </p:nvSpPr>
          <p:spPr>
            <a:xfrm>
              <a:off x="1174" y="7914"/>
              <a:ext cx="510" cy="510"/>
            </a:xfrm>
            <a:custGeom>
              <a:avLst/>
              <a:gdLst/>
              <a:ahLst/>
              <a:cxnLst/>
              <a:rect l="l" t="t" r="r" b="b"/>
              <a:pathLst>
                <a:path w="910708" h="841163">
                  <a:moveTo>
                    <a:pt x="0" y="0"/>
                  </a:moveTo>
                  <a:lnTo>
                    <a:pt x="910708" y="0"/>
                  </a:lnTo>
                  <a:lnTo>
                    <a:pt x="910708" y="841163"/>
                  </a:lnTo>
                  <a:lnTo>
                    <a:pt x="0" y="8411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33" name="组合 32"/>
          <p:cNvGrpSpPr/>
          <p:nvPr/>
        </p:nvGrpSpPr>
        <p:grpSpPr>
          <a:xfrm>
            <a:off x="1146175" y="2734310"/>
            <a:ext cx="3898900" cy="838200"/>
            <a:chOff x="1279" y="5662"/>
            <a:chExt cx="6140" cy="1320"/>
          </a:xfrm>
        </p:grpSpPr>
        <p:grpSp>
          <p:nvGrpSpPr>
            <p:cNvPr id="27" name="组合 26"/>
            <p:cNvGrpSpPr/>
            <p:nvPr/>
          </p:nvGrpSpPr>
          <p:grpSpPr>
            <a:xfrm>
              <a:off x="1279" y="5662"/>
              <a:ext cx="6140" cy="936"/>
              <a:chOff x="1174" y="5868"/>
              <a:chExt cx="6140" cy="936"/>
            </a:xfrm>
          </p:grpSpPr>
          <p:sp>
            <p:nvSpPr>
              <p:cNvPr id="17" name="Text 10"/>
              <p:cNvSpPr/>
              <p:nvPr/>
            </p:nvSpPr>
            <p:spPr>
              <a:xfrm>
                <a:off x="1683" y="5868"/>
                <a:ext cx="5631" cy="936"/>
              </a:xfrm>
              <a:prstGeom prst="rect">
                <a:avLst/>
              </a:prstGeom>
              <a:noFill/>
            </p:spPr>
            <p:txBody>
              <a:bodyPr wrap="square" rtlCol="0" anchor="ctr"/>
              <a:p>
                <a:pPr marL="0" indent="0">
                  <a:lnSpc>
                    <a:spcPct val="125000"/>
                  </a:lnSpc>
                  <a:buNone/>
                </a:pPr>
                <a:r>
                  <a:rPr lang="zh-CN" altLang="en-US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缺的不是学习资源</a:t>
                </a:r>
                <a:r>
                  <a:rPr lang="en-US" altLang="zh-CN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,</a:t>
                </a:r>
                <a:r>
                  <a:rPr lang="zh-CN" altLang="en-US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而是筛选判断的确定感</a:t>
                </a:r>
                <a:endPara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endParaRPr>
              </a:p>
            </p:txBody>
          </p:sp>
          <p:sp>
            <p:nvSpPr>
              <p:cNvPr id="22" name="Freeform 3" descr="an icon of a magnifying glass"/>
              <p:cNvSpPr/>
              <p:nvPr/>
            </p:nvSpPr>
            <p:spPr>
              <a:xfrm>
                <a:off x="1174" y="6169"/>
                <a:ext cx="508" cy="510"/>
              </a:xfrm>
              <a:custGeom>
                <a:avLst/>
                <a:gdLst/>
                <a:ahLst/>
                <a:cxnLst/>
                <a:rect l="l" t="t" r="r" b="b"/>
                <a:pathLst>
                  <a:path w="910708" h="910708">
                    <a:moveTo>
                      <a:pt x="0" y="0"/>
                    </a:moveTo>
                    <a:lnTo>
                      <a:pt x="910708" y="0"/>
                    </a:lnTo>
                    <a:lnTo>
                      <a:pt x="910708" y="910709"/>
                    </a:lnTo>
                    <a:lnTo>
                      <a:pt x="0" y="9107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a:blipFill>
            </p:spPr>
          </p:sp>
        </p:grpSp>
        <p:sp>
          <p:nvSpPr>
            <p:cNvPr id="32" name="文本框 31"/>
            <p:cNvSpPr txBox="1"/>
            <p:nvPr/>
          </p:nvSpPr>
          <p:spPr>
            <a:xfrm>
              <a:off x="1783" y="6354"/>
              <a:ext cx="5299" cy="628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每次开始前都要重新判断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这次该看什么、值不值得看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",</a:t>
              </a:r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这个过程本身就在消耗行动意愿</a:t>
              </a:r>
              <a:endParaRPr lang="zh-CN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1466215" y="3629025"/>
            <a:ext cx="3578860" cy="838200"/>
            <a:chOff x="1783" y="5662"/>
            <a:chExt cx="5636" cy="1320"/>
          </a:xfrm>
        </p:grpSpPr>
        <p:sp>
          <p:nvSpPr>
            <p:cNvPr id="37" name="Text 10"/>
            <p:cNvSpPr/>
            <p:nvPr/>
          </p:nvSpPr>
          <p:spPr>
            <a:xfrm>
              <a:off x="1788" y="5662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投入之后难有方向确认感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83" y="6354"/>
              <a:ext cx="5299" cy="628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很难说清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今天做的这些</a:t>
              </a:r>
              <a:r>
                <a:rPr lang="en-US" altLang="zh-CN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,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到底有没有在推进我的目标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",</a:t>
              </a:r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这种不确定感是持续性中断的隐藏诱因</a:t>
              </a:r>
              <a:endParaRPr lang="zh-CN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sp>
        <p:nvSpPr>
          <p:cNvPr id="41" name="文本框 40"/>
          <p:cNvSpPr txBox="1"/>
          <p:nvPr/>
        </p:nvSpPr>
        <p:spPr>
          <a:xfrm>
            <a:off x="2059305" y="1456055"/>
            <a:ext cx="609600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一个希望持续成长，却受困于筛选与确认成本的真实用户</a:t>
            </a:r>
            <a:endParaRPr lang="en-US" altLang="en-US" sz="1200" b="1" dirty="0">
              <a:solidFill>
                <a:schemeClr val="accent1">
                  <a:lumMod val="60000"/>
                  <a:lumOff val="40000"/>
                </a:schemeClr>
              </a:solidFill>
              <a:latin typeface="Calibri" charset="0"/>
              <a:ea typeface="Calibri" pitchFamily="34" charset="-122"/>
              <a:cs typeface="Calibri" pitchFamily="34" charset="-120"/>
              <a:sym typeface="+mn-ea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927100" y="2760345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927100" y="3673475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>
            <a:off x="927100" y="4601210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7" name="直接连接符 46"/>
          <p:cNvCxnSpPr/>
          <p:nvPr/>
        </p:nvCxnSpPr>
        <p:spPr>
          <a:xfrm>
            <a:off x="927100" y="5307330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" name="Text 12"/>
          <p:cNvSpPr/>
          <p:nvPr/>
        </p:nvSpPr>
        <p:spPr>
          <a:xfrm>
            <a:off x="6179820" y="2110740"/>
            <a:ext cx="4652645" cy="64008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lnSpc>
                <a:spcPct val="118000"/>
              </a:lnSpc>
              <a:buNone/>
            </a:pPr>
            <a:r>
              <a:rPr lang="zh-CN" sz="1200" b="1" dirty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定期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、</a:t>
            </a:r>
            <a:r>
              <a:rPr lang="zh-CN" sz="1200" b="1" dirty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主动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地获取外部信号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</a:rPr>
              <a:t>（趋势 / 动态 / 机会）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，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</a:endParaRPr>
          </a:p>
          <a:p>
            <a:pPr marL="0" indent="0">
              <a:lnSpc>
                <a:spcPct val="118000"/>
              </a:lnSpc>
              <a:buNone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而不是靠用户每次临时想起来去搜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6179820" y="2930525"/>
            <a:ext cx="4652645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提前完成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材料筛选与价值判断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，并给出清楚的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推荐理由</a:t>
            </a:r>
            <a:endParaRPr lang="zh-CN" sz="1200" b="1" dirty="0">
              <a:solidFill>
                <a:schemeClr val="accent1"/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1" name="Text 20"/>
          <p:cNvSpPr/>
          <p:nvPr/>
        </p:nvSpPr>
        <p:spPr>
          <a:xfrm>
            <a:off x="6179820" y="3827399"/>
            <a:ext cx="5257800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持续记录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与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阶段性复盘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，让用户能定期回看投入是否真的在推进目标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2" name="Text 24"/>
          <p:cNvSpPr/>
          <p:nvPr/>
        </p:nvSpPr>
        <p:spPr>
          <a:xfrm>
            <a:off x="6179820" y="4633976"/>
            <a:ext cx="5257800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定期获取外部世界的真实诉求，用来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校准学习方向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，而非闭门造车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6179820" y="5390515"/>
            <a:ext cx="4652645" cy="53086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4"/>
                </a:solidFill>
                <a:latin typeface="+mj-ea"/>
                <a:ea typeface="+mj-ea"/>
                <a:cs typeface="+mj-ea"/>
                <a:sym typeface="+mn-ea"/>
              </a:rPr>
              <a:t>贯穿性约束</a:t>
            </a:r>
            <a:r>
              <a:rPr lang="zh-CN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：所有能力都必须能拆解为可在碎片时间内完成的短任务，而非独立模块</a:t>
            </a:r>
            <a:endParaRPr lang="zh-CN" sz="1200" b="1" dirty="0">
              <a:solidFill>
                <a:schemeClr val="accent4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60" name="右箭头 59"/>
          <p:cNvSpPr/>
          <p:nvPr/>
        </p:nvSpPr>
        <p:spPr>
          <a:xfrm>
            <a:off x="5349240" y="238569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右箭头 60"/>
          <p:cNvSpPr/>
          <p:nvPr/>
        </p:nvSpPr>
        <p:spPr>
          <a:xfrm>
            <a:off x="5344160" y="315912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2" name="右箭头 61"/>
          <p:cNvSpPr/>
          <p:nvPr/>
        </p:nvSpPr>
        <p:spPr>
          <a:xfrm>
            <a:off x="5344160" y="407987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3" name="右箭头 62"/>
          <p:cNvSpPr/>
          <p:nvPr/>
        </p:nvSpPr>
        <p:spPr>
          <a:xfrm>
            <a:off x="5344160" y="4897120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4" name="右箭头 63"/>
          <p:cNvSpPr/>
          <p:nvPr/>
        </p:nvSpPr>
        <p:spPr>
          <a:xfrm>
            <a:off x="5344160" y="560006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pic>
        <p:nvPicPr>
          <p:cNvPr id="67" name="Picture 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08000" y="482600"/>
            <a:ext cx="10821035" cy="18415"/>
          </a:xfrm>
          <a:prstGeom prst="rect">
            <a:avLst/>
          </a:prstGeom>
        </p:spPr>
      </p:pic>
      <p:pic>
        <p:nvPicPr>
          <p:cNvPr id="68" name="Picture 4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08000" y="800735"/>
            <a:ext cx="10821035" cy="18415"/>
          </a:xfrm>
          <a:prstGeom prst="rect">
            <a:avLst/>
          </a:prstGeom>
        </p:spPr>
      </p:pic>
      <p:pic>
        <p:nvPicPr>
          <p:cNvPr id="69" name="Picture 5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1834515" y="638175"/>
            <a:ext cx="309245" cy="15875"/>
          </a:xfrm>
          <a:prstGeom prst="rect">
            <a:avLst/>
          </a:prstGeom>
        </p:spPr>
      </p:pic>
      <p:pic>
        <p:nvPicPr>
          <p:cNvPr id="70" name="Picture 6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5337810" y="638175"/>
            <a:ext cx="309245" cy="15875"/>
          </a:xfrm>
          <a:prstGeom prst="rect">
            <a:avLst/>
          </a:prstGeom>
        </p:spPr>
      </p:pic>
      <p:pic>
        <p:nvPicPr>
          <p:cNvPr id="71" name="Picture 7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10401935" y="638175"/>
            <a:ext cx="309245" cy="15875"/>
          </a:xfrm>
          <a:prstGeom prst="rect">
            <a:avLst/>
          </a:prstGeom>
        </p:spPr>
      </p:pic>
      <p:sp>
        <p:nvSpPr>
          <p:cNvPr id="72" name="TextBox 12"/>
          <p:cNvSpPr txBox="1"/>
          <p:nvPr userDrawn="1"/>
        </p:nvSpPr>
        <p:spPr>
          <a:xfrm>
            <a:off x="11113770" y="56451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03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73" name="文本框 72"/>
          <p:cNvSpPr txBox="1"/>
          <p:nvPr userDrawn="1"/>
        </p:nvSpPr>
        <p:spPr>
          <a:xfrm>
            <a:off x="5519420" y="52832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74" name="文本框 73"/>
          <p:cNvSpPr txBox="1"/>
          <p:nvPr userDrawn="1"/>
        </p:nvSpPr>
        <p:spPr>
          <a:xfrm>
            <a:off x="1997075" y="52451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75" name="文本框 74"/>
          <p:cNvSpPr txBox="1"/>
          <p:nvPr userDrawn="1"/>
        </p:nvSpPr>
        <p:spPr>
          <a:xfrm>
            <a:off x="508000" y="52832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02 Target User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7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68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69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70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71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72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73" name="文本框 72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74" name="文本框 73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75" name="文本框 74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03 Solution</a:t>
            </a:r>
            <a:endParaRPr lang="en-US" sz="1000" b="1">
              <a:sym typeface="+mn-ea"/>
            </a:endParaRPr>
          </a:p>
        </p:txBody>
      </p:sp>
      <p:sp>
        <p:nvSpPr>
          <p:cNvPr id="55" name="Text 1"/>
          <p:cNvSpPr/>
          <p:nvPr/>
        </p:nvSpPr>
        <p:spPr>
          <a:xfrm>
            <a:off x="508000" y="20320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四类任务模式，对应四类能力需求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46760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而是每一次行动开始之前，反复出现的决策与筛选成本</a:t>
            </a:r>
            <a:endParaRPr 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33655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7" name="Shape 4"/>
          <p:cNvSpPr/>
          <p:nvPr/>
        </p:nvSpPr>
        <p:spPr>
          <a:xfrm>
            <a:off x="33655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8" name="Text 6"/>
          <p:cNvSpPr/>
          <p:nvPr/>
        </p:nvSpPr>
        <p:spPr>
          <a:xfrm>
            <a:off x="50114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Signal Radar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114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扫描外部信号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101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持续获取趋势、动态、机会等外部信号，不必用户主动去搜</a:t>
            </a:r>
            <a:endParaRPr 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50101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Text 8"/>
          <p:cNvSpPr/>
          <p:nvPr/>
        </p:nvSpPr>
        <p:spPr>
          <a:xfrm>
            <a:off x="50101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对应：定期主动获取外部信号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2" name="Shape 3"/>
          <p:cNvSpPr/>
          <p:nvPr/>
        </p:nvSpPr>
        <p:spPr>
          <a:xfrm>
            <a:off x="3313430" y="1578610"/>
            <a:ext cx="2651760" cy="3983990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13" name="Shape 4"/>
          <p:cNvSpPr/>
          <p:nvPr/>
        </p:nvSpPr>
        <p:spPr>
          <a:xfrm>
            <a:off x="331343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14" name="Text 6"/>
          <p:cNvSpPr/>
          <p:nvPr/>
        </p:nvSpPr>
        <p:spPr>
          <a:xfrm>
            <a:off x="347802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47802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深度处理一份材料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6" name="Text 8"/>
          <p:cNvSpPr/>
          <p:nvPr/>
        </p:nvSpPr>
        <p:spPr>
          <a:xfrm>
            <a:off x="347789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深入精读一篇论文、文章、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repo 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或案例，形成结构化理解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17" name="直接连接符 16"/>
          <p:cNvCxnSpPr/>
          <p:nvPr/>
        </p:nvCxnSpPr>
        <p:spPr>
          <a:xfrm>
            <a:off x="347789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Text 8"/>
          <p:cNvSpPr/>
          <p:nvPr/>
        </p:nvSpPr>
        <p:spPr>
          <a:xfrm>
            <a:off x="3477895" y="4983480"/>
            <a:ext cx="2437765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对应：提前完成材料筛选与价值判断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623570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0" name="Shape 4"/>
          <p:cNvSpPr/>
          <p:nvPr/>
        </p:nvSpPr>
        <p:spPr>
          <a:xfrm>
            <a:off x="623570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21" name="Text 6"/>
          <p:cNvSpPr/>
          <p:nvPr/>
        </p:nvSpPr>
        <p:spPr>
          <a:xfrm>
            <a:off x="6318885" y="1650365"/>
            <a:ext cx="2586355" cy="384175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Opportunity Alignment</a:t>
            </a:r>
            <a:endParaRPr lang="en-US" sz="140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Text 6"/>
          <p:cNvSpPr/>
          <p:nvPr/>
        </p:nvSpPr>
        <p:spPr>
          <a:xfrm>
            <a:off x="640029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外部诉求分析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3" name="Text 8"/>
          <p:cNvSpPr/>
          <p:nvPr/>
        </p:nvSpPr>
        <p:spPr>
          <a:xfrm>
            <a:off x="640016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分析所在领域里，外部世界（市场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机构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社区）真正需要什么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24" name="直接连接符 23"/>
          <p:cNvCxnSpPr/>
          <p:nvPr/>
        </p:nvCxnSpPr>
        <p:spPr>
          <a:xfrm>
            <a:off x="640016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Text 8"/>
          <p:cNvSpPr/>
          <p:nvPr/>
        </p:nvSpPr>
        <p:spPr>
          <a:xfrm>
            <a:off x="640016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对应：定期获取外部世界真实诉求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910336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7" name="Shape 4"/>
          <p:cNvSpPr/>
          <p:nvPr/>
        </p:nvSpPr>
        <p:spPr>
          <a:xfrm>
            <a:off x="910336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28" name="Text 6"/>
          <p:cNvSpPr/>
          <p:nvPr/>
        </p:nvSpPr>
        <p:spPr>
          <a:xfrm>
            <a:off x="926795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Weekly Studio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9" name="Text 6"/>
          <p:cNvSpPr/>
          <p:nvPr/>
        </p:nvSpPr>
        <p:spPr>
          <a:xfrm>
            <a:off x="926795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周期归档复盘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0" name="Text 8"/>
          <p:cNvSpPr/>
          <p:nvPr/>
        </p:nvSpPr>
        <p:spPr>
          <a:xfrm>
            <a:off x="926782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定期整理、归档，更新能力档案，回看阶段性投入与产出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926782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2" name="Text 8"/>
          <p:cNvSpPr/>
          <p:nvPr/>
        </p:nvSpPr>
        <p:spPr>
          <a:xfrm>
            <a:off x="926782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对应：持续记录与阶段性复盘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336550" y="5722620"/>
            <a:ext cx="6096000" cy="252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50" b="1" dirty="0">
                <a:solidFill>
                  <a:srgbClr val="6B7394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四类会话共享同一套 BaseSession / Skill 架构，仅数据源与生成逻辑不同</a:t>
            </a:r>
            <a:r>
              <a:rPr lang="zh-CN" altLang="en-US" sz="1050" b="1" dirty="0">
                <a:solidFill>
                  <a:srgbClr val="6B7394"/>
                </a:solidFill>
                <a:latin typeface="Calibri" charset="0"/>
                <a:ea typeface="宋体" charset="0"/>
                <a:cs typeface="Calibri" pitchFamily="34" charset="-120"/>
                <a:sym typeface="+mn-ea"/>
              </a:rPr>
              <a:t>。</a:t>
            </a:r>
            <a:endParaRPr lang="zh-CN" altLang="en-US" sz="1050" b="1" dirty="0">
              <a:solidFill>
                <a:srgbClr val="6B7394"/>
              </a:solidFill>
              <a:latin typeface="Calibri" charset="0"/>
              <a:ea typeface="宋体" charset="0"/>
              <a:cs typeface="Calibri" pitchFamily="34" charset="-120"/>
              <a:sym typeface="+mn-ea"/>
            </a:endParaRPr>
          </a:p>
        </p:txBody>
      </p:sp>
      <p:pic>
        <p:nvPicPr>
          <p:cNvPr id="34" name="图片 33" descr="deep-d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510" y="2945130"/>
            <a:ext cx="2078990" cy="2078990"/>
          </a:xfrm>
          <a:prstGeom prst="rect">
            <a:avLst/>
          </a:prstGeom>
        </p:spPr>
      </p:pic>
      <p:pic>
        <p:nvPicPr>
          <p:cNvPr id="35" name="图片 34" descr="opportunity-alignme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205" y="2755900"/>
            <a:ext cx="2458085" cy="2458085"/>
          </a:xfrm>
          <a:prstGeom prst="rect">
            <a:avLst/>
          </a:prstGeom>
        </p:spPr>
      </p:pic>
      <p:pic>
        <p:nvPicPr>
          <p:cNvPr id="36" name="图片 35" descr="signal-rad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2965450"/>
            <a:ext cx="2068830" cy="1925320"/>
          </a:xfrm>
          <a:prstGeom prst="rect">
            <a:avLst/>
          </a:prstGeom>
        </p:spPr>
      </p:pic>
      <p:pic>
        <p:nvPicPr>
          <p:cNvPr id="37" name="图片 36" descr="weekly-studi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7345" y="2755900"/>
            <a:ext cx="2393950" cy="2393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两层结构设计，六步完整闭环</a:t>
            </a: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endParaRPr lang="en-US" altLang="zh-CN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710374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不是</a:t>
            </a:r>
            <a:r>
              <a:rPr lang="en-US" altLang="zh-CN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Todo App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，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替用户完成「启动前判断」,再把执行结果写回下一轮。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03 Solution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508000" y="2185670"/>
            <a:ext cx="5370830" cy="35941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rtlCol="0" anchor="ctr" anchorCtr="0">
            <a:noAutofit/>
          </a:bodyPr>
          <a:p>
            <a:pPr lvl="0" algn="ctr" fontAlgn="ctr">
              <a:buClrTx/>
              <a:buSzTx/>
              <a:buFontTx/>
            </a:pPr>
            <a:r>
              <a:rPr lang="en-US" altLang="zh-CN" sz="1200" b="1">
                <a:solidFill>
                  <a:schemeClr val="accent6">
                    <a:lumMod val="40000"/>
                    <a:lumOff val="60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Scheduled Mode</a:t>
            </a:r>
            <a:r>
              <a:rPr lang="en-US" altLang="zh-CN" sz="1200" b="1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：周期触发</a:t>
            </a:r>
            <a:endParaRPr lang="en-US" altLang="zh-CN" sz="1200" b="1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sym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5970270" y="2185670"/>
            <a:ext cx="5798185" cy="35941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rtlCol="0" anchor="ctr" anchorCtr="0">
            <a:noAutofit/>
          </a:bodyPr>
          <a:p>
            <a:pPr lvl="0" algn="ctr" fontAlgn="ctr">
              <a:buClrTx/>
              <a:buSzTx/>
              <a:buFontTx/>
            </a:pPr>
            <a:r>
              <a:rPr lang="en-US" altLang="zh-CN" sz="1200" b="1">
                <a:solidFill>
                  <a:schemeClr val="accent6">
                    <a:lumMod val="40000"/>
                    <a:lumOff val="60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Manual Mode</a:t>
            </a:r>
            <a:r>
              <a:rPr lang="en-US" altLang="zh-CN" sz="1200" b="1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：用户手动设置</a:t>
            </a:r>
            <a:endParaRPr lang="en-US" altLang="zh-CN" sz="1200" b="1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508000" y="1311910"/>
            <a:ext cx="11261725" cy="802005"/>
            <a:chOff x="4905" y="2061"/>
            <a:chExt cx="13456" cy="1263"/>
          </a:xfrm>
        </p:grpSpPr>
        <p:sp>
          <p:nvSpPr>
            <p:cNvPr id="86" name="Freeform 9"/>
            <p:cNvSpPr/>
            <p:nvPr/>
          </p:nvSpPr>
          <p:spPr>
            <a:xfrm>
              <a:off x="4905" y="2061"/>
              <a:ext cx="13456" cy="1263"/>
            </a:xfrm>
            <a:custGeom>
              <a:avLst/>
              <a:gdLst/>
              <a:ahLst/>
              <a:cxnLst/>
              <a:rect l="l" t="t" r="r" b="b"/>
              <a:pathLst>
                <a:path w="4052466" h="4546106">
                  <a:moveTo>
                    <a:pt x="3928006" y="4546106"/>
                  </a:moveTo>
                  <a:lnTo>
                    <a:pt x="124460" y="4546106"/>
                  </a:lnTo>
                  <a:cubicBezTo>
                    <a:pt x="55880" y="4546106"/>
                    <a:pt x="0" y="4490226"/>
                    <a:pt x="0" y="4421646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928006" y="0"/>
                  </a:lnTo>
                  <a:cubicBezTo>
                    <a:pt x="3996586" y="0"/>
                    <a:pt x="4052466" y="55880"/>
                    <a:pt x="4052466" y="124460"/>
                  </a:cubicBezTo>
                  <a:lnTo>
                    <a:pt x="4052466" y="4421646"/>
                  </a:lnTo>
                  <a:cubicBezTo>
                    <a:pt x="4052466" y="4490226"/>
                    <a:pt x="3996586" y="4546106"/>
                    <a:pt x="3928006" y="4546106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30000"/>
              </a:schemeClr>
            </a:solidFill>
            <a:ln>
              <a:solidFill>
                <a:schemeClr val="accent1"/>
              </a:solidFill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77" name="Shape 4"/>
            <p:cNvSpPr/>
            <p:nvPr/>
          </p:nvSpPr>
          <p:spPr>
            <a:xfrm>
              <a:off x="5184" y="2515"/>
              <a:ext cx="259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Signal Radar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78" name="Shape 4"/>
            <p:cNvSpPr/>
            <p:nvPr/>
          </p:nvSpPr>
          <p:spPr>
            <a:xfrm>
              <a:off x="8352" y="2515"/>
              <a:ext cx="237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Deep Dive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79" name="Shape 4"/>
            <p:cNvSpPr/>
            <p:nvPr/>
          </p:nvSpPr>
          <p:spPr>
            <a:xfrm>
              <a:off x="11283" y="2515"/>
              <a:ext cx="3869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Opportunity Alignment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80" name="Shape 4"/>
            <p:cNvSpPr/>
            <p:nvPr/>
          </p:nvSpPr>
          <p:spPr>
            <a:xfrm>
              <a:off x="15659" y="2515"/>
              <a:ext cx="237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Weekly Studio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cxnSp>
          <p:nvCxnSpPr>
            <p:cNvPr id="81" name="曲线连接符 80"/>
            <p:cNvCxnSpPr>
              <a:stCxn id="77" idx="3"/>
              <a:endCxn id="78" idx="1"/>
            </p:cNvCxnSpPr>
            <p:nvPr/>
          </p:nvCxnSpPr>
          <p:spPr>
            <a:xfrm>
              <a:off x="7778" y="2758"/>
              <a:ext cx="574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2" name="曲线连接符 81"/>
            <p:cNvCxnSpPr>
              <a:stCxn id="78" idx="3"/>
              <a:endCxn id="79" idx="1"/>
            </p:cNvCxnSpPr>
            <p:nvPr/>
          </p:nvCxnSpPr>
          <p:spPr>
            <a:xfrm>
              <a:off x="10726" y="2758"/>
              <a:ext cx="557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3" name="曲线连接符 82"/>
            <p:cNvCxnSpPr>
              <a:stCxn id="79" idx="3"/>
              <a:endCxn id="80" idx="1"/>
            </p:cNvCxnSpPr>
            <p:nvPr/>
          </p:nvCxnSpPr>
          <p:spPr>
            <a:xfrm>
              <a:off x="15152" y="2758"/>
              <a:ext cx="507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4" name="曲线连接符 83"/>
            <p:cNvCxnSpPr>
              <a:stCxn id="80" idx="0"/>
              <a:endCxn id="77" idx="0"/>
            </p:cNvCxnSpPr>
            <p:nvPr/>
          </p:nvCxnSpPr>
          <p:spPr>
            <a:xfrm rot="16200000" flipH="1" flipV="1">
              <a:off x="11663" y="-2667"/>
              <a:ext cx="5" cy="10365"/>
            </a:xfrm>
            <a:prstGeom prst="curvedConnector3">
              <a:avLst>
                <a:gd name="adj1" fmla="val -4800000"/>
              </a:avLst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31" name="组合 130"/>
          <p:cNvGrpSpPr/>
          <p:nvPr/>
        </p:nvGrpSpPr>
        <p:grpSpPr>
          <a:xfrm>
            <a:off x="508000" y="2691721"/>
            <a:ext cx="11260455" cy="2341658"/>
            <a:chOff x="811" y="5516"/>
            <a:chExt cx="17733" cy="3688"/>
          </a:xfrm>
        </p:grpSpPr>
        <p:grpSp>
          <p:nvGrpSpPr>
            <p:cNvPr id="6" name="组合 5"/>
            <p:cNvGrpSpPr/>
            <p:nvPr/>
          </p:nvGrpSpPr>
          <p:grpSpPr>
            <a:xfrm>
              <a:off x="811" y="5516"/>
              <a:ext cx="17733" cy="3688"/>
              <a:chOff x="4261" y="5992"/>
              <a:chExt cx="9850" cy="1663"/>
            </a:xfrm>
          </p:grpSpPr>
          <p:sp>
            <p:nvSpPr>
              <p:cNvPr id="3" name="矩形 2"/>
              <p:cNvSpPr/>
              <p:nvPr/>
            </p:nvSpPr>
            <p:spPr>
              <a:xfrm>
                <a:off x="4261" y="5992"/>
                <a:ext cx="9850" cy="1663"/>
              </a:xfrm>
              <a:prstGeom prst="rect">
                <a:avLst/>
              </a:prstGeom>
              <a:solidFill>
                <a:srgbClr val="EDC8BA">
                  <a:alpha val="30000"/>
                </a:srgbClr>
              </a:solidFill>
              <a:ln>
                <a:noFill/>
              </a:ln>
            </p:spPr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505" y="6049"/>
                <a:ext cx="3401" cy="23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用户目标与计划上下文</a:t>
                </a:r>
                <a:r>
                  <a:rPr lang="en-US" altLang="zh-CN" sz="1400">
                    <a:solidFill>
                      <a:schemeClr val="tx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 </a:t>
                </a:r>
                <a:endParaRPr lang="en-US" altLang="zh-CN" sz="1400">
                  <a:solidFill>
                    <a:schemeClr val="tx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4330" y="7363"/>
                <a:ext cx="2527" cy="2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marL="171450" indent="-171450">
                  <a:buFont typeface="Wingdings" charset="0"/>
                  <a:buChar char=""/>
                </a:pPr>
                <a:r>
                  <a:rPr lang="zh-CN" sz="1200" b="1">
                    <a:ea typeface="+mn-lt"/>
                    <a:cs typeface="+mn-lt"/>
                    <a:sym typeface="+mn-ea"/>
                  </a:rPr>
                  <a:t>长期目标</a:t>
                </a:r>
                <a:r>
                  <a:rPr lang="zh-CN" sz="1200">
                    <a:ea typeface="+mn-lt"/>
                    <a:cs typeface="+mn-lt"/>
                    <a:sym typeface="+mn-ea"/>
                  </a:rPr>
                  <a:t>：职业</a:t>
                </a:r>
                <a:r>
                  <a:rPr lang="en-US" altLang="zh-CN" sz="1200">
                    <a:ea typeface="+mn-lt"/>
                    <a:cs typeface="+mn-lt"/>
                    <a:sym typeface="+mn-ea"/>
                  </a:rPr>
                  <a:t>/</a:t>
                </a:r>
                <a:r>
                  <a:rPr lang="zh-CN" altLang="en-US" sz="1200">
                    <a:ea typeface="+mn-lt"/>
                    <a:cs typeface="+mn-lt"/>
                    <a:sym typeface="+mn-ea"/>
                  </a:rPr>
                  <a:t>研究</a:t>
                </a:r>
                <a:r>
                  <a:rPr lang="en-US" altLang="zh-CN" sz="1200">
                    <a:ea typeface="+mn-lt"/>
                    <a:cs typeface="+mn-lt"/>
                    <a:sym typeface="+mn-ea"/>
                  </a:rPr>
                  <a:t>/</a:t>
                </a:r>
                <a:r>
                  <a:rPr lang="zh-CN" altLang="en-US" sz="1200">
                    <a:ea typeface="+mn-lt"/>
                    <a:cs typeface="+mn-lt"/>
                    <a:sym typeface="+mn-ea"/>
                  </a:rPr>
                  <a:t>创作方向</a:t>
                </a:r>
                <a:endParaRPr lang="zh-CN" altLang="en-US" sz="1200">
                  <a:ea typeface="+mn-lt"/>
                  <a:cs typeface="+mn-lt"/>
                  <a:sym typeface="+mn-ea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6619" y="7363"/>
                <a:ext cx="2645" cy="2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marL="171450" indent="-171450">
                  <a:buFont typeface="Wingdings" charset="0"/>
                  <a:buChar char=""/>
                </a:pPr>
                <a:r>
                  <a:rPr lang="zh-CN" sz="1200" b="1">
                    <a:ea typeface="+mn-lt"/>
                    <a:cs typeface="+mn-lt"/>
                    <a:sym typeface="+mn-ea"/>
                  </a:rPr>
                  <a:t>短期计划</a:t>
                </a:r>
                <a:r>
                  <a:rPr lang="zh-CN" sz="1200">
                    <a:ea typeface="+mn-lt"/>
                    <a:cs typeface="+mn-lt"/>
                    <a:sym typeface="+mn-ea"/>
                  </a:rPr>
                  <a:t>：本周重点</a:t>
                </a:r>
                <a:r>
                  <a:rPr lang="en-US" altLang="zh-CN" sz="1200">
                    <a:ea typeface="+mn-lt"/>
                    <a:cs typeface="+mn-lt"/>
                    <a:sym typeface="+mn-ea"/>
                  </a:rPr>
                  <a:t>/</a:t>
                </a:r>
                <a:r>
                  <a:rPr lang="zh-CN" sz="1200">
                    <a:ea typeface="+mn-lt"/>
                    <a:cs typeface="+mn-lt"/>
                    <a:sym typeface="+mn-ea"/>
                  </a:rPr>
                  <a:t>下一步任务</a:t>
                </a:r>
                <a:endParaRPr lang="zh-CN" altLang="en-US" sz="1200">
                  <a:ea typeface="+mn-lt"/>
                  <a:cs typeface="+mn-lt"/>
                  <a:sym typeface="+mn-ea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018" y="7315"/>
                <a:ext cx="2968" cy="262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marL="171450" indent="-171450" fontAlgn="auto">
                  <a:lnSpc>
                    <a:spcPct val="130000"/>
                  </a:lnSpc>
                  <a:buFont typeface="Wingdings" charset="0"/>
                  <a:buChar char=""/>
                </a:pPr>
                <a:r>
                  <a:rPr lang="zh-CN" sz="1200" b="1">
                    <a:ea typeface="+mn-lt"/>
                    <a:cs typeface="+mn-lt"/>
                    <a:sym typeface="+mn-ea"/>
                  </a:rPr>
                  <a:t>偏好约束</a:t>
                </a:r>
                <a:r>
                  <a:rPr lang="zh-CN" sz="1200">
                    <a:ea typeface="+mn-lt"/>
                    <a:cs typeface="+mn-lt"/>
                    <a:sym typeface="+mn-ea"/>
                  </a:rPr>
                  <a:t>：时间预算</a:t>
                </a:r>
                <a:r>
                  <a:rPr lang="en-US" altLang="zh-CN" sz="1200">
                    <a:ea typeface="+mn-lt"/>
                    <a:cs typeface="+mn-lt"/>
                    <a:sym typeface="+mn-ea"/>
                  </a:rPr>
                  <a:t>/</a:t>
                </a:r>
                <a:r>
                  <a:rPr lang="zh-CN" altLang="en-US" sz="1200">
                    <a:ea typeface="宋体" charset="0"/>
                    <a:cs typeface="+mn-lt"/>
                    <a:sym typeface="+mn-ea"/>
                  </a:rPr>
                  <a:t>材料类型</a:t>
                </a:r>
                <a:r>
                  <a:rPr lang="en-US" altLang="zh-CN" sz="1200">
                    <a:ea typeface="宋体" charset="0"/>
                    <a:cs typeface="+mn-lt"/>
                    <a:sym typeface="+mn-ea"/>
                  </a:rPr>
                  <a:t>/</a:t>
                </a:r>
                <a:r>
                  <a:rPr lang="zh-CN" altLang="en-US" sz="1200">
                    <a:ea typeface="宋体" charset="0"/>
                    <a:cs typeface="+mn-lt"/>
                    <a:sym typeface="+mn-ea"/>
                  </a:rPr>
                  <a:t>能力画像</a:t>
                </a:r>
                <a:endParaRPr lang="en-US" altLang="zh-CN" sz="1200">
                  <a:ea typeface="宋体" charset="0"/>
                  <a:cs typeface="+mn-lt"/>
                  <a:sym typeface="+mn-ea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1884" y="7347"/>
                <a:ext cx="2210" cy="23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marL="171450" indent="-171450" fontAlgn="auto">
                  <a:lnSpc>
                    <a:spcPct val="130000"/>
                  </a:lnSpc>
                  <a:buFont typeface="Wingdings" charset="0"/>
                  <a:buChar char=""/>
                </a:pPr>
                <a:r>
                  <a:rPr lang="en-US" altLang="zh-CN" sz="1000" b="1">
                    <a:ea typeface="宋体" charset="0"/>
                    <a:cs typeface="+mn-lt"/>
                    <a:sym typeface="+mn-ea"/>
                  </a:rPr>
                  <a:t>UserContext/Plan/Skill Profile</a:t>
                </a:r>
                <a:endParaRPr lang="en-US" altLang="zh-CN" sz="1000" b="1">
                  <a:ea typeface="宋体" charset="0"/>
                  <a:cs typeface="+mn-lt"/>
                  <a:sym typeface="+mn-ea"/>
                </a:endParaRPr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4032" y="6128"/>
              <a:ext cx="2549" cy="2196"/>
              <a:chOff x="5568" y="2356"/>
              <a:chExt cx="4090" cy="1556"/>
            </a:xfrm>
          </p:grpSpPr>
          <p:sp>
            <p:nvSpPr>
              <p:cNvPr id="110" name="矩形 109"/>
              <p:cNvSpPr/>
              <p:nvPr/>
            </p:nvSpPr>
            <p:spPr>
              <a:xfrm>
                <a:off x="5568" y="2356"/>
                <a:ext cx="4090" cy="1556"/>
              </a:xfrm>
              <a:prstGeom prst="rect">
                <a:avLst/>
              </a:prstGeom>
              <a:solidFill>
                <a:srgbClr val="FFFFFF">
                  <a:alpha val="30000"/>
                </a:srgbClr>
              </a:solidFill>
              <a:ln w="6350">
                <a:solidFill>
                  <a:schemeClr val="tx1"/>
                </a:solidFill>
              </a:ln>
            </p:spPr>
            <p:txBody>
              <a:bodyPr rtlCol="0" anchor="t">
                <a:noAutofit/>
              </a:bodyPr>
              <a:p>
                <a:pPr lvl="0" algn="l">
                  <a:buClrTx/>
                  <a:buSzTx/>
                  <a:buFontTx/>
                </a:pPr>
                <a:endParaRPr lang="en-US" altLang="zh-CN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11" name="文本框 110"/>
              <p:cNvSpPr txBox="1"/>
              <p:nvPr/>
            </p:nvSpPr>
            <p:spPr>
              <a:xfrm>
                <a:off x="5754" y="2516"/>
                <a:ext cx="3879" cy="48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zh-CN" altLang="en-US" sz="1600">
                    <a:solidFill>
                      <a:schemeClr val="accent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②材料包生成</a:t>
                </a: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12" name="文本框 111"/>
              <p:cNvSpPr txBox="1"/>
              <p:nvPr/>
            </p:nvSpPr>
            <p:spPr>
              <a:xfrm>
                <a:off x="5743" y="2906"/>
                <a:ext cx="3913" cy="91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生成</a:t>
                </a:r>
                <a:r>
                  <a:rPr lang="en-US" altLang="zh-CN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payload</a:t>
                </a:r>
                <a:r>
                  <a:rPr lang="zh-CN" altLang="en-US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、材料、推荐理由和完成标准</a:t>
                </a:r>
                <a:endPara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endParaRPr>
              </a:p>
            </p:txBody>
          </p:sp>
        </p:grpSp>
        <p:grpSp>
          <p:nvGrpSpPr>
            <p:cNvPr id="113" name="组合 112"/>
            <p:cNvGrpSpPr/>
            <p:nvPr/>
          </p:nvGrpSpPr>
          <p:grpSpPr>
            <a:xfrm>
              <a:off x="6865" y="6165"/>
              <a:ext cx="2511" cy="2171"/>
              <a:chOff x="5568" y="2365"/>
              <a:chExt cx="4170" cy="1547"/>
            </a:xfrm>
          </p:grpSpPr>
          <p:sp>
            <p:nvSpPr>
              <p:cNvPr id="114" name="矩形 113"/>
              <p:cNvSpPr/>
              <p:nvPr/>
            </p:nvSpPr>
            <p:spPr>
              <a:xfrm>
                <a:off x="5568" y="2365"/>
                <a:ext cx="4170" cy="1547"/>
              </a:xfrm>
              <a:prstGeom prst="rect">
                <a:avLst/>
              </a:prstGeom>
              <a:solidFill>
                <a:srgbClr val="FFFFFF">
                  <a:alpha val="30000"/>
                </a:srgbClr>
              </a:solidFill>
              <a:ln w="6350">
                <a:solidFill>
                  <a:schemeClr val="tx1"/>
                </a:solidFill>
              </a:ln>
            </p:spPr>
            <p:txBody>
              <a:bodyPr rtlCol="0" anchor="t">
                <a:noAutofit/>
              </a:bodyPr>
              <a:p>
                <a:pPr lvl="0" algn="l">
                  <a:buClrTx/>
                  <a:buSzTx/>
                  <a:buFontTx/>
                </a:pPr>
                <a:endParaRPr lang="en-US" altLang="zh-CN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15" name="文本框 114"/>
              <p:cNvSpPr txBox="1"/>
              <p:nvPr/>
            </p:nvSpPr>
            <p:spPr>
              <a:xfrm>
                <a:off x="5733" y="2516"/>
                <a:ext cx="3587" cy="48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zh-CN" altLang="en-US" sz="1600">
                    <a:solidFill>
                      <a:schemeClr val="accent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③任务执行</a:t>
                </a: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16" name="文本框 115"/>
              <p:cNvSpPr txBox="1"/>
              <p:nvPr/>
            </p:nvSpPr>
            <p:spPr>
              <a:xfrm>
                <a:off x="5744" y="2970"/>
                <a:ext cx="3791" cy="91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进入工作区，完成一次定时执行任务</a:t>
                </a:r>
                <a:endPara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endParaRPr>
              </a:p>
            </p:txBody>
          </p:sp>
        </p:grpSp>
        <p:grpSp>
          <p:nvGrpSpPr>
            <p:cNvPr id="117" name="组合 116"/>
            <p:cNvGrpSpPr/>
            <p:nvPr/>
          </p:nvGrpSpPr>
          <p:grpSpPr>
            <a:xfrm>
              <a:off x="9654" y="6190"/>
              <a:ext cx="2627" cy="2134"/>
              <a:chOff x="5568" y="2383"/>
              <a:chExt cx="4252" cy="1529"/>
            </a:xfrm>
          </p:grpSpPr>
          <p:sp>
            <p:nvSpPr>
              <p:cNvPr id="118" name="矩形 117"/>
              <p:cNvSpPr/>
              <p:nvPr/>
            </p:nvSpPr>
            <p:spPr>
              <a:xfrm>
                <a:off x="5568" y="2383"/>
                <a:ext cx="4250" cy="1529"/>
              </a:xfrm>
              <a:prstGeom prst="rect">
                <a:avLst/>
              </a:prstGeom>
              <a:solidFill>
                <a:srgbClr val="FFFFFF">
                  <a:alpha val="30000"/>
                </a:srgbClr>
              </a:solidFill>
              <a:ln w="6350">
                <a:solidFill>
                  <a:schemeClr val="tx1"/>
                </a:solidFill>
              </a:ln>
            </p:spPr>
            <p:txBody>
              <a:bodyPr rtlCol="0" anchor="t">
                <a:noAutofit/>
              </a:bodyPr>
              <a:p>
                <a:pPr lvl="0" algn="l">
                  <a:buClrTx/>
                  <a:buSzTx/>
                  <a:buFontTx/>
                </a:pPr>
                <a:endParaRPr lang="en-US" altLang="zh-CN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19" name="文本框 118"/>
              <p:cNvSpPr txBox="1"/>
              <p:nvPr/>
            </p:nvSpPr>
            <p:spPr>
              <a:xfrm>
                <a:off x="5725" y="2516"/>
                <a:ext cx="3110" cy="48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zh-CN" altLang="en-US" sz="1600">
                    <a:solidFill>
                      <a:schemeClr val="accent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④打卡归</a:t>
                </a:r>
                <a:r>
                  <a:rPr lang="zh-CN" altLang="en-US" sz="1600">
                    <a:solidFill>
                      <a:schemeClr val="accent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档</a:t>
                </a: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20" name="文本框 119"/>
              <p:cNvSpPr txBox="1"/>
              <p:nvPr/>
            </p:nvSpPr>
            <p:spPr>
              <a:xfrm>
                <a:off x="5743" y="2915"/>
                <a:ext cx="4077" cy="91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用户确认完成</a:t>
                </a:r>
                <a:r>
                  <a:rPr lang="en-US" altLang="zh-CN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/</a:t>
                </a:r>
                <a:r>
                  <a:rPr lang="zh-CN" altLang="en-US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部分完成，沉淀</a:t>
                </a:r>
                <a:r>
                  <a:rPr lang="en-US" altLang="zh-CN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summary</a:t>
                </a:r>
                <a:r>
                  <a:rPr lang="zh-CN" altLang="en-US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与</a:t>
                </a:r>
                <a:r>
                  <a:rPr lang="en-US" altLang="zh-CN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next action</a:t>
                </a:r>
                <a:endPara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endParaRPr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12614" y="6166"/>
              <a:ext cx="2594" cy="2158"/>
              <a:chOff x="5568" y="2383"/>
              <a:chExt cx="4090" cy="1529"/>
            </a:xfrm>
          </p:grpSpPr>
          <p:sp>
            <p:nvSpPr>
              <p:cNvPr id="122" name="矩形 121"/>
              <p:cNvSpPr/>
              <p:nvPr/>
            </p:nvSpPr>
            <p:spPr>
              <a:xfrm>
                <a:off x="5568" y="2383"/>
                <a:ext cx="4090" cy="1529"/>
              </a:xfrm>
              <a:prstGeom prst="rect">
                <a:avLst/>
              </a:prstGeom>
              <a:solidFill>
                <a:srgbClr val="FFFFFF">
                  <a:alpha val="30000"/>
                </a:srgbClr>
              </a:solidFill>
              <a:ln w="6350">
                <a:solidFill>
                  <a:schemeClr val="tx1"/>
                </a:solidFill>
              </a:ln>
            </p:spPr>
            <p:txBody>
              <a:bodyPr rtlCol="0" anchor="t">
                <a:noAutofit/>
              </a:bodyPr>
              <a:p>
                <a:pPr lvl="0" algn="l">
                  <a:buClrTx/>
                  <a:buSzTx/>
                  <a:buFontTx/>
                </a:pPr>
                <a:endParaRPr lang="en-US" altLang="zh-CN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23" name="文本框 122"/>
              <p:cNvSpPr txBox="1"/>
              <p:nvPr/>
            </p:nvSpPr>
            <p:spPr>
              <a:xfrm>
                <a:off x="5601" y="2500"/>
                <a:ext cx="3760" cy="48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zh-CN" altLang="en-US" sz="1600">
                    <a:solidFill>
                      <a:schemeClr val="accent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⑤Agent反馈</a:t>
                </a: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24" name="文本框 123"/>
              <p:cNvSpPr txBox="1"/>
              <p:nvPr/>
            </p:nvSpPr>
            <p:spPr>
              <a:xfrm>
                <a:off x="5820" y="2907"/>
                <a:ext cx="3617" cy="91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生成草稿、讨论材料、补齐洞察和下一步</a:t>
                </a:r>
                <a:endParaRPr 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endParaRPr>
              </a:p>
            </p:txBody>
          </p:sp>
        </p:grpSp>
        <p:grpSp>
          <p:nvGrpSpPr>
            <p:cNvPr id="125" name="组合 124"/>
            <p:cNvGrpSpPr/>
            <p:nvPr/>
          </p:nvGrpSpPr>
          <p:grpSpPr>
            <a:xfrm>
              <a:off x="15519" y="6129"/>
              <a:ext cx="2430" cy="2195"/>
              <a:chOff x="5568" y="2383"/>
              <a:chExt cx="4090" cy="1539"/>
            </a:xfrm>
          </p:grpSpPr>
          <p:sp>
            <p:nvSpPr>
              <p:cNvPr id="126" name="矩形 125"/>
              <p:cNvSpPr/>
              <p:nvPr/>
            </p:nvSpPr>
            <p:spPr>
              <a:xfrm>
                <a:off x="5568" y="2383"/>
                <a:ext cx="4090" cy="1539"/>
              </a:xfrm>
              <a:prstGeom prst="rect">
                <a:avLst/>
              </a:prstGeom>
              <a:solidFill>
                <a:srgbClr val="FFFFFF">
                  <a:alpha val="30000"/>
                </a:srgbClr>
              </a:solidFill>
              <a:ln w="6350">
                <a:solidFill>
                  <a:schemeClr val="tx1"/>
                </a:solidFill>
              </a:ln>
            </p:spPr>
            <p:txBody>
              <a:bodyPr rtlCol="0" anchor="t">
                <a:noAutofit/>
              </a:bodyPr>
              <a:p>
                <a:pPr lvl="0" algn="l">
                  <a:buClrTx/>
                  <a:buSzTx/>
                  <a:buFontTx/>
                </a:pPr>
                <a:endParaRPr lang="en-US" altLang="zh-CN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27" name="文本框 126"/>
              <p:cNvSpPr txBox="1"/>
              <p:nvPr/>
            </p:nvSpPr>
            <p:spPr>
              <a:xfrm>
                <a:off x="5600" y="2500"/>
                <a:ext cx="3301" cy="48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zh-CN" altLang="en-US" sz="1600">
                    <a:solidFill>
                      <a:schemeClr val="accent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⑥复盘沉淀</a:t>
                </a: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endParaRPr lang="zh-CN" altLang="en-US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28" name="文本框 127"/>
              <p:cNvSpPr txBox="1"/>
              <p:nvPr/>
            </p:nvSpPr>
            <p:spPr>
              <a:xfrm>
                <a:off x="5744" y="2917"/>
                <a:ext cx="3791" cy="91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写入</a:t>
                </a:r>
                <a:r>
                  <a:rPr lang="en-US" altLang="zh-CN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History</a:t>
                </a:r>
                <a:r>
                  <a:rPr lang="zh-CN" altLang="en-US" sz="1200" b="1">
                    <a:solidFill>
                      <a:schemeClr val="bg1">
                        <a:lumMod val="50000"/>
                      </a:schemeClr>
                    </a:solidFill>
                    <a:ea typeface="宋体" charset="0"/>
                    <a:cs typeface="+mn-lt"/>
                    <a:sym typeface="+mn-ea"/>
                  </a:rPr>
                  <a:t>，归档，反哺下个周期选择</a:t>
                </a:r>
                <a:endPara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endParaRPr>
              </a:p>
            </p:txBody>
          </p:sp>
        </p:grpSp>
        <p:grpSp>
          <p:nvGrpSpPr>
            <p:cNvPr id="105" name="组合 104"/>
            <p:cNvGrpSpPr/>
            <p:nvPr/>
          </p:nvGrpSpPr>
          <p:grpSpPr>
            <a:xfrm>
              <a:off x="1253" y="6129"/>
              <a:ext cx="2495" cy="2184"/>
              <a:chOff x="5568" y="2383"/>
              <a:chExt cx="4090" cy="1529"/>
            </a:xfrm>
          </p:grpSpPr>
          <p:sp>
            <p:nvSpPr>
              <p:cNvPr id="106" name="矩形 105"/>
              <p:cNvSpPr/>
              <p:nvPr/>
            </p:nvSpPr>
            <p:spPr>
              <a:xfrm>
                <a:off x="5568" y="2383"/>
                <a:ext cx="4090" cy="1529"/>
              </a:xfrm>
              <a:prstGeom prst="rect">
                <a:avLst/>
              </a:prstGeom>
              <a:solidFill>
                <a:srgbClr val="FFFFFF">
                  <a:alpha val="30000"/>
                </a:srgbClr>
              </a:solidFill>
              <a:ln w="6350">
                <a:solidFill>
                  <a:schemeClr val="tx1"/>
                </a:solidFill>
              </a:ln>
            </p:spPr>
            <p:txBody>
              <a:bodyPr rtlCol="0" anchor="t">
                <a:noAutofit/>
              </a:bodyPr>
              <a:p>
                <a:pPr lvl="0" algn="l">
                  <a:buClrTx/>
                  <a:buSzTx/>
                  <a:buFontTx/>
                </a:pPr>
                <a:endParaRPr lang="en-US" altLang="zh-CN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endParaRPr>
              </a:p>
            </p:txBody>
          </p:sp>
          <p:sp>
            <p:nvSpPr>
              <p:cNvPr id="107" name="文本框 106"/>
              <p:cNvSpPr txBox="1"/>
              <p:nvPr/>
            </p:nvSpPr>
            <p:spPr>
              <a:xfrm>
                <a:off x="5754" y="2516"/>
                <a:ext cx="3249" cy="48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r>
                  <a:rPr lang="zh-CN" altLang="en-US" sz="1600">
                    <a:solidFill>
                      <a:schemeClr val="accent1"/>
                    </a:solidFill>
                    <a:latin typeface="Noto Serif CJK KR Black" panose="02020900000000000000" charset="-122"/>
                    <a:ea typeface="Noto Serif CJK KR Black" panose="02020900000000000000" charset="-122"/>
                    <a:sym typeface="+mn-ea"/>
                  </a:rPr>
                  <a:t>①节奏触发</a:t>
                </a:r>
                <a:endParaRPr lang="en-US" altLang="zh-CN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</a:endParaRPr>
              </a:p>
              <a:p>
                <a:endParaRPr lang="en-US" altLang="zh-CN" sz="1600">
                  <a:solidFill>
                    <a:schemeClr val="accent1"/>
                  </a:solidFill>
                  <a:latin typeface="Noto Serif CJK KR Black" panose="02020900000000000000" charset="-122"/>
                  <a:ea typeface="Noto Serif CJK KR Black" panose="02020900000000000000" charset="-122"/>
                </a:endParaRPr>
              </a:p>
            </p:txBody>
          </p:sp>
          <p:sp>
            <p:nvSpPr>
              <p:cNvPr id="108" name="文本框 107"/>
              <p:cNvSpPr txBox="1"/>
              <p:nvPr/>
            </p:nvSpPr>
            <p:spPr>
              <a:xfrm>
                <a:off x="5743" y="2925"/>
                <a:ext cx="3651" cy="91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zh-CN" altLang="en-US" sz="1200" b="1">
                    <a:solidFill>
                      <a:schemeClr val="bg1">
                        <a:lumMod val="50000"/>
                      </a:schemeClr>
                    </a:solidFill>
                    <a:ea typeface="+mn-lt"/>
                    <a:cs typeface="+mn-lt"/>
                    <a:sym typeface="+mn-ea"/>
                  </a:rPr>
                  <a:t>日期</a:t>
                </a:r>
                <a:r>
                  <a:rPr lang="en-US" altLang="zh-CN" sz="1200" b="1">
                    <a:solidFill>
                      <a:schemeClr val="bg1">
                        <a:lumMod val="50000"/>
                      </a:schemeClr>
                    </a:solidFill>
                    <a:ea typeface="+mn-lt"/>
                    <a:cs typeface="+mn-lt"/>
                    <a:sym typeface="+mn-ea"/>
                  </a:rPr>
                  <a:t>/</a:t>
                </a:r>
                <a:r>
                  <a:rPr lang="zh-CN" altLang="en-US" sz="1200" b="1">
                    <a:solidFill>
                      <a:schemeClr val="bg1">
                        <a:lumMod val="50000"/>
                      </a:schemeClr>
                    </a:solidFill>
                    <a:ea typeface="+mn-lt"/>
                    <a:cs typeface="+mn-lt"/>
                    <a:sym typeface="+mn-ea"/>
                  </a:rPr>
                  <a:t>用户选择决定今天进入哪类</a:t>
                </a:r>
                <a:r>
                  <a:rPr lang="en-US" altLang="zh-CN" sz="1200" b="1">
                    <a:solidFill>
                      <a:schemeClr val="bg1">
                        <a:lumMod val="50000"/>
                      </a:schemeClr>
                    </a:solidFill>
                    <a:ea typeface="+mn-lt"/>
                    <a:cs typeface="+mn-lt"/>
                    <a:sym typeface="+mn-ea"/>
                  </a:rPr>
                  <a:t>Session</a:t>
                </a:r>
                <a:endParaRPr lang="en-US" altLang="zh-CN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endParaRPr>
              </a:p>
            </p:txBody>
          </p:sp>
        </p:grpSp>
      </p:grpSp>
      <p:cxnSp>
        <p:nvCxnSpPr>
          <p:cNvPr id="130" name="曲线连接符 129"/>
          <p:cNvCxnSpPr>
            <a:stCxn id="57" idx="2"/>
            <a:endCxn id="106" idx="0"/>
          </p:cNvCxnSpPr>
          <p:nvPr/>
        </p:nvCxnSpPr>
        <p:spPr>
          <a:xfrm rot="5400000">
            <a:off x="4957445" y="-831215"/>
            <a:ext cx="535940" cy="7288530"/>
          </a:xfrm>
          <a:prstGeom prst="curvedConnector3">
            <a:avLst>
              <a:gd name="adj1" fmla="val 30331"/>
            </a:avLst>
          </a:prstGeom>
          <a:ln>
            <a:solidFill>
              <a:srgbClr val="99B0E4"/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9" name="曲线连接符 128"/>
          <p:cNvCxnSpPr>
            <a:stCxn id="54" idx="2"/>
            <a:endCxn id="106" idx="0"/>
          </p:cNvCxnSpPr>
          <p:nvPr/>
        </p:nvCxnSpPr>
        <p:spPr>
          <a:xfrm rot="5400000">
            <a:off x="2119313" y="2006918"/>
            <a:ext cx="535940" cy="1612265"/>
          </a:xfrm>
          <a:prstGeom prst="curvedConnector3">
            <a:avLst>
              <a:gd name="adj1" fmla="val 49941"/>
            </a:avLst>
          </a:prstGeom>
          <a:ln>
            <a:solidFill>
              <a:srgbClr val="99B0E4"/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4" name="虚尾箭头 133"/>
          <p:cNvSpPr/>
          <p:nvPr/>
        </p:nvSpPr>
        <p:spPr>
          <a:xfrm>
            <a:off x="2322195" y="3722370"/>
            <a:ext cx="359410" cy="274955"/>
          </a:xfrm>
          <a:prstGeom prst="stripedRightArrow">
            <a:avLst/>
          </a:prstGeom>
          <a:solidFill>
            <a:srgbClr val="899CBC">
              <a:alpha val="5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5" name="虚尾箭头 134"/>
          <p:cNvSpPr/>
          <p:nvPr/>
        </p:nvSpPr>
        <p:spPr>
          <a:xfrm>
            <a:off x="4161790" y="3722370"/>
            <a:ext cx="359410" cy="274955"/>
          </a:xfrm>
          <a:prstGeom prst="stripedRightArrow">
            <a:avLst/>
          </a:prstGeom>
          <a:solidFill>
            <a:srgbClr val="899CBC">
              <a:alpha val="5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6" name="虚尾箭头 135"/>
          <p:cNvSpPr/>
          <p:nvPr/>
        </p:nvSpPr>
        <p:spPr>
          <a:xfrm>
            <a:off x="5878830" y="3722370"/>
            <a:ext cx="359410" cy="274955"/>
          </a:xfrm>
          <a:prstGeom prst="stripedRightArrow">
            <a:avLst/>
          </a:prstGeom>
          <a:solidFill>
            <a:srgbClr val="899CBC">
              <a:alpha val="5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7" name="虚尾箭头 136"/>
          <p:cNvSpPr/>
          <p:nvPr/>
        </p:nvSpPr>
        <p:spPr>
          <a:xfrm>
            <a:off x="7745095" y="3722370"/>
            <a:ext cx="359410" cy="274955"/>
          </a:xfrm>
          <a:prstGeom prst="stripedRightArrow">
            <a:avLst/>
          </a:prstGeom>
          <a:solidFill>
            <a:srgbClr val="899CBC">
              <a:alpha val="5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8" name="虚尾箭头 137"/>
          <p:cNvSpPr/>
          <p:nvPr/>
        </p:nvSpPr>
        <p:spPr>
          <a:xfrm>
            <a:off x="9554845" y="3722370"/>
            <a:ext cx="359410" cy="274955"/>
          </a:xfrm>
          <a:prstGeom prst="stripedRightArrow">
            <a:avLst/>
          </a:prstGeom>
          <a:solidFill>
            <a:srgbClr val="899CBC">
              <a:alpha val="5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9" name="TextBox 35"/>
          <p:cNvSpPr txBox="1"/>
          <p:nvPr/>
        </p:nvSpPr>
        <p:spPr>
          <a:xfrm>
            <a:off x="508000" y="5419725"/>
            <a:ext cx="1610995" cy="2901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algn="l"/>
            <a:r>
              <a:rPr lang="zh-CN" sz="1400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</a:rPr>
              <a:t>Todo App 的缺口</a:t>
            </a:r>
            <a:endParaRPr lang="zh-CN" sz="1400">
              <a:solidFill>
                <a:schemeClr val="accent6"/>
              </a:solidFill>
              <a:latin typeface="Noto Serif CJK KR Black" panose="02020900000000000000" charset="-122"/>
              <a:ea typeface="Noto Serif CJK KR Black" panose="02020900000000000000" charset="-122"/>
            </a:endParaRPr>
          </a:p>
        </p:txBody>
      </p:sp>
      <p:sp>
        <p:nvSpPr>
          <p:cNvPr id="140" name="TextBox 36"/>
          <p:cNvSpPr txBox="1"/>
          <p:nvPr/>
        </p:nvSpPr>
        <p:spPr>
          <a:xfrm>
            <a:off x="2270760" y="5129530"/>
            <a:ext cx="3482340" cy="9709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marL="171450" indent="-171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0"/>
              <a:buChar char=""/>
            </a:pPr>
            <a:r>
              <a:rPr lang="en-US" altLang="zh-CN" sz="1200" b="0">
                <a:ea typeface="+mn-lt"/>
                <a:cs typeface="+mn-lt"/>
              </a:rPr>
              <a:t>用户自己定义所有任务</a:t>
            </a:r>
            <a:r>
              <a:rPr lang="zh-CN" altLang="en-US" sz="1200" b="0">
                <a:ea typeface="宋体" charset="0"/>
                <a:cs typeface="+mn-lt"/>
              </a:rPr>
              <a:t>，且</a:t>
            </a:r>
            <a:r>
              <a:rPr lang="en-US" altLang="zh-CN" sz="1200" b="0">
                <a:ea typeface="+mn-lt"/>
                <a:cs typeface="+mn-lt"/>
              </a:rPr>
              <a:t>主要记录完成;</a:t>
            </a:r>
            <a:endParaRPr lang="en-US" altLang="zh-CN" sz="1200" b="0">
              <a:ea typeface="+mn-lt"/>
              <a:cs typeface="+mn-lt"/>
            </a:endParaRPr>
          </a:p>
          <a:p>
            <a:pPr marL="171450" indent="-171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0"/>
              <a:buChar char=""/>
            </a:pPr>
            <a:r>
              <a:rPr lang="zh-CN" altLang="en-US" sz="1200" b="0">
                <a:ea typeface="宋体" charset="0"/>
                <a:cs typeface="+mn-lt"/>
              </a:rPr>
              <a:t>系统</a:t>
            </a:r>
            <a:r>
              <a:rPr lang="en-US" altLang="zh-CN" sz="1200" b="0">
                <a:ea typeface="+mn-lt"/>
                <a:cs typeface="+mn-lt"/>
              </a:rPr>
              <a:t>不理解材料、方向与外部要求;</a:t>
            </a:r>
            <a:endParaRPr lang="en-US" altLang="zh-CN" sz="1200" b="0">
              <a:ea typeface="+mn-lt"/>
              <a:cs typeface="+mn-lt"/>
            </a:endParaRPr>
          </a:p>
          <a:p>
            <a:pPr marL="171450" indent="-171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0"/>
              <a:buChar char=""/>
            </a:pPr>
            <a:r>
              <a:rPr lang="zh-CN" altLang="en-US" sz="1200" b="0">
                <a:ea typeface="宋体" charset="0"/>
                <a:cs typeface="+mn-lt"/>
              </a:rPr>
              <a:t>无</a:t>
            </a:r>
            <a:r>
              <a:rPr lang="en-US" altLang="zh-CN" sz="1200" b="0">
                <a:ea typeface="+mn-lt"/>
                <a:cs typeface="+mn-lt"/>
              </a:rPr>
              <a:t>任务</a:t>
            </a:r>
            <a:r>
              <a:rPr lang="zh-CN" altLang="en-US" sz="1200" b="0">
                <a:ea typeface="宋体" charset="0"/>
                <a:cs typeface="+mn-lt"/>
              </a:rPr>
              <a:t>主动</a:t>
            </a:r>
            <a:r>
              <a:rPr lang="en-US" altLang="zh-CN" sz="1200" b="0">
                <a:ea typeface="+mn-lt"/>
                <a:cs typeface="+mn-lt"/>
              </a:rPr>
              <a:t>生成</a:t>
            </a:r>
            <a:r>
              <a:rPr lang="zh-CN" altLang="en-US" sz="1200" b="0">
                <a:ea typeface="宋体" charset="0"/>
                <a:cs typeface="+mn-lt"/>
              </a:rPr>
              <a:t>，无</a:t>
            </a:r>
            <a:r>
              <a:rPr lang="en-US" altLang="zh-CN" sz="1200" b="0">
                <a:ea typeface="+mn-lt"/>
                <a:cs typeface="+mn-lt"/>
              </a:rPr>
              <a:t>上下文记忆</a:t>
            </a:r>
            <a:endParaRPr lang="en-US" altLang="zh-CN" sz="1200" b="0">
              <a:ea typeface="+mn-lt"/>
              <a:cs typeface="+mn-lt"/>
            </a:endParaRPr>
          </a:p>
          <a:p>
            <a:pPr marL="171450" indent="-171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0"/>
              <a:buChar char=""/>
            </a:pPr>
            <a:r>
              <a:rPr lang="zh-CN" altLang="en-US" sz="1200" b="0">
                <a:ea typeface="宋体" charset="0"/>
                <a:cs typeface="+mn-lt"/>
              </a:rPr>
              <a:t>无</a:t>
            </a:r>
            <a:r>
              <a:rPr lang="en-US" altLang="zh-CN" sz="1200" b="0">
                <a:ea typeface="+mn-lt"/>
                <a:cs typeface="+mn-lt"/>
              </a:rPr>
              <a:t>验证反馈</a:t>
            </a:r>
            <a:r>
              <a:rPr lang="zh-CN" altLang="en-US" sz="1200" b="0">
                <a:ea typeface="宋体" charset="0"/>
                <a:cs typeface="+mn-lt"/>
              </a:rPr>
              <a:t>，无</a:t>
            </a:r>
            <a:r>
              <a:rPr lang="en-US" altLang="zh-CN" sz="1200" b="0">
                <a:ea typeface="+mn-lt"/>
                <a:cs typeface="+mn-lt"/>
              </a:rPr>
              <a:t>下一轮反哺</a:t>
            </a:r>
            <a:endParaRPr lang="en-US" altLang="zh-CN" sz="1200" b="0">
              <a:ea typeface="+mn-lt"/>
              <a:cs typeface="+mn-lt"/>
            </a:endParaRPr>
          </a:p>
        </p:txBody>
      </p:sp>
      <p:sp>
        <p:nvSpPr>
          <p:cNvPr id="141" name="TextBox 35"/>
          <p:cNvSpPr txBox="1"/>
          <p:nvPr/>
        </p:nvSpPr>
        <p:spPr>
          <a:xfrm>
            <a:off x="5734050" y="5419725"/>
            <a:ext cx="1725930" cy="2901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algn="l"/>
            <a:r>
              <a:rPr lang="en-US" altLang="zh-CN" sz="1400">
                <a:solidFill>
                  <a:srgbClr val="0070C0"/>
                </a:solidFill>
                <a:latin typeface="Noto Serif CJK KR Black" panose="02020900000000000000" charset="-122"/>
                <a:ea typeface="Noto Serif CJK KR Black" panose="02020900000000000000" charset="-122"/>
              </a:rPr>
              <a:t>Orbit Engine</a:t>
            </a:r>
            <a:r>
              <a:rPr lang="zh-CN" altLang="en-US" sz="1400">
                <a:solidFill>
                  <a:srgbClr val="0070C0"/>
                </a:solidFill>
                <a:latin typeface="Noto Serif CJK KR Black" panose="02020900000000000000" charset="-122"/>
                <a:ea typeface="Noto Serif CJK KR Black" panose="02020900000000000000" charset="-122"/>
              </a:rPr>
              <a:t>的价值</a:t>
            </a:r>
            <a:endParaRPr lang="zh-CN" altLang="en-US" sz="1400">
              <a:solidFill>
                <a:srgbClr val="0070C0"/>
              </a:solidFill>
              <a:latin typeface="Noto Serif CJK KR Black" panose="02020900000000000000" charset="-122"/>
              <a:ea typeface="Noto Serif CJK KR Black" panose="02020900000000000000" charset="-122"/>
            </a:endParaRPr>
          </a:p>
        </p:txBody>
      </p:sp>
      <p:sp>
        <p:nvSpPr>
          <p:cNvPr id="142" name="TextBox 36"/>
          <p:cNvSpPr txBox="1"/>
          <p:nvPr/>
        </p:nvSpPr>
        <p:spPr>
          <a:xfrm>
            <a:off x="7642225" y="5129530"/>
            <a:ext cx="4010025" cy="9709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marL="171450" indent="-171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0"/>
              <a:buChar char=""/>
            </a:pPr>
            <a:r>
              <a:rPr lang="en-US" altLang="zh-CN" sz="1200" b="0">
                <a:ea typeface="+mn-lt"/>
                <a:cs typeface="+mn-lt"/>
              </a:rPr>
              <a:t>发现值得做的</a:t>
            </a:r>
            <a:r>
              <a:rPr lang="en-US" altLang="zh-CN" sz="1200">
                <a:ea typeface="+mn-lt"/>
                <a:cs typeface="+mn-lt"/>
                <a:sym typeface="+mn-ea"/>
              </a:rPr>
              <a:t>事</a:t>
            </a:r>
            <a:r>
              <a:rPr lang="zh-CN" altLang="en-US" sz="1200">
                <a:ea typeface="宋体" charset="0"/>
                <a:cs typeface="+mn-lt"/>
                <a:sym typeface="+mn-ea"/>
              </a:rPr>
              <a:t>，</a:t>
            </a:r>
            <a:r>
              <a:rPr lang="en-US" altLang="zh-CN" sz="1200">
                <a:ea typeface="+mn-lt"/>
                <a:cs typeface="+mn-lt"/>
                <a:sym typeface="+mn-ea"/>
              </a:rPr>
              <a:t>组织一次可执行 session,</a:t>
            </a:r>
            <a:endParaRPr lang="en-US" altLang="zh-CN" sz="1200" b="0">
              <a:ea typeface="+mn-lt"/>
              <a:cs typeface="+mn-lt"/>
            </a:endParaRPr>
          </a:p>
          <a:p>
            <a:pPr marL="171450" indent="-171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0"/>
              <a:buChar char=""/>
            </a:pPr>
            <a:r>
              <a:rPr lang="en-US" altLang="zh-CN" sz="1200">
                <a:ea typeface="+mn-lt"/>
                <a:cs typeface="+mn-lt"/>
                <a:sym typeface="+mn-ea"/>
              </a:rPr>
              <a:t>沉淀洞察并影响下一轮</a:t>
            </a:r>
            <a:r>
              <a:rPr lang="zh-CN" altLang="en-US" sz="1200">
                <a:ea typeface="宋体" charset="0"/>
                <a:cs typeface="+mn-lt"/>
                <a:sym typeface="+mn-ea"/>
              </a:rPr>
              <a:t>，</a:t>
            </a:r>
            <a:r>
              <a:rPr lang="en-US" altLang="zh-CN" sz="1200">
                <a:ea typeface="+mn-lt"/>
                <a:cs typeface="+mn-lt"/>
                <a:sym typeface="+mn-ea"/>
              </a:rPr>
              <a:t>闭环</a:t>
            </a:r>
            <a:r>
              <a:rPr lang="zh-CN" altLang="en-US" sz="1200">
                <a:ea typeface="宋体" charset="0"/>
                <a:cs typeface="+mn-lt"/>
                <a:sym typeface="+mn-ea"/>
              </a:rPr>
              <a:t>多</a:t>
            </a:r>
            <a:r>
              <a:rPr lang="en-US" altLang="zh-CN" sz="1200">
                <a:ea typeface="+mn-lt"/>
                <a:cs typeface="+mn-lt"/>
                <a:sym typeface="+mn-ea"/>
              </a:rPr>
              <a:t>节点由 Agent 自动推进。</a:t>
            </a:r>
            <a:endParaRPr lang="en-US" altLang="zh-CN" sz="1200" b="0">
              <a:ea typeface="+mn-lt"/>
              <a:cs typeface="+mn-lt"/>
            </a:endParaRPr>
          </a:p>
          <a:p>
            <a:pPr marL="171450" indent="-171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0"/>
              <a:buChar char=""/>
            </a:pPr>
            <a:r>
              <a:rPr lang="en-US" altLang="zh-CN" sz="1200">
                <a:ea typeface="+mn-lt"/>
                <a:cs typeface="+mn-lt"/>
                <a:sym typeface="+mn-ea"/>
              </a:rPr>
              <a:t>任务由 Agent </a:t>
            </a:r>
            <a:r>
              <a:rPr lang="zh-CN" altLang="en-US" sz="1200">
                <a:ea typeface="宋体" charset="0"/>
                <a:cs typeface="+mn-lt"/>
                <a:sym typeface="+mn-ea"/>
              </a:rPr>
              <a:t>自主</a:t>
            </a:r>
            <a:r>
              <a:rPr lang="en-US" altLang="zh-CN" sz="1200">
                <a:ea typeface="+mn-lt"/>
                <a:cs typeface="+mn-lt"/>
                <a:sym typeface="+mn-ea"/>
              </a:rPr>
              <a:t>生成</a:t>
            </a:r>
            <a:endParaRPr lang="en-US" altLang="zh-CN" sz="1200" b="0">
              <a:ea typeface="+mn-lt"/>
              <a:cs typeface="+mn-lt"/>
            </a:endParaRPr>
          </a:p>
          <a:p>
            <a:pPr marL="171450" indent="-1714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charset="0"/>
              <a:buChar char=""/>
            </a:pPr>
            <a:r>
              <a:rPr lang="en-US" altLang="zh-CN" sz="1200">
                <a:ea typeface="+mn-lt"/>
                <a:cs typeface="+mn-lt"/>
                <a:sym typeface="+mn-ea"/>
              </a:rPr>
              <a:t>Check-in = 验证反馈 · History = 下一轮上下文</a:t>
            </a:r>
            <a:endParaRPr lang="en-US" altLang="zh-CN" sz="1200" b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05 Agent Ability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能力与任务闭环映射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98806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它不是聊天入口，而是 session runtime 里的决策、组织和记忆更新层，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覆盖完整的Agent Closed-Loop多个环节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pSp>
        <p:nvGrpSpPr>
          <p:cNvPr id="19" name="组合 18"/>
          <p:cNvGrpSpPr/>
          <p:nvPr/>
        </p:nvGrpSpPr>
        <p:grpSpPr>
          <a:xfrm>
            <a:off x="645795" y="1557020"/>
            <a:ext cx="3300095" cy="4300220"/>
            <a:chOff x="1643" y="2551"/>
            <a:chExt cx="5197" cy="6772"/>
          </a:xfrm>
        </p:grpSpPr>
        <p:sp>
          <p:nvSpPr>
            <p:cNvPr id="6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7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buNone/>
              </a:pPr>
              <a:r>
                <a:rPr lang="zh-CN" altLang="en-US" sz="1450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①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</a:rPr>
                <a:t>Signal Radar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18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0">
                  <a:solidFill>
                    <a:srgbClr val="566070"/>
                  </a:solidFill>
                  <a:latin typeface="微软雅黑"/>
                </a:rPr>
                <a:t>读取日期、用户计划、历史 check-in 和未完成 session，决定今天进入哪类任务。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4352290" y="1557020"/>
            <a:ext cx="3300095" cy="4300220"/>
            <a:chOff x="1643" y="2551"/>
            <a:chExt cx="5197" cy="6772"/>
          </a:xfrm>
        </p:grpSpPr>
        <p:sp>
          <p:nvSpPr>
            <p:cNvPr id="21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22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>
                <a:buClrTx/>
                <a:buSzTx/>
                <a:buFontTx/>
              </a:pPr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②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Material Selection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23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从用户登记材料、公开源或 fallback demo source 中选择适合当前目标的材料。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24" name="组合 23"/>
          <p:cNvGrpSpPr/>
          <p:nvPr/>
        </p:nvGrpSpPr>
        <p:grpSpPr>
          <a:xfrm>
            <a:off x="8049895" y="1557020"/>
            <a:ext cx="3300095" cy="4300220"/>
            <a:chOff x="1643" y="2551"/>
            <a:chExt cx="5197" cy="6772"/>
          </a:xfrm>
        </p:grpSpPr>
        <p:sp>
          <p:nvSpPr>
            <p:cNvPr id="25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26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③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Task Framing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27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把材料转成</a:t>
              </a:r>
              <a:r>
                <a:rPr lang="zh-CN" sz="1150">
                  <a:solidFill>
                    <a:srgbClr val="566070"/>
                  </a:solidFill>
                  <a:latin typeface="微软雅黑"/>
                  <a:sym typeface="+mn-ea"/>
                </a:rPr>
                <a:t>定时</a:t>
              </a: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任务，给出完成标准、阅读重点和最小产出。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能力与任务闭环映射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98806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它不是聊天入口，而是 session runtime 里的决策、组织和记忆更新层，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覆盖完整的Agent Closed-Loop多个环节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8051165" y="1553210"/>
            <a:ext cx="3300095" cy="4308475"/>
            <a:chOff x="1643" y="2551"/>
            <a:chExt cx="5197" cy="6785"/>
          </a:xfrm>
        </p:grpSpPr>
        <p:sp>
          <p:nvSpPr>
            <p:cNvPr id="29" name="Rounded Rectangle 4"/>
            <p:cNvSpPr/>
            <p:nvPr/>
          </p:nvSpPr>
          <p:spPr>
            <a:xfrm>
              <a:off x="1643" y="2551"/>
              <a:ext cx="5197" cy="6785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0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⑥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Boundary Control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1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不自动提交、不替用户做职业判断；外部动作和长期记录均由用户确认。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4353560" y="1553210"/>
            <a:ext cx="3300095" cy="4303395"/>
            <a:chOff x="1643" y="2551"/>
            <a:chExt cx="5197" cy="6777"/>
          </a:xfrm>
        </p:grpSpPr>
        <p:sp>
          <p:nvSpPr>
            <p:cNvPr id="33" name="Rounded Rectangle 4"/>
            <p:cNvSpPr/>
            <p:nvPr/>
          </p:nvSpPr>
          <p:spPr>
            <a:xfrm>
              <a:off x="1643" y="2551"/>
              <a:ext cx="5197" cy="6777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4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⑤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Memory Update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5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用户确认后写入 History，让下一轮推荐受历史行为和真实反馈影响。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644525" y="1553210"/>
            <a:ext cx="3300095" cy="4307840"/>
            <a:chOff x="1643" y="2551"/>
            <a:chExt cx="5197" cy="6784"/>
          </a:xfrm>
        </p:grpSpPr>
        <p:sp>
          <p:nvSpPr>
            <p:cNvPr id="37" name="Rounded Rectangle 4"/>
            <p:cNvSpPr/>
            <p:nvPr/>
          </p:nvSpPr>
          <p:spPr>
            <a:xfrm>
              <a:off x="1643" y="2551"/>
              <a:ext cx="5197" cy="6784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8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④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Guidance Drafting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9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生成 check-in 草稿、下一步建议和 continue / track_later / drop 判断参考。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05 Agent Ability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可替换、可复用的</a:t>
            </a: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应用框架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86010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前端只消费结构化</a:t>
            </a:r>
            <a:r>
              <a:rPr lang="en-US" altLang="zh-CN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JSON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，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后端负责节奏、材料、会话、打卡和历史。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32080" y="1559560"/>
            <a:ext cx="2313305" cy="4449445"/>
          </a:xfrm>
          <a:prstGeom prst="roundRect">
            <a:avLst>
              <a:gd name="adj" fmla="val 6000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25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2080" y="1559560"/>
            <a:ext cx="2322000" cy="90805"/>
          </a:xfrm>
          <a:prstGeom prst="rect">
            <a:avLst/>
          </a:prstGeom>
          <a:solidFill>
            <a:srgbClr val="225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780" y="1802765"/>
            <a:ext cx="1837690" cy="260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algn="l"/>
            <a:r>
              <a:rPr lang="en-US" altLang="zh-CN" sz="20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Interface</a:t>
            </a:r>
            <a:endParaRPr lang="en-US" altLang="zh-CN" sz="20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51460" y="2153920"/>
            <a:ext cx="2112645" cy="92392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p>
            <a:pPr marL="171450" indent="-171450">
              <a:lnSpc>
                <a:spcPct val="150000"/>
              </a:lnSpc>
              <a:buFont typeface="Wingdings" charset="0"/>
              <a:buChar char=""/>
            </a:pPr>
            <a:r>
              <a:rPr lang="en-US" altLang="zh-CN" sz="1200" dirty="0">
                <a:solidFill>
                  <a:srgbClr val="111428"/>
                </a:solidFill>
                <a:ea typeface="+mn-lt"/>
                <a:cs typeface="Cambria" pitchFamily="34" charset="-120"/>
              </a:rPr>
              <a:t>Mobile SwiftUI iOS</a:t>
            </a:r>
            <a:endParaRPr lang="en-US" altLang="zh-CN" sz="1200" dirty="0">
              <a:solidFill>
                <a:srgbClr val="111428"/>
              </a:solidFill>
              <a:ea typeface="+mn-lt"/>
              <a:cs typeface="Cambria" pitchFamily="34" charset="-120"/>
            </a:endParaRPr>
          </a:p>
          <a:p>
            <a:pPr marL="171450" indent="-171450">
              <a:lnSpc>
                <a:spcPct val="150000"/>
              </a:lnSpc>
              <a:buFont typeface="Wingdings" charset="0"/>
              <a:buChar char=""/>
            </a:pPr>
            <a:r>
              <a:rPr lang="en-US" altLang="zh-CN" sz="1200" dirty="0">
                <a:solidFill>
                  <a:srgbClr val="111428"/>
                </a:solidFill>
                <a:ea typeface="+mn-lt"/>
                <a:cs typeface="Cambria" pitchFamily="34" charset="-120"/>
              </a:rPr>
              <a:t>Today / History / Plan / My</a:t>
            </a:r>
            <a:endParaRPr lang="en-US" altLang="zh-CN" sz="1200" dirty="0">
              <a:solidFill>
                <a:srgbClr val="111428"/>
              </a:solidFill>
              <a:ea typeface="+mn-lt"/>
              <a:cs typeface="Cambria" pitchFamily="34" charset="-120"/>
            </a:endParaRPr>
          </a:p>
        </p:txBody>
      </p:sp>
      <p:sp>
        <p:nvSpPr>
          <p:cNvPr id="23" name="Rounded Rectangle 7"/>
          <p:cNvSpPr/>
          <p:nvPr/>
        </p:nvSpPr>
        <p:spPr>
          <a:xfrm>
            <a:off x="2532380" y="1559560"/>
            <a:ext cx="2313305" cy="4449445"/>
          </a:xfrm>
          <a:prstGeom prst="roundRect">
            <a:avLst>
              <a:gd name="adj" fmla="val 6000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25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24" name="Rectangle 8"/>
          <p:cNvSpPr/>
          <p:nvPr/>
        </p:nvSpPr>
        <p:spPr>
          <a:xfrm>
            <a:off x="2532380" y="1559560"/>
            <a:ext cx="2322000" cy="90805"/>
          </a:xfrm>
          <a:prstGeom prst="rect">
            <a:avLst/>
          </a:prstGeom>
          <a:solidFill>
            <a:srgbClr val="225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25" name="TextBox 9"/>
          <p:cNvSpPr txBox="1"/>
          <p:nvPr/>
        </p:nvSpPr>
        <p:spPr>
          <a:xfrm>
            <a:off x="2661920" y="1802765"/>
            <a:ext cx="2379980" cy="260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algn="l"/>
            <a:r>
              <a:rPr lang="en-US" altLang="zh-CN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Session Runtime</a:t>
            </a:r>
            <a:endParaRPr lang="en-US" altLang="zh-CN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26" name="TextBox 10"/>
          <p:cNvSpPr txBox="1"/>
          <p:nvPr/>
        </p:nvSpPr>
        <p:spPr>
          <a:xfrm>
            <a:off x="2621280" y="2153920"/>
            <a:ext cx="2112645" cy="12827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p>
            <a:pPr marL="171450" indent="-171450">
              <a:lnSpc>
                <a:spcPct val="135000"/>
              </a:lnSpc>
              <a:buFont typeface="Wingdings" charset="0"/>
              <a:buChar char=""/>
            </a:pPr>
            <a:r>
              <a:rPr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Weekly Coordinator</a:t>
            </a:r>
            <a:endParaRPr sz="1200" b="0">
              <a:solidFill>
                <a:srgbClr val="1C202C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  <a:p>
            <a:pPr marL="171450" indent="-171450">
              <a:lnSpc>
                <a:spcPct val="135000"/>
              </a:lnSpc>
              <a:buFont typeface="Wingdings" charset="0"/>
              <a:buChar char=""/>
            </a:pPr>
            <a:r>
              <a:rPr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BaseSession</a:t>
            </a:r>
            <a:r>
              <a:rPr lang="zh-CN"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模板</a:t>
            </a:r>
            <a:endParaRPr lang="zh-CN" sz="1200">
              <a:solidFill>
                <a:srgbClr val="1C202C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  <a:sym typeface="+mn-ea"/>
            </a:endParaRPr>
          </a:p>
          <a:p>
            <a:pPr marL="171450" indent="-171450">
              <a:lnSpc>
                <a:spcPct val="135000"/>
              </a:lnSpc>
              <a:buFont typeface="Wingdings" charset="0"/>
              <a:buChar char=""/>
            </a:pPr>
            <a:r>
              <a:rPr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Session queue+completion</a:t>
            </a:r>
            <a:endParaRPr lang="en-US" altLang="zh-CN" sz="1200" dirty="0">
              <a:solidFill>
                <a:srgbClr val="111428"/>
              </a:solidFill>
              <a:ea typeface="+mn-lt"/>
              <a:cs typeface="Cambria" pitchFamily="34" charset="-120"/>
            </a:endParaRPr>
          </a:p>
        </p:txBody>
      </p:sp>
      <p:sp>
        <p:nvSpPr>
          <p:cNvPr id="27" name="Rounded Rectangle 7"/>
          <p:cNvSpPr/>
          <p:nvPr/>
        </p:nvSpPr>
        <p:spPr>
          <a:xfrm>
            <a:off x="4932680" y="1559560"/>
            <a:ext cx="2313305" cy="4449445"/>
          </a:xfrm>
          <a:prstGeom prst="roundRect">
            <a:avLst>
              <a:gd name="adj" fmla="val 6000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25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28" name="Rectangle 8"/>
          <p:cNvSpPr/>
          <p:nvPr/>
        </p:nvSpPr>
        <p:spPr>
          <a:xfrm>
            <a:off x="4932680" y="1559560"/>
            <a:ext cx="2322000" cy="90805"/>
          </a:xfrm>
          <a:prstGeom prst="rect">
            <a:avLst/>
          </a:prstGeom>
          <a:solidFill>
            <a:srgbClr val="225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29" name="TextBox 9"/>
          <p:cNvSpPr txBox="1"/>
          <p:nvPr/>
        </p:nvSpPr>
        <p:spPr>
          <a:xfrm>
            <a:off x="5072380" y="1802765"/>
            <a:ext cx="1837690" cy="260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algn="l"/>
            <a:r>
              <a:rPr lang="en-US" altLang="zh-CN" sz="20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 Skills</a:t>
            </a:r>
            <a:endParaRPr lang="en-US" altLang="zh-CN" sz="20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30" name="TextBox 10"/>
          <p:cNvSpPr txBox="1"/>
          <p:nvPr/>
        </p:nvSpPr>
        <p:spPr>
          <a:xfrm>
            <a:off x="5052060" y="2153920"/>
            <a:ext cx="2105025" cy="92392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p>
            <a:pPr marL="171450" indent="-171450">
              <a:lnSpc>
                <a:spcPct val="135000"/>
              </a:lnSpc>
              <a:buFont typeface="Wingdings" charset="0"/>
              <a:buChar char=""/>
            </a:pPr>
            <a:r>
              <a:rPr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Research Feeder(公开源)</a:t>
            </a:r>
            <a:endParaRPr sz="1200" b="0">
              <a:solidFill>
                <a:srgbClr val="1C202C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  <a:p>
            <a:pPr marL="171450" indent="-171450">
              <a:lnSpc>
                <a:spcPct val="135000"/>
              </a:lnSpc>
              <a:buFont typeface="Wingdings" charset="0"/>
              <a:buChar char=""/>
            </a:pPr>
            <a:r>
              <a:rPr lang="en-US"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Signal </a:t>
            </a:r>
            <a:r>
              <a:rPr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Radar(RSS + 网页 + dedup)</a:t>
            </a:r>
            <a:endParaRPr sz="1200" b="0">
              <a:solidFill>
                <a:srgbClr val="1C202C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  <a:p>
            <a:pPr marL="171450" indent="-171450">
              <a:lnSpc>
                <a:spcPct val="135000"/>
              </a:lnSpc>
              <a:buFont typeface="Wingdings" charset="0"/>
              <a:buChar char=""/>
            </a:pPr>
            <a:r>
              <a:rPr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Opportunity Agent</a:t>
            </a:r>
            <a:endParaRPr sz="1200" b="0">
              <a:solidFill>
                <a:srgbClr val="1C202C"/>
              </a:solidFill>
              <a:latin typeface="Noto Sans CJK SC" panose="020B0500000000000000" charset="-122"/>
              <a:ea typeface="Noto Sans CJK SC" panose="020B0500000000000000" charset="-122"/>
              <a:cs typeface="Noto Sans CJK SC" panose="020B0500000000000000" charset="-122"/>
            </a:endParaRPr>
          </a:p>
          <a:p>
            <a:pPr marL="171450" indent="-171450">
              <a:lnSpc>
                <a:spcPct val="135000"/>
              </a:lnSpc>
              <a:buFont typeface="Wingdings" charset="0"/>
              <a:buChar char=""/>
            </a:pPr>
            <a:r>
              <a:rPr sz="1200">
                <a:solidFill>
                  <a:srgbClr val="1C202C"/>
                </a:solidFill>
                <a:latin typeface="Noto Sans CJK SC" panose="020B0500000000000000" charset="-122"/>
                <a:ea typeface="Noto Sans CJK SC" panose="020B0500000000000000" charset="-122"/>
                <a:cs typeface="Noto Sans CJK SC" panose="020B0500000000000000" charset="-122"/>
                <a:sym typeface="+mn-ea"/>
              </a:rPr>
              <a:t>Chat / Guidance Agent</a:t>
            </a:r>
            <a:endParaRPr lang="en-US" altLang="zh-CN" sz="1200" dirty="0">
              <a:solidFill>
                <a:srgbClr val="111428"/>
              </a:solidFill>
              <a:ea typeface="+mn-lt"/>
              <a:cs typeface="Cambria" pitchFamily="34" charset="-120"/>
            </a:endParaRPr>
          </a:p>
        </p:txBody>
      </p:sp>
      <p:sp>
        <p:nvSpPr>
          <p:cNvPr id="31" name="Rounded Rectangle 7"/>
          <p:cNvSpPr/>
          <p:nvPr/>
        </p:nvSpPr>
        <p:spPr>
          <a:xfrm>
            <a:off x="7332980" y="1559560"/>
            <a:ext cx="2313305" cy="4449445"/>
          </a:xfrm>
          <a:prstGeom prst="roundRect">
            <a:avLst>
              <a:gd name="adj" fmla="val 6000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25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32" name="Rectangle 8"/>
          <p:cNvSpPr/>
          <p:nvPr/>
        </p:nvSpPr>
        <p:spPr>
          <a:xfrm>
            <a:off x="7332980" y="1559560"/>
            <a:ext cx="2322000" cy="90805"/>
          </a:xfrm>
          <a:prstGeom prst="rect">
            <a:avLst/>
          </a:prstGeom>
          <a:solidFill>
            <a:srgbClr val="225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33" name="TextBox 9"/>
          <p:cNvSpPr txBox="1"/>
          <p:nvPr/>
        </p:nvSpPr>
        <p:spPr>
          <a:xfrm>
            <a:off x="7472680" y="1802765"/>
            <a:ext cx="2052320" cy="260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algn="l"/>
            <a:r>
              <a:rPr lang="en-US" altLang="zh-CN" sz="20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Model &amp; Tools</a:t>
            </a:r>
            <a:endParaRPr lang="en-US" altLang="zh-CN" sz="20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34" name="TextBox 10"/>
          <p:cNvSpPr txBox="1"/>
          <p:nvPr/>
        </p:nvSpPr>
        <p:spPr>
          <a:xfrm>
            <a:off x="7433310" y="2215515"/>
            <a:ext cx="2112645" cy="154622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LLM: OpenRouter 可选接入</a:t>
            </a:r>
            <a:endParaRPr sz="1200">
              <a:sym typeface="+mn-ea"/>
            </a:endParaRPr>
          </a:p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MaterialSource adapter</a:t>
            </a:r>
            <a:endParaRPr sz="1200">
              <a:sym typeface="+mn-ea"/>
            </a:endParaRPr>
          </a:p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· 公开 URL · 用户 PDF metadata · repo</a:t>
            </a:r>
            <a:endParaRPr sz="1200">
              <a:sym typeface="+mn-ea"/>
            </a:endParaRPr>
          </a:p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· 外部调用失败时向 UI 返回明确状态</a:t>
            </a:r>
            <a:endParaRPr sz="1200">
              <a:sym typeface="+mn-ea"/>
            </a:endParaRPr>
          </a:p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上下文以结构化 prompt 注入，不依赖黑盒 RAG</a:t>
            </a:r>
            <a:endParaRPr lang="en-US" altLang="zh-CN" sz="1200" dirty="0">
              <a:solidFill>
                <a:srgbClr val="111428"/>
              </a:solidFill>
              <a:ea typeface="+mn-lt"/>
              <a:cs typeface="Cambria" pitchFamily="34" charset="-120"/>
            </a:endParaRPr>
          </a:p>
        </p:txBody>
      </p:sp>
      <p:sp>
        <p:nvSpPr>
          <p:cNvPr id="35" name="Rounded Rectangle 7"/>
          <p:cNvSpPr/>
          <p:nvPr/>
        </p:nvSpPr>
        <p:spPr>
          <a:xfrm>
            <a:off x="9733280" y="1559560"/>
            <a:ext cx="2313305" cy="4449445"/>
          </a:xfrm>
          <a:prstGeom prst="roundRect">
            <a:avLst>
              <a:gd name="adj" fmla="val 6000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25B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36" name="Rectangle 8"/>
          <p:cNvSpPr/>
          <p:nvPr/>
        </p:nvSpPr>
        <p:spPr>
          <a:xfrm>
            <a:off x="9733280" y="1559560"/>
            <a:ext cx="2322000" cy="90805"/>
          </a:xfrm>
          <a:prstGeom prst="rect">
            <a:avLst/>
          </a:prstGeom>
          <a:solidFill>
            <a:srgbClr val="225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37" name="TextBox 9"/>
          <p:cNvSpPr txBox="1"/>
          <p:nvPr/>
        </p:nvSpPr>
        <p:spPr>
          <a:xfrm>
            <a:off x="9842500" y="1802765"/>
            <a:ext cx="2133600" cy="260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p>
            <a:pPr algn="l"/>
            <a:r>
              <a:rPr lang="en-US" altLang="zh-CN" sz="20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Data &amp; Memory</a:t>
            </a:r>
            <a:endParaRPr lang="en-US" altLang="zh-CN" sz="20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38" name="TextBox 10"/>
          <p:cNvSpPr txBox="1"/>
          <p:nvPr/>
        </p:nvSpPr>
        <p:spPr>
          <a:xfrm>
            <a:off x="9845040" y="2215515"/>
            <a:ext cx="2112645" cy="15989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SQLite 本地存储</a:t>
            </a:r>
            <a:endParaRPr sz="1200">
              <a:sym typeface="+mn-ea"/>
            </a:endParaRPr>
          </a:p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UserContext · Plan · 偏好</a:t>
            </a:r>
            <a:endParaRPr sz="1200">
              <a:sym typeface="+mn-ea"/>
            </a:endParaRPr>
          </a:p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MaterialSource · Check-ins · History</a:t>
            </a:r>
            <a:endParaRPr sz="1200">
              <a:sym typeface="+mn-ea"/>
            </a:endParaRPr>
          </a:p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session/context_refs 绑定讨论上下文</a:t>
            </a:r>
            <a:endParaRPr sz="1200">
              <a:sym typeface="+mn-ea"/>
            </a:endParaRPr>
          </a:p>
          <a:p>
            <a:pPr marL="171450" indent="-171450">
              <a:buFont typeface="Wingdings" charset="0"/>
              <a:buChar char=""/>
              <a:defRPr sz="1400">
                <a:solidFill>
                  <a:srgbClr val="1F2333"/>
                </a:solidFill>
                <a:latin typeface="Aptos"/>
              </a:defRPr>
            </a:pPr>
            <a:r>
              <a:rPr sz="1200">
                <a:sym typeface="+mn-ea"/>
              </a:rPr>
              <a:t>仅公开源 + 用户自主提供 · UI 标注来源</a:t>
            </a:r>
            <a:endParaRPr lang="en-US" altLang="zh-CN" sz="1200" dirty="0">
              <a:solidFill>
                <a:srgbClr val="111428"/>
              </a:solidFill>
              <a:ea typeface="+mn-lt"/>
              <a:cs typeface="Cambria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移动端形态已经跑通</a:t>
            </a:r>
            <a:endParaRPr lang="zh-CN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86010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原生</a:t>
            </a:r>
            <a:r>
              <a:rPr lang="en-US" altLang="zh-CN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SwiftUI iOS</a:t>
            </a:r>
            <a:r>
              <a:rPr lang="zh-CN" altLang="en-US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应用是当前主端，共享同一套后端</a:t>
            </a:r>
            <a:r>
              <a:rPr lang="en-US" altLang="zh-CN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JSON</a:t>
            </a:r>
            <a:r>
              <a:rPr lang="zh-CN" altLang="en-US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协议</a:t>
            </a:r>
            <a:endParaRPr lang="zh-CN" altLang="en-US" sz="1400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04 Generalizability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同一套抽象，映射到任意专业领域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86010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从职业能力建设,到研究/创作/创业等场景——迁移的是应用领域,不变的是背后的四类任务模式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502920" y="1446530"/>
          <a:ext cx="11266805" cy="1828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960"/>
                <a:gridCol w="2902585"/>
                <a:gridCol w="3502025"/>
                <a:gridCol w="2768940"/>
              </a:tblGrid>
              <a:tr h="34734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zh-CN" alt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</a:rPr>
                        <a:t>领域</a:t>
                      </a:r>
                      <a:endParaRPr lang="zh-CN" altLang="en-US" sz="140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Radar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Opportunity Alignment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Deep Dive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</a:tr>
              <a:tr h="341630">
                <a:tc>
                  <a:txBody>
                    <a:bodyPr/>
                    <a:p>
                      <a:pPr marL="0" indent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职业能力建设</a:t>
                      </a:r>
                      <a:endParaRPr 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  <a:p>
                      <a:pPr marL="0" indent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（当前旗舰场景）</a:t>
                      </a:r>
                      <a:endParaRPr lang="en-US" altLang="en-US"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技术趋势 / 产品动态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JD / 招聘要求 / 简历差距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论文 / repo 精读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</a:tr>
              <a:tr h="2476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研究方向探索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领域最新进展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CFP / Benchmark / Open Problem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论文精读与复现判断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1714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创作者 / IP 运营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平台热点与算法变化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爆款内容 / 用户反馈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同类内容深度拆解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1714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创业 / 产品方向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行业与竞品动态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用户需求 / 市场机会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案例 / 竞品深度研究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7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3940</Words>
  <Application>WPS 演示</Application>
  <PresentationFormat>宽屏</PresentationFormat>
  <Paragraphs>393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11</vt:i4>
      </vt:variant>
    </vt:vector>
  </HeadingPairs>
  <TitlesOfParts>
    <vt:vector size="47" baseType="lpstr">
      <vt:lpstr>Arial</vt:lpstr>
      <vt:lpstr>宋体</vt:lpstr>
      <vt:lpstr>Wingdings</vt:lpstr>
      <vt:lpstr>URW Gothic</vt:lpstr>
      <vt:lpstr>Noto Serif CJK KR Black</vt:lpstr>
      <vt:lpstr>Calibri</vt:lpstr>
      <vt:lpstr>Trebuchet MS</vt:lpstr>
      <vt:lpstr>Calibri</vt:lpstr>
      <vt:lpstr>Calibri</vt:lpstr>
      <vt:lpstr>宋体</vt:lpstr>
      <vt:lpstr>Cambria</vt:lpstr>
      <vt:lpstr>AR PL UKai CN</vt:lpstr>
      <vt:lpstr>Noto Sans CJK SC</vt:lpstr>
      <vt:lpstr>Anek Tamil Expanded SemiBold</vt:lpstr>
      <vt:lpstr>Gubbi</vt:lpstr>
      <vt:lpstr>Wingdings</vt:lpstr>
      <vt:lpstr>Droid Sans Fallback</vt:lpstr>
      <vt:lpstr>微软雅黑</vt:lpstr>
      <vt:lpstr>Arial Unicode MS</vt:lpstr>
      <vt:lpstr>微软雅黑</vt:lpstr>
      <vt:lpstr>东文宋体</vt:lpstr>
      <vt:lpstr>Aptos</vt:lpstr>
      <vt:lpstr>Times New Roman</vt:lpstr>
      <vt:lpstr>Calibri Light</vt:lpstr>
      <vt:lpstr>DejaVu Sans</vt:lpstr>
      <vt:lpstr>OpenSymbol</vt:lpstr>
      <vt:lpstr>WPS</vt:lpstr>
      <vt:lpstr>自定义设计方案</vt:lpstr>
      <vt:lpstr>1_自定义设计方案</vt:lpstr>
      <vt:lpstr>2_自定义设计方案</vt:lpstr>
      <vt:lpstr>3_自定义设计方案</vt:lpstr>
      <vt:lpstr>4_自定义设计方案</vt:lpstr>
      <vt:lpstr>5_自定义设计方案</vt:lpstr>
      <vt:lpstr>6_自定义设计方案</vt:lpstr>
      <vt:lpstr>7_自定义设计方案</vt:lpstr>
      <vt:lpstr>8_自定义设计方案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maxh</cp:lastModifiedBy>
  <cp:revision>173</cp:revision>
  <dcterms:created xsi:type="dcterms:W3CDTF">2026-08-14T09:53:53Z</dcterms:created>
  <dcterms:modified xsi:type="dcterms:W3CDTF">2026-08-14T09:53:53Z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4C5BE1D3321C749C159A766AC0D3627C_41</vt:lpwstr>
  </property>
</Properties>
</file>