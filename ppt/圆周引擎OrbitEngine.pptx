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3"/>
    <p:sldMasterId id="2147483653" r:id="rId4"/>
    <p:sldMasterId id="2147483655" r:id="rId5"/>
    <p:sldMasterId id="2147483657" r:id="rId6"/>
    <p:sldMasterId id="2147483659" r:id="rId7"/>
    <p:sldMasterId id="2147483661" r:id="rId8"/>
    <p:sldMasterId id="2147483663" r:id="rId9"/>
    <p:sldMasterId id="2147483665" r:id="rId10"/>
    <p:sldMasterId id="2147483667" r:id="rId11"/>
  </p:sldMasterIdLst>
  <p:notesMasterIdLst>
    <p:notesMasterId r:id="rId23"/>
  </p:notesMasterIdLst>
  <p:handoutMasterIdLst>
    <p:handoutMasterId r:id="rId24"/>
  </p:handoutMasterIdLst>
  <p:sldIdLst>
    <p:sldId id="256" r:id="rId12"/>
    <p:sldId id="272" r:id="rId13"/>
    <p:sldId id="262" r:id="rId14"/>
    <p:sldId id="261" r:id="rId15"/>
    <p:sldId id="264" r:id="rId16"/>
    <p:sldId id="265" r:id="rId17"/>
    <p:sldId id="270" r:id="rId18"/>
    <p:sldId id="273" r:id="rId19"/>
    <p:sldId id="271" r:id="rId20"/>
    <p:sldId id="274" r:id="rId21"/>
    <p:sldId id="269" r:id="rId22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90" userDrawn="1">
          <p15:clr>
            <a:srgbClr val="A4A3A4"/>
          </p15:clr>
        </p15:guide>
        <p15:guide id="2" pos="38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F1E9"/>
    <a:srgbClr val="DE897E"/>
    <a:srgbClr val="DB867C"/>
    <a:srgbClr val="A786C1"/>
    <a:srgbClr val="BD83A7"/>
    <a:srgbClr val="D08490"/>
    <a:srgbClr val="DF897E"/>
    <a:srgbClr val="D9ADC0"/>
    <a:srgbClr val="EADEDD"/>
    <a:srgbClr val="9D65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090"/>
        <p:guide pos="38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Master" Target="slideMasters/slideMaster8.xml"/><Relationship Id="rId8" Type="http://schemas.openxmlformats.org/officeDocument/2006/relationships/slideMaster" Target="slideMasters/slideMaster7.xml"/><Relationship Id="rId7" Type="http://schemas.openxmlformats.org/officeDocument/2006/relationships/slideMaster" Target="slideMasters/slideMaster6.xml"/><Relationship Id="rId6" Type="http://schemas.openxmlformats.org/officeDocument/2006/relationships/slideMaster" Target="slideMasters/slideMaster5.xml"/><Relationship Id="rId5" Type="http://schemas.openxmlformats.org/officeDocument/2006/relationships/slideMaster" Target="slideMasters/slideMaster4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handoutMaster" Target="handoutMasters/handoutMaster1.xml"/><Relationship Id="rId23" Type="http://schemas.openxmlformats.org/officeDocument/2006/relationships/notesMaster" Target="notesMasters/notesMaster1.xml"/><Relationship Id="rId22" Type="http://schemas.openxmlformats.org/officeDocument/2006/relationships/slide" Target="slides/slide11.xml"/><Relationship Id="rId21" Type="http://schemas.openxmlformats.org/officeDocument/2006/relationships/slide" Target="slides/slide10.xml"/><Relationship Id="rId20" Type="http://schemas.openxmlformats.org/officeDocument/2006/relationships/slide" Target="slides/slide9.xml"/><Relationship Id="rId2" Type="http://schemas.openxmlformats.org/officeDocument/2006/relationships/theme" Target="theme/theme1.xml"/><Relationship Id="rId19" Type="http://schemas.openxmlformats.org/officeDocument/2006/relationships/slide" Target="slides/slide8.xml"/><Relationship Id="rId18" Type="http://schemas.openxmlformats.org/officeDocument/2006/relationships/slide" Target="slides/slide7.xml"/><Relationship Id="rId17" Type="http://schemas.openxmlformats.org/officeDocument/2006/relationships/slide" Target="slides/slide6.xml"/><Relationship Id="rId16" Type="http://schemas.openxmlformats.org/officeDocument/2006/relationships/slide" Target="slides/slide5.xml"/><Relationship Id="rId15" Type="http://schemas.openxmlformats.org/officeDocument/2006/relationships/slide" Target="slides/slide4.xml"/><Relationship Id="rId14" Type="http://schemas.openxmlformats.org/officeDocument/2006/relationships/slide" Target="slides/slide3.xml"/><Relationship Id="rId13" Type="http://schemas.openxmlformats.org/officeDocument/2006/relationships/slide" Target="slides/slide2.xml"/><Relationship Id="rId12" Type="http://schemas.openxmlformats.org/officeDocument/2006/relationships/slide" Target="slides/slide1.xml"/><Relationship Id="rId11" Type="http://schemas.openxmlformats.org/officeDocument/2006/relationships/slideMaster" Target="slideMasters/slideMaster10.xml"/><Relationship Id="rId10" Type="http://schemas.openxmlformats.org/officeDocument/2006/relationships/slideMaster" Target="slideMasters/slideMaster9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/>
          </p:cNvPicPr>
          <p:nvPr userDrawn="1"/>
        </p:nvPicPr>
        <p:blipFill>
          <a:blip r:embed="rId2">
            <a:alphaModFix amt="90000"/>
          </a:blip>
          <a:stretch>
            <a:fillRect/>
          </a:stretch>
        </p:blipFill>
        <p:spPr>
          <a:xfrm>
            <a:off x="3007995" y="10795"/>
            <a:ext cx="7039610" cy="7039610"/>
          </a:xfrm>
          <a:prstGeom prst="rect">
            <a:avLst/>
          </a:prstGeom>
        </p:spPr>
      </p:pic>
      <p:sp>
        <p:nvSpPr>
          <p:cNvPr id="13" name="椭圆 12"/>
          <p:cNvSpPr/>
          <p:nvPr userDrawn="1"/>
        </p:nvSpPr>
        <p:spPr>
          <a:xfrm>
            <a:off x="2514600" y="-399415"/>
            <a:ext cx="5505450" cy="5542915"/>
          </a:xfrm>
          <a:prstGeom prst="ellipse">
            <a:avLst/>
          </a:prstGeom>
          <a:solidFill>
            <a:srgbClr val="F4F1E9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-1500000">
            <a:off x="2221865" y="2085340"/>
            <a:ext cx="7503795" cy="2461260"/>
          </a:xfrm>
          <a:prstGeom prst="rect">
            <a:avLst/>
          </a:prstGeom>
        </p:spPr>
      </p:pic>
      <p:pic>
        <p:nvPicPr>
          <p:cNvPr id="12" name="Picture 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 rot="-1860000">
            <a:off x="2242185" y="2092325"/>
            <a:ext cx="7463790" cy="244792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gradFill>
          <a:gsLst>
            <a:gs pos="51000">
              <a:srgbClr val="E4D8EE"/>
            </a:gs>
            <a:gs pos="0">
              <a:schemeClr val="accent6">
                <a:lumMod val="20000"/>
                <a:lumOff val="80000"/>
              </a:schemeClr>
            </a:gs>
            <a:gs pos="100000">
              <a:schemeClr val="accent2">
                <a:lumMod val="20000"/>
                <a:lumOff val="80000"/>
              </a:schemeClr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Freeform 3" descr="a glowing gradient brush stroke "/>
          <p:cNvSpPr/>
          <p:nvPr userDrawn="1"/>
        </p:nvSpPr>
        <p:spPr>
          <a:xfrm rot="9007576">
            <a:off x="-2720340" y="1591310"/>
            <a:ext cx="7639685" cy="8204200"/>
          </a:xfrm>
          <a:custGeom>
            <a:avLst/>
            <a:gdLst/>
            <a:ahLst/>
            <a:cxnLst/>
            <a:rect l="l" t="t" r="r" b="b"/>
            <a:pathLst>
              <a:path w="10624840" h="12724359">
                <a:moveTo>
                  <a:pt x="0" y="0"/>
                </a:moveTo>
                <a:lnTo>
                  <a:pt x="10624840" y="0"/>
                </a:lnTo>
                <a:lnTo>
                  <a:pt x="10624840" y="12724359"/>
                </a:lnTo>
                <a:lnTo>
                  <a:pt x="0" y="127243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5000"/>
            </a:blip>
            <a:stretch>
              <a:fillRect/>
            </a:stretch>
          </a:blipFill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6" Type="http://schemas.openxmlformats.org/officeDocument/2006/relationships/theme" Target="../theme/theme2.xml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Masters/_rels/slideMaster3.xml.rels><?xml version="1.0" encoding="UTF-8" standalone="yes"?>
<Relationships xmlns="http://schemas.openxmlformats.org/package/2006/relationships"><Relationship Id="rId5" Type="http://schemas.openxmlformats.org/officeDocument/2006/relationships/theme" Target="../theme/theme3.xml"/><Relationship Id="rId4" Type="http://schemas.openxmlformats.org/officeDocument/2006/relationships/image" Target="../media/image9.png"/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Masters/_rels/slideMaster4.xml.rels><?xml version="1.0" encoding="UTF-8" standalone="yes"?>
<Relationships xmlns="http://schemas.openxmlformats.org/package/2006/relationships"><Relationship Id="rId6" Type="http://schemas.openxmlformats.org/officeDocument/2006/relationships/theme" Target="../theme/theme4.xml"/><Relationship Id="rId5" Type="http://schemas.openxmlformats.org/officeDocument/2006/relationships/image" Target="../media/image11.png"/><Relationship Id="rId4" Type="http://schemas.openxmlformats.org/officeDocument/2006/relationships/image" Target="../media/image6.svg"/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heme" Target="../theme/theme6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theme" Target="../theme/theme7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theme" Target="../theme/theme8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theme" Target="../theme/theme9.xm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theme" Target="../theme/theme10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Freeform 2" descr="a glowing gradient brush stroke"/>
          <p:cNvSpPr/>
          <p:nvPr userDrawn="1"/>
        </p:nvSpPr>
        <p:spPr>
          <a:xfrm>
            <a:off x="2698750" y="637540"/>
            <a:ext cx="6263640" cy="5582920"/>
          </a:xfrm>
          <a:custGeom>
            <a:avLst/>
            <a:gdLst/>
            <a:ahLst/>
            <a:cxnLst/>
            <a:rect l="l" t="t" r="r" b="b"/>
            <a:pathLst>
              <a:path w="8553310" h="8553310">
                <a:moveTo>
                  <a:pt x="0" y="0"/>
                </a:moveTo>
                <a:lnTo>
                  <a:pt x="8553310" y="0"/>
                </a:lnTo>
                <a:lnTo>
                  <a:pt x="8553310" y="8553310"/>
                </a:lnTo>
                <a:lnTo>
                  <a:pt x="0" y="85533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3"/>
          <p:cNvSpPr/>
          <p:nvPr userDrawn="1"/>
        </p:nvSpPr>
        <p:spPr>
          <a:xfrm rot="-2244769">
            <a:off x="7503160" y="-3639185"/>
            <a:ext cx="8134350" cy="8946515"/>
          </a:xfrm>
          <a:custGeom>
            <a:avLst/>
            <a:gdLst/>
            <a:ahLst/>
            <a:cxnLst/>
            <a:rect l="l" t="t" r="r" b="b"/>
            <a:pathLst>
              <a:path w="12326388" h="12824155">
                <a:moveTo>
                  <a:pt x="0" y="0"/>
                </a:moveTo>
                <a:lnTo>
                  <a:pt x="12326387" y="0"/>
                </a:lnTo>
                <a:lnTo>
                  <a:pt x="12326387" y="12824154"/>
                </a:lnTo>
                <a:lnTo>
                  <a:pt x="0" y="128241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r="-328"/>
            </a:stretch>
          </a:blipFill>
        </p:spPr>
      </p:sp>
      <p:sp>
        <p:nvSpPr>
          <p:cNvPr id="9" name="Freeform 4"/>
          <p:cNvSpPr/>
          <p:nvPr userDrawn="1"/>
        </p:nvSpPr>
        <p:spPr>
          <a:xfrm rot="1162109">
            <a:off x="-5512435" y="3198495"/>
            <a:ext cx="10259695" cy="7027545"/>
          </a:xfrm>
          <a:custGeom>
            <a:avLst/>
            <a:gdLst/>
            <a:ahLst/>
            <a:cxnLst/>
            <a:rect l="l" t="t" r="r" b="b"/>
            <a:pathLst>
              <a:path w="15657358" h="11677597">
                <a:moveTo>
                  <a:pt x="0" y="0"/>
                </a:moveTo>
                <a:lnTo>
                  <a:pt x="15657358" y="0"/>
                </a:lnTo>
                <a:lnTo>
                  <a:pt x="15657358" y="11677597"/>
                </a:lnTo>
                <a:lnTo>
                  <a:pt x="0" y="11677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94350"/>
            </a:stretch>
          </a:blip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Freeform 2" descr="a rounded gradient shape"/>
          <p:cNvSpPr/>
          <p:nvPr userDrawn="1"/>
        </p:nvSpPr>
        <p:spPr>
          <a:xfrm>
            <a:off x="6096000" y="-3339465"/>
            <a:ext cx="10243185" cy="9320530"/>
          </a:xfrm>
          <a:custGeom>
            <a:avLst/>
            <a:gdLst/>
            <a:ahLst/>
            <a:cxnLst/>
            <a:rect l="l" t="t" r="r" b="b"/>
            <a:pathLst>
              <a:path w="15350424" h="15350424">
                <a:moveTo>
                  <a:pt x="0" y="0"/>
                </a:moveTo>
                <a:lnTo>
                  <a:pt x="15350424" y="0"/>
                </a:lnTo>
                <a:lnTo>
                  <a:pt x="15350424" y="15350424"/>
                </a:lnTo>
                <a:lnTo>
                  <a:pt x="0" y="153504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3"/>
          <p:cNvSpPr/>
          <p:nvPr userDrawn="1"/>
        </p:nvSpPr>
        <p:spPr>
          <a:xfrm>
            <a:off x="-5285105" y="-1374140"/>
            <a:ext cx="12105640" cy="10544175"/>
          </a:xfrm>
          <a:custGeom>
            <a:avLst/>
            <a:gdLst/>
            <a:ahLst/>
            <a:cxnLst/>
            <a:rect l="l" t="t" r="r" b="b"/>
            <a:pathLst>
              <a:path w="18963665" h="18299937">
                <a:moveTo>
                  <a:pt x="0" y="0"/>
                </a:moveTo>
                <a:lnTo>
                  <a:pt x="18963665" y="0"/>
                </a:lnTo>
                <a:lnTo>
                  <a:pt x="18963665" y="18299937"/>
                </a:lnTo>
                <a:lnTo>
                  <a:pt x="0" y="1829993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0000"/>
            </a:blip>
            <a:stretch>
              <a:fillRect/>
            </a:stretch>
          </a:blip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Freeform 2"/>
          <p:cNvSpPr/>
          <p:nvPr userDrawn="1"/>
        </p:nvSpPr>
        <p:spPr>
          <a:xfrm rot="1386800">
            <a:off x="-4359275" y="-4234815"/>
            <a:ext cx="9654540" cy="11571605"/>
          </a:xfrm>
          <a:custGeom>
            <a:avLst/>
            <a:gdLst/>
            <a:ahLst/>
            <a:cxnLst/>
            <a:rect l="l" t="t" r="r" b="b"/>
            <a:pathLst>
              <a:path w="16785154" h="19718242">
                <a:moveTo>
                  <a:pt x="0" y="0"/>
                </a:moveTo>
                <a:lnTo>
                  <a:pt x="16785154" y="0"/>
                </a:lnTo>
                <a:lnTo>
                  <a:pt x="16785154" y="19718242"/>
                </a:lnTo>
                <a:lnTo>
                  <a:pt x="0" y="197182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Freeform 3" descr="a glowing gradient brush stroke"/>
          <p:cNvSpPr/>
          <p:nvPr userDrawn="1"/>
        </p:nvSpPr>
        <p:spPr>
          <a:xfrm>
            <a:off x="3216345" y="596335"/>
            <a:ext cx="5760000" cy="5760000"/>
          </a:xfrm>
          <a:custGeom>
            <a:avLst/>
            <a:gdLst/>
            <a:ahLst/>
            <a:cxnLst/>
            <a:rect l="l" t="t" r="r" b="b"/>
            <a:pathLst>
              <a:path w="8553310" h="8553310">
                <a:moveTo>
                  <a:pt x="0" y="0"/>
                </a:moveTo>
                <a:lnTo>
                  <a:pt x="8553310" y="0"/>
                </a:lnTo>
                <a:lnTo>
                  <a:pt x="8553310" y="8553310"/>
                </a:lnTo>
                <a:lnTo>
                  <a:pt x="0" y="85533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4"/>
          <p:cNvSpPr/>
          <p:nvPr userDrawn="1"/>
        </p:nvSpPr>
        <p:spPr>
          <a:xfrm rot="776759">
            <a:off x="9402445" y="2672715"/>
            <a:ext cx="7814310" cy="5801360"/>
          </a:xfrm>
          <a:custGeom>
            <a:avLst/>
            <a:gdLst/>
            <a:ahLst/>
            <a:cxnLst/>
            <a:rect l="l" t="t" r="r" b="b"/>
            <a:pathLst>
              <a:path w="12435485" h="11098670">
                <a:moveTo>
                  <a:pt x="0" y="0"/>
                </a:moveTo>
                <a:lnTo>
                  <a:pt x="12435485" y="0"/>
                </a:lnTo>
                <a:lnTo>
                  <a:pt x="12435485" y="11098671"/>
                </a:lnTo>
                <a:lnTo>
                  <a:pt x="0" y="110986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Freeform 2" descr="a colorful glowing gradient brush stroke "/>
          <p:cNvSpPr/>
          <p:nvPr userDrawn="1"/>
        </p:nvSpPr>
        <p:spPr>
          <a:xfrm rot="6381568">
            <a:off x="8330565" y="-2060575"/>
            <a:ext cx="7562215" cy="10107930"/>
          </a:xfrm>
          <a:custGeom>
            <a:avLst/>
            <a:gdLst/>
            <a:ahLst/>
            <a:cxnLst/>
            <a:rect l="l" t="t" r="r" b="b"/>
            <a:pathLst>
              <a:path w="13067819" h="14379993">
                <a:moveTo>
                  <a:pt x="0" y="0"/>
                </a:moveTo>
                <a:lnTo>
                  <a:pt x="13067819" y="0"/>
                </a:lnTo>
                <a:lnTo>
                  <a:pt x="13067819" y="14379993"/>
                </a:lnTo>
                <a:lnTo>
                  <a:pt x="0" y="143799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Freeform 2" descr="a glowing gradient brush stroke"/>
          <p:cNvSpPr/>
          <p:nvPr userDrawn="1"/>
        </p:nvSpPr>
        <p:spPr>
          <a:xfrm rot="337666">
            <a:off x="-909320" y="767080"/>
            <a:ext cx="12066270" cy="9935845"/>
          </a:xfrm>
          <a:custGeom>
            <a:avLst/>
            <a:gdLst/>
            <a:ahLst/>
            <a:cxnLst/>
            <a:rect l="l" t="t" r="r" b="b"/>
            <a:pathLst>
              <a:path w="18447884" h="15081145">
                <a:moveTo>
                  <a:pt x="0" y="0"/>
                </a:moveTo>
                <a:lnTo>
                  <a:pt x="18447883" y="0"/>
                </a:lnTo>
                <a:lnTo>
                  <a:pt x="18447883" y="15081145"/>
                </a:lnTo>
                <a:lnTo>
                  <a:pt x="0" y="150811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Picture 2"/>
          <p:cNvPicPr>
            <a:picLocks noChangeAspect="1"/>
          </p:cNvPicPr>
          <p:nvPr userDrawn="1"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8236585" cy="617791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0" name="Picture 4"/>
          <p:cNvPicPr>
            <a:picLocks noChangeAspect="1"/>
          </p:cNvPicPr>
          <p:nvPr userDrawn="1"/>
        </p:nvPicPr>
        <p:blipFill>
          <a:blip r:embed="rId2">
            <a:alphaModFix amt="70000"/>
          </a:blip>
          <a:stretch>
            <a:fillRect/>
          </a:stretch>
        </p:blipFill>
        <p:spPr>
          <a:xfrm rot="10800000" flipH="1">
            <a:off x="0" y="871220"/>
            <a:ext cx="14211300" cy="598678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9" name="Picture 2"/>
          <p:cNvPicPr>
            <a:picLocks noChangeAspect="1"/>
          </p:cNvPicPr>
          <p:nvPr userDrawn="1"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630555" y="2211070"/>
            <a:ext cx="4273550" cy="4392295"/>
          </a:xfrm>
          <a:prstGeom prst="ellipse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Picture 2"/>
          <p:cNvPicPr>
            <a:picLocks noChangeAspect="1"/>
          </p:cNvPicPr>
          <p:nvPr userDrawn="1"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-11430" y="0"/>
            <a:ext cx="9625965" cy="721995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png"/><Relationship Id="rId8" Type="http://schemas.openxmlformats.org/officeDocument/2006/relationships/image" Target="../media/image27.svg"/><Relationship Id="rId7" Type="http://schemas.openxmlformats.org/officeDocument/2006/relationships/image" Target="../media/image26.png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svg"/><Relationship Id="rId3" Type="http://schemas.openxmlformats.org/officeDocument/2006/relationships/image" Target="../media/image22.png"/><Relationship Id="rId2" Type="http://schemas.openxmlformats.org/officeDocument/2006/relationships/image" Target="../media/image21.svg"/><Relationship Id="rId11" Type="http://schemas.openxmlformats.org/officeDocument/2006/relationships/slideLayout" Target="../slideLayouts/slideLayout4.xml"/><Relationship Id="rId10" Type="http://schemas.openxmlformats.org/officeDocument/2006/relationships/image" Target="../media/image19.png"/><Relationship Id="rId1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5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3" Type="http://schemas.openxmlformats.org/officeDocument/2006/relationships/image" Target="../media/image28.pn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3286125" y="2357120"/>
            <a:ext cx="608330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6000" b="1">
                <a:latin typeface="URW Gothic" panose="00000500000000000000" charset="0"/>
                <a:ea typeface="Noto Serif CJK KR Black" panose="02020900000000000000" charset="-122"/>
                <a:cs typeface="URW Gothic" panose="00000500000000000000" charset="0"/>
              </a:rPr>
              <a:t>Orbit Engine</a:t>
            </a:r>
            <a:endParaRPr lang="en-US" altLang="zh-CN" sz="6000" b="1">
              <a:latin typeface="URW Gothic" panose="00000500000000000000" charset="0"/>
              <a:ea typeface="Noto Serif CJK KR Black" panose="02020900000000000000" charset="-122"/>
              <a:cs typeface="URW Gothic" panose="00000500000000000000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867150" y="3371850"/>
            <a:ext cx="493077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4800" b="1">
                <a:latin typeface="URW Gothic" panose="00000500000000000000" charset="0"/>
                <a:ea typeface="Noto Serif CJK KR Black" panose="02020900000000000000" charset="-122"/>
                <a:cs typeface="URW Gothic" panose="00000500000000000000" charset="0"/>
              </a:rPr>
              <a:t>圆周引擎</a:t>
            </a:r>
            <a:endParaRPr lang="zh-CN" altLang="en-US" sz="4800" b="1">
              <a:latin typeface="URW Gothic" panose="00000500000000000000" charset="0"/>
              <a:ea typeface="Noto Serif CJK KR Black" panose="02020900000000000000" charset="-122"/>
              <a:cs typeface="URW Gothic" panose="00000500000000000000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25955" y="439420"/>
            <a:ext cx="8686800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+mn-ea"/>
                <a:cs typeface="+mn-ea"/>
              </a:rPr>
              <a:t>面向任意专业领域的周期性成长 Agent</a:t>
            </a:r>
            <a:endParaRPr lang="en-US" sz="1600" b="1" dirty="0">
              <a:solidFill>
                <a:schemeClr val="tx1"/>
              </a:solidFill>
              <a:latin typeface="+mn-ea"/>
              <a:cs typeface="+mn-ea"/>
            </a:endParaRPr>
          </a:p>
        </p:txBody>
      </p:sp>
      <p:sp>
        <p:nvSpPr>
          <p:cNvPr id="6" name="Text 8"/>
          <p:cNvSpPr/>
          <p:nvPr/>
        </p:nvSpPr>
        <p:spPr>
          <a:xfrm>
            <a:off x="1925955" y="782320"/>
            <a:ext cx="8686800" cy="41148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+mn-ea"/>
                <a:cs typeface="+mn-ea"/>
              </a:rPr>
              <a:t>每一次循环，都在积累前进的动能 — Every cycle builds momentum.</a:t>
            </a:r>
            <a:endParaRPr lang="en-US" sz="1200" b="1" dirty="0">
              <a:solidFill>
                <a:schemeClr val="tx1"/>
              </a:solidFill>
              <a:latin typeface="+mn-ea"/>
              <a:cs typeface="+mn-ea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301240" y="5490210"/>
            <a:ext cx="7589520" cy="105156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 algn="ctr">
              <a:lnSpc>
                <a:spcPct val="140000"/>
              </a:lnSpc>
              <a:buNone/>
            </a:pPr>
            <a:r>
              <a:rPr lang="en-US" sz="1300" b="1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赛道方向：</a:t>
            </a:r>
            <a:r>
              <a:rPr lang="en-US" sz="1300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AI + Education（成人职业技能教育 Agent）
</a:t>
            </a:r>
            <a:r>
              <a:rPr lang="en-US" sz="1300" b="1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团队名称：</a:t>
            </a:r>
            <a:r>
              <a:rPr lang="en-US" sz="1300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圆周引擎  |  </a:t>
            </a:r>
            <a:r>
              <a:rPr lang="en-US" sz="1300" b="1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提交日期：</a:t>
            </a:r>
            <a:r>
              <a:rPr lang="en-US" sz="1300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2026.08.16
</a:t>
            </a:r>
            <a:r>
              <a:rPr lang="en-US" sz="1300" b="1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团队成员：</a:t>
            </a:r>
            <a:r>
              <a:rPr lang="zh-CN" altLang="en-US" sz="1300" b="1" dirty="0">
                <a:solidFill>
                  <a:schemeClr val="tx1"/>
                </a:solidFill>
                <a:latin typeface="Calibri" charset="0"/>
                <a:ea typeface="宋体" charset="0"/>
                <a:cs typeface="Calibri" pitchFamily="34" charset="-120"/>
              </a:rPr>
              <a:t>马小涵</a:t>
            </a:r>
            <a:r>
              <a:rPr lang="en-US" sz="1300" dirty="0">
                <a:solidFill>
                  <a:schemeClr val="tx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 · 独立开发者（负责产品 / 架构 / 全栈开发）</a:t>
            </a:r>
            <a:endParaRPr lang="en-US" sz="1300" dirty="0">
              <a:solidFill>
                <a:schemeClr val="tx1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" name="Text 4"/>
          <p:cNvSpPr/>
          <p:nvPr/>
        </p:nvSpPr>
        <p:spPr>
          <a:xfrm>
            <a:off x="325755" y="274320"/>
            <a:ext cx="4124960" cy="36576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300" b="1" kern="0" spc="150" dirty="0">
                <a:solidFill>
                  <a:srgbClr val="FFB000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GOAI 世界人工智能开源大赛 · 无界应用赛道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Text 1"/>
          <p:cNvSpPr/>
          <p:nvPr/>
        </p:nvSpPr>
        <p:spPr>
          <a:xfrm>
            <a:off x="508000" y="203200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无界应用</a:t>
            </a:r>
            <a:r>
              <a:rPr lang="en-US" altLang="zh-CN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Boundless Agents</a:t>
            </a: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赛道</a:t>
            </a:r>
            <a:endParaRPr lang="zh-CN" alt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46760"/>
            <a:ext cx="5400675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真实场景、可运行闭环、工具</a:t>
            </a:r>
            <a:r>
              <a:rPr lang="en-US" altLang="zh-CN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/</a:t>
            </a: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知识增强、反馈验证和合规边界</a:t>
            </a:r>
            <a:endParaRPr lang="zh-CN" alt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909310" y="2766060"/>
            <a:ext cx="5069840" cy="984885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7" name="Shape 4"/>
          <p:cNvSpPr/>
          <p:nvPr/>
        </p:nvSpPr>
        <p:spPr>
          <a:xfrm>
            <a:off x="5909310" y="2776855"/>
            <a:ext cx="5070475" cy="455930"/>
          </a:xfrm>
          <a:prstGeom prst="roundRect">
            <a:avLst>
              <a:gd name="adj" fmla="val 14118"/>
            </a:avLst>
          </a:prstGeom>
          <a:solidFill>
            <a:srgbClr val="D08490">
              <a:alpha val="40000"/>
            </a:srgbClr>
          </a:solidFill>
        </p:spPr>
      </p:sp>
      <p:sp>
        <p:nvSpPr>
          <p:cNvPr id="8" name="Text 6"/>
          <p:cNvSpPr/>
          <p:nvPr/>
        </p:nvSpPr>
        <p:spPr>
          <a:xfrm>
            <a:off x="6073902" y="2810383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真实行业场景</a:t>
            </a:r>
            <a:endParaRPr lang="zh-CN" altLang="en-US" sz="16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057900" y="3297555"/>
            <a:ext cx="4781550" cy="339090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成人技术从业者需要</a:t>
            </a:r>
            <a:r>
              <a:rPr lang="zh-CN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在工作之外持续跟踪研究、岗位和领域机会。</a:t>
            </a:r>
            <a:endParaRPr lang="zh-CN" altLang="en-US" sz="1200" dirty="0">
              <a:solidFill>
                <a:schemeClr val="tx1">
                  <a:lumMod val="95000"/>
                  <a:lumOff val="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  <a:sym typeface="+mn-ea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908675" y="1558925"/>
            <a:ext cx="5069840" cy="981075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12" name="Shape 4"/>
          <p:cNvSpPr/>
          <p:nvPr/>
        </p:nvSpPr>
        <p:spPr>
          <a:xfrm>
            <a:off x="5908675" y="1558925"/>
            <a:ext cx="5070475" cy="455930"/>
          </a:xfrm>
          <a:prstGeom prst="roundRect">
            <a:avLst>
              <a:gd name="adj" fmla="val 14118"/>
            </a:avLst>
          </a:prstGeom>
          <a:solidFill>
            <a:srgbClr val="DE897E">
              <a:alpha val="40000"/>
            </a:srgbClr>
          </a:solidFill>
        </p:spPr>
      </p:sp>
      <p:sp>
        <p:nvSpPr>
          <p:cNvPr id="13" name="Text 6"/>
          <p:cNvSpPr/>
          <p:nvPr/>
        </p:nvSpPr>
        <p:spPr>
          <a:xfrm>
            <a:off x="6073267" y="1592453"/>
            <a:ext cx="2322576" cy="38404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p>
            <a:pPr lvl="0" algn="l">
              <a:buClrTx/>
              <a:buSzTx/>
              <a:buFontTx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不是通用聊天</a:t>
            </a:r>
            <a:endParaRPr lang="zh-CN" altLang="en-US" sz="16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  <a:sym typeface="+mn-ea"/>
            </a:endParaRPr>
          </a:p>
        </p:txBody>
      </p:sp>
      <p:sp>
        <p:nvSpPr>
          <p:cNvPr id="14" name="Text 8"/>
          <p:cNvSpPr/>
          <p:nvPr/>
        </p:nvSpPr>
        <p:spPr>
          <a:xfrm>
            <a:off x="6057265" y="2079625"/>
            <a:ext cx="4781550" cy="339090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产品入口</a:t>
            </a:r>
            <a:r>
              <a:rPr lang="zh-CN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不是空白对话框，而是按周节奏生成可执行 session。</a:t>
            </a:r>
            <a:endParaRPr lang="zh-CN" altLang="en-US" sz="1200" dirty="0">
              <a:solidFill>
                <a:schemeClr val="tx1">
                  <a:lumMod val="95000"/>
                  <a:lumOff val="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  <a:sym typeface="+mn-ea"/>
            </a:endParaRPr>
          </a:p>
        </p:txBody>
      </p:sp>
      <p:sp>
        <p:nvSpPr>
          <p:cNvPr id="24" name="Shape 3"/>
          <p:cNvSpPr/>
          <p:nvPr/>
        </p:nvSpPr>
        <p:spPr>
          <a:xfrm>
            <a:off x="5909945" y="3994785"/>
            <a:ext cx="5069840" cy="1005205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25" name="Shape 4"/>
          <p:cNvSpPr/>
          <p:nvPr/>
        </p:nvSpPr>
        <p:spPr>
          <a:xfrm>
            <a:off x="5909945" y="4005580"/>
            <a:ext cx="5070475" cy="455930"/>
          </a:xfrm>
          <a:prstGeom prst="roundRect">
            <a:avLst>
              <a:gd name="adj" fmla="val 14118"/>
            </a:avLst>
          </a:prstGeom>
          <a:solidFill>
            <a:srgbClr val="BD83A7">
              <a:alpha val="40000"/>
            </a:srgbClr>
          </a:solidFill>
        </p:spPr>
      </p:sp>
      <p:sp>
        <p:nvSpPr>
          <p:cNvPr id="26" name="Text 6"/>
          <p:cNvSpPr/>
          <p:nvPr/>
        </p:nvSpPr>
        <p:spPr>
          <a:xfrm>
            <a:off x="6074537" y="403910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可验证闭环</a:t>
            </a:r>
            <a:endParaRPr lang="zh-CN" altLang="en-US" sz="16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27" name="Text 8"/>
          <p:cNvSpPr/>
          <p:nvPr/>
        </p:nvSpPr>
        <p:spPr>
          <a:xfrm>
            <a:off x="6058535" y="4536440"/>
            <a:ext cx="4781550" cy="339090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Deep Dive 从材料选择到打卡归档，完成状态和 History 可被检查。</a:t>
            </a:r>
            <a:endParaRPr lang="zh-CN" altLang="en-US" sz="1200" dirty="0">
              <a:solidFill>
                <a:schemeClr val="tx1">
                  <a:lumMod val="95000"/>
                  <a:lumOff val="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  <a:sym typeface="+mn-ea"/>
            </a:endParaRPr>
          </a:p>
        </p:txBody>
      </p:sp>
      <p:sp>
        <p:nvSpPr>
          <p:cNvPr id="28" name="Shape 3"/>
          <p:cNvSpPr/>
          <p:nvPr/>
        </p:nvSpPr>
        <p:spPr>
          <a:xfrm>
            <a:off x="5914390" y="5252085"/>
            <a:ext cx="5069840" cy="1104900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29" name="Shape 4"/>
          <p:cNvSpPr/>
          <p:nvPr/>
        </p:nvSpPr>
        <p:spPr>
          <a:xfrm>
            <a:off x="5914390" y="5262880"/>
            <a:ext cx="5070475" cy="455930"/>
          </a:xfrm>
          <a:prstGeom prst="roundRect">
            <a:avLst>
              <a:gd name="adj" fmla="val 14118"/>
            </a:avLst>
          </a:prstGeom>
          <a:solidFill>
            <a:srgbClr val="A786C1">
              <a:alpha val="40000"/>
            </a:srgbClr>
          </a:solidFill>
        </p:spPr>
      </p:sp>
      <p:sp>
        <p:nvSpPr>
          <p:cNvPr id="30" name="Text 6"/>
          <p:cNvSpPr/>
          <p:nvPr/>
        </p:nvSpPr>
        <p:spPr>
          <a:xfrm>
            <a:off x="6078982" y="529640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可复用模板</a:t>
            </a:r>
            <a:endParaRPr lang="zh-CN" altLang="en-US" sz="16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31" name="Text 8"/>
          <p:cNvSpPr/>
          <p:nvPr/>
        </p:nvSpPr>
        <p:spPr>
          <a:xfrm>
            <a:off x="5996305" y="5742940"/>
            <a:ext cx="4921250" cy="582930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Radar / Deep Dive / Opportunity Alignment / Weekly Studio 可映射到多个领域。</a:t>
            </a:r>
            <a:endParaRPr lang="zh-CN" altLang="en-US" sz="1200" dirty="0">
              <a:solidFill>
                <a:schemeClr val="tx1">
                  <a:lumMod val="95000"/>
                  <a:lumOff val="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  <a:sym typeface="+mn-ea"/>
            </a:endParaRPr>
          </a:p>
        </p:txBody>
      </p:sp>
      <p:sp>
        <p:nvSpPr>
          <p:cNvPr id="32" name="Text 1"/>
          <p:cNvSpPr/>
          <p:nvPr/>
        </p:nvSpPr>
        <p:spPr>
          <a:xfrm>
            <a:off x="793115" y="2701290"/>
            <a:ext cx="3970655" cy="1111885"/>
          </a:xfrm>
          <a:prstGeom prst="rect">
            <a:avLst/>
          </a:prstGeom>
          <a:noFill/>
        </p:spPr>
        <p:txBody>
          <a:bodyPr wrap="square" rtlCol="0" anchor="ctr"/>
          <a:p>
            <a:pPr indent="0" algn="ctr" fontAlgn="auto">
              <a:lnSpc>
                <a:spcPct val="130000"/>
              </a:lnSpc>
              <a:buNone/>
            </a:pPr>
            <a:r>
              <a:rPr lang="zh-CN" alt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为什么适合</a:t>
            </a:r>
            <a:endParaRPr lang="zh-CN" altLang="en-US" sz="2800" b="1" dirty="0">
              <a:solidFill>
                <a:schemeClr val="tx1">
                  <a:lumMod val="75000"/>
                  <a:lumOff val="2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  <a:p>
            <a:pPr indent="0" algn="ctr" fontAlgn="auto">
              <a:lnSpc>
                <a:spcPct val="130000"/>
              </a:lnSpc>
              <a:buNone/>
            </a:pPr>
            <a:r>
              <a:rPr lang="en-US" altLang="zh-CN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Boundless Agents?</a:t>
            </a:r>
            <a:endParaRPr lang="en-US" altLang="zh-CN" sz="2800" b="1" dirty="0">
              <a:solidFill>
                <a:schemeClr val="tx1">
                  <a:lumMod val="75000"/>
                  <a:lumOff val="2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cxnSp>
        <p:nvCxnSpPr>
          <p:cNvPr id="35" name="曲线连接符 34"/>
          <p:cNvCxnSpPr>
            <a:stCxn id="32" idx="3"/>
            <a:endCxn id="12" idx="1"/>
          </p:cNvCxnSpPr>
          <p:nvPr/>
        </p:nvCxnSpPr>
        <p:spPr>
          <a:xfrm flipV="1">
            <a:off x="4763770" y="1786890"/>
            <a:ext cx="1144905" cy="1470660"/>
          </a:xfrm>
          <a:prstGeom prst="curvedConnector3">
            <a:avLst>
              <a:gd name="adj1" fmla="val 50028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7" name="曲线连接符 36"/>
          <p:cNvCxnSpPr>
            <a:stCxn id="32" idx="3"/>
            <a:endCxn id="7" idx="1"/>
          </p:cNvCxnSpPr>
          <p:nvPr/>
        </p:nvCxnSpPr>
        <p:spPr>
          <a:xfrm flipV="1">
            <a:off x="4763770" y="3004820"/>
            <a:ext cx="1145540" cy="252730"/>
          </a:xfrm>
          <a:prstGeom prst="curved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曲线连接符 37"/>
          <p:cNvCxnSpPr>
            <a:stCxn id="32" idx="3"/>
            <a:endCxn id="25" idx="1"/>
          </p:cNvCxnSpPr>
          <p:nvPr/>
        </p:nvCxnSpPr>
        <p:spPr>
          <a:xfrm>
            <a:off x="4763770" y="3257550"/>
            <a:ext cx="1146175" cy="975995"/>
          </a:xfrm>
          <a:prstGeom prst="curvedConnector3">
            <a:avLst>
              <a:gd name="adj1" fmla="val 50028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9" name="曲线连接符 38"/>
          <p:cNvCxnSpPr>
            <a:stCxn id="32" idx="3"/>
            <a:endCxn id="29" idx="1"/>
          </p:cNvCxnSpPr>
          <p:nvPr/>
        </p:nvCxnSpPr>
        <p:spPr>
          <a:xfrm>
            <a:off x="4763770" y="3257550"/>
            <a:ext cx="1150620" cy="2233295"/>
          </a:xfrm>
          <a:prstGeom prst="curved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0" name="Rounded Rectangle 7"/>
          <p:cNvSpPr/>
          <p:nvPr/>
        </p:nvSpPr>
        <p:spPr>
          <a:xfrm>
            <a:off x="1384935" y="4074795"/>
            <a:ext cx="2831465" cy="274320"/>
          </a:xfrm>
          <a:prstGeom prst="roundRect">
            <a:avLst/>
          </a:prstGeom>
          <a:solidFill>
            <a:srgbClr val="225B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41" name="TextBox 8"/>
          <p:cNvSpPr txBox="1"/>
          <p:nvPr/>
        </p:nvSpPr>
        <p:spPr>
          <a:xfrm>
            <a:off x="1496568" y="4094734"/>
            <a:ext cx="2606040" cy="23749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algn="ctr"/>
            <a:r>
              <a:rPr sz="950" b="1">
                <a:solidFill>
                  <a:srgbClr val="FFFFFF"/>
                </a:solidFill>
                <a:latin typeface="Noto Sans CJK SC" panose="020B0500000000000000" charset="-122"/>
              </a:rPr>
              <a:t>AI + Education / Vocational Education</a:t>
            </a:r>
            <a:endParaRPr sz="95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43" name="Rounded Rectangle 9"/>
          <p:cNvSpPr/>
          <p:nvPr/>
        </p:nvSpPr>
        <p:spPr>
          <a:xfrm>
            <a:off x="1382395" y="4502277"/>
            <a:ext cx="1417320" cy="274320"/>
          </a:xfrm>
          <a:prstGeom prst="roundRect">
            <a:avLst/>
          </a:prstGeom>
          <a:solidFill>
            <a:srgbClr val="0F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44" name="TextBox 10"/>
          <p:cNvSpPr txBox="1"/>
          <p:nvPr/>
        </p:nvSpPr>
        <p:spPr>
          <a:xfrm>
            <a:off x="1382395" y="4522089"/>
            <a:ext cx="1417320" cy="23749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algn="ctr"/>
            <a:r>
              <a:rPr sz="950" b="1">
                <a:solidFill>
                  <a:srgbClr val="FFFFFF"/>
                </a:solidFill>
                <a:latin typeface="Noto Sans CJK SC" panose="020B0500000000000000" charset="-122"/>
              </a:rPr>
              <a:t>Closed-loop Agent</a:t>
            </a:r>
            <a:endParaRPr sz="95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45" name="Rounded Rectangle 11"/>
          <p:cNvSpPr/>
          <p:nvPr/>
        </p:nvSpPr>
        <p:spPr>
          <a:xfrm>
            <a:off x="2982595" y="4502277"/>
            <a:ext cx="1234440" cy="274320"/>
          </a:xfrm>
          <a:prstGeom prst="roundRect">
            <a:avLst/>
          </a:prstGeom>
          <a:solidFill>
            <a:srgbClr val="4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46" name="TextBox 12"/>
          <p:cNvSpPr txBox="1"/>
          <p:nvPr/>
        </p:nvSpPr>
        <p:spPr>
          <a:xfrm>
            <a:off x="2982595" y="4522089"/>
            <a:ext cx="1234440" cy="23749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algn="ctr"/>
            <a:r>
              <a:rPr sz="950" b="1">
                <a:solidFill>
                  <a:srgbClr val="FFFFFF"/>
                </a:solidFill>
                <a:latin typeface="Noto Sans CJK SC" panose="020B0500000000000000" charset="-122"/>
              </a:rPr>
              <a:t>Runnable Demo</a:t>
            </a:r>
            <a:endParaRPr sz="95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" name="Freeform 9"/>
          <p:cNvSpPr/>
          <p:nvPr/>
        </p:nvSpPr>
        <p:spPr>
          <a:xfrm>
            <a:off x="548640" y="1967865"/>
            <a:ext cx="4369435" cy="4354195"/>
          </a:xfrm>
          <a:custGeom>
            <a:avLst/>
            <a:gdLst/>
            <a:ahLst/>
            <a:cxnLst/>
            <a:rect l="l" t="t" r="r" b="b"/>
            <a:pathLst>
              <a:path w="4052466" h="4546106">
                <a:moveTo>
                  <a:pt x="3928006" y="4546106"/>
                </a:moveTo>
                <a:lnTo>
                  <a:pt x="124460" y="4546106"/>
                </a:lnTo>
                <a:cubicBezTo>
                  <a:pt x="55880" y="4546106"/>
                  <a:pt x="0" y="4490226"/>
                  <a:pt x="0" y="4421646"/>
                </a:cubicBezTo>
                <a:lnTo>
                  <a:pt x="0" y="124460"/>
                </a:lnTo>
                <a:cubicBezTo>
                  <a:pt x="0" y="55880"/>
                  <a:pt x="55880" y="0"/>
                  <a:pt x="124460" y="0"/>
                </a:cubicBezTo>
                <a:lnTo>
                  <a:pt x="3928006" y="0"/>
                </a:lnTo>
                <a:cubicBezTo>
                  <a:pt x="3996586" y="0"/>
                  <a:pt x="4052466" y="55880"/>
                  <a:pt x="4052466" y="124460"/>
                </a:cubicBezTo>
                <a:lnTo>
                  <a:pt x="4052466" y="4421646"/>
                </a:lnTo>
                <a:cubicBezTo>
                  <a:pt x="4052466" y="4490226"/>
                  <a:pt x="3996586" y="4546106"/>
                  <a:pt x="3928006" y="4546106"/>
                </a:cubicBezTo>
                <a:close/>
              </a:path>
            </a:pathLst>
          </a:custGeom>
          <a:solidFill>
            <a:srgbClr val="FFFFFF">
              <a:alpha val="30000"/>
            </a:srgbClr>
          </a:solidFill>
        </p:spPr>
      </p:sp>
      <p:sp>
        <p:nvSpPr>
          <p:cNvPr id="6" name="Shape 3"/>
          <p:cNvSpPr/>
          <p:nvPr/>
        </p:nvSpPr>
        <p:spPr>
          <a:xfrm>
            <a:off x="763270" y="2178050"/>
            <a:ext cx="3945255" cy="3949065"/>
          </a:xfrm>
          <a:prstGeom prst="roundRect">
            <a:avLst>
              <a:gd name="adj" fmla="val 4138"/>
            </a:avLst>
          </a:prstGeom>
          <a:solidFill>
            <a:schemeClr val="bg1">
              <a:alpha val="40000"/>
            </a:schemeClr>
          </a:solidFill>
        </p:spPr>
      </p:sp>
      <p:sp>
        <p:nvSpPr>
          <p:cNvPr id="15" name="Text 1"/>
          <p:cNvSpPr/>
          <p:nvPr/>
        </p:nvSpPr>
        <p:spPr>
          <a:xfrm>
            <a:off x="548640" y="868680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真正的阻力，不是缺计划</a:t>
            </a:r>
            <a:endParaRPr 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16" name="Text 2"/>
          <p:cNvSpPr/>
          <p:nvPr/>
        </p:nvSpPr>
        <p:spPr>
          <a:xfrm>
            <a:off x="548640" y="1405890"/>
            <a:ext cx="4534535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而是每一次行动开始之前，反复出现的决策与筛选成本</a:t>
            </a:r>
            <a:endParaRPr 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20" name="Text 6"/>
          <p:cNvSpPr/>
          <p:nvPr/>
        </p:nvSpPr>
        <p:spPr>
          <a:xfrm>
            <a:off x="773430" y="4036695"/>
            <a:ext cx="3945255" cy="173736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E7696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典型用户在开始一次学习/探索行动前，花在</a:t>
            </a:r>
            <a:endParaRPr lang="en-US" sz="1400" b="1" dirty="0">
              <a:solidFill>
                <a:srgbClr val="6E7696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chemeClr val="accent1">
                    <a:lumMod val="50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“</a:t>
            </a:r>
            <a:r>
              <a:rPr lang="en-US" sz="1400" b="1" dirty="0">
                <a:solidFill>
                  <a:schemeClr val="accent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今天该做什么、去哪找材料、值不值得看</a:t>
            </a:r>
            <a:r>
              <a:rPr lang="en-US" sz="1400" b="1" dirty="0">
                <a:solidFill>
                  <a:schemeClr val="accent1">
                    <a:lumMod val="50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400" b="1" dirty="0">
              <a:solidFill>
                <a:schemeClr val="accent1">
                  <a:lumMod val="50000"/>
                </a:schemeClr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  <a:p>
            <a:pPr marL="0" algn="ctr">
              <a:lnSpc>
                <a:spcPct val="130000"/>
              </a:lnSpc>
              <a:buClrTx/>
              <a:buSzTx/>
              <a:buNone/>
            </a:pPr>
            <a:r>
              <a:rPr lang="en-US" sz="1400" b="1" dirty="0">
                <a:solidFill>
                  <a:srgbClr val="6E7696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这类决策上的时间</a:t>
            </a:r>
            <a:endParaRPr lang="en-US" sz="1400" b="1" dirty="0">
              <a:solidFill>
                <a:srgbClr val="6E7696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666240" y="2376170"/>
            <a:ext cx="2282825" cy="1660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>
              <a:lnSpc>
                <a:spcPct val="150000"/>
              </a:lnSpc>
            </a:pPr>
            <a:r>
              <a:rPr lang="en-US" altLang="zh-CN" sz="4400" b="1">
                <a:solidFill>
                  <a:schemeClr val="accent6"/>
                </a:solidFill>
                <a:latin typeface="Noto Serif CJK KR Black" panose="02020900000000000000" charset="-122"/>
                <a:ea typeface="Noto Serif CJK KR Black" panose="02020900000000000000" charset="-122"/>
                <a:cs typeface="Noto Serif CJK KR Black" panose="02020900000000000000" charset="-122"/>
              </a:rPr>
              <a:t>30</a:t>
            </a:r>
            <a:r>
              <a:rPr lang="zh-CN" altLang="en-US" sz="4400" b="1">
                <a:solidFill>
                  <a:schemeClr val="accent6"/>
                </a:solidFill>
                <a:latin typeface="Noto Serif CJK KR Black" panose="02020900000000000000" charset="-122"/>
                <a:ea typeface="Noto Serif CJK KR Black" panose="02020900000000000000" charset="-122"/>
                <a:cs typeface="Noto Serif CJK KR Black" panose="02020900000000000000" charset="-122"/>
              </a:rPr>
              <a:t>～</a:t>
            </a:r>
            <a:r>
              <a:rPr lang="en-US" altLang="zh-CN" sz="4400" b="1">
                <a:solidFill>
                  <a:schemeClr val="accent6"/>
                </a:solidFill>
                <a:latin typeface="Noto Serif CJK KR Black" panose="02020900000000000000" charset="-122"/>
                <a:ea typeface="Noto Serif CJK KR Black" panose="02020900000000000000" charset="-122"/>
                <a:cs typeface="Noto Serif CJK KR Black" panose="02020900000000000000" charset="-122"/>
              </a:rPr>
              <a:t>60</a:t>
            </a:r>
            <a:endParaRPr lang="en-US" altLang="zh-CN" sz="4400" b="1">
              <a:latin typeface="Noto Serif CJK KR Black" panose="02020900000000000000" charset="-122"/>
              <a:ea typeface="Noto Serif CJK KR Black" panose="02020900000000000000" charset="-122"/>
              <a:cs typeface="Noto Serif CJK KR Black" panose="02020900000000000000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2400" b="1">
                <a:latin typeface="Noto Serif CJK KR Black" panose="02020900000000000000" charset="-122"/>
                <a:ea typeface="Noto Serif CJK KR Black" panose="02020900000000000000" charset="-122"/>
                <a:cs typeface="Noto Serif CJK KR Black" panose="02020900000000000000" charset="-122"/>
              </a:rPr>
              <a:t>分钟</a:t>
            </a:r>
            <a:endParaRPr lang="zh-CN" altLang="en-US" sz="2400" b="1">
              <a:latin typeface="Noto Serif CJK KR Black" panose="02020900000000000000" charset="-122"/>
              <a:ea typeface="Noto Serif CJK KR Black" panose="02020900000000000000" charset="-122"/>
              <a:cs typeface="Noto Serif CJK KR Black" panose="02020900000000000000" charset="-122"/>
            </a:endParaRPr>
          </a:p>
        </p:txBody>
      </p:sp>
      <p:grpSp>
        <p:nvGrpSpPr>
          <p:cNvPr id="34" name="组合 33"/>
          <p:cNvGrpSpPr/>
          <p:nvPr/>
        </p:nvGrpSpPr>
        <p:grpSpPr>
          <a:xfrm>
            <a:off x="5953760" y="2188845"/>
            <a:ext cx="5051425" cy="912495"/>
            <a:chOff x="9376" y="3447"/>
            <a:chExt cx="7955" cy="1437"/>
          </a:xfrm>
        </p:grpSpPr>
        <p:sp>
          <p:nvSpPr>
            <p:cNvPr id="27" name="Shape 7"/>
            <p:cNvSpPr/>
            <p:nvPr/>
          </p:nvSpPr>
          <p:spPr>
            <a:xfrm>
              <a:off x="9376" y="3501"/>
              <a:ext cx="567" cy="567"/>
            </a:xfrm>
            <a:prstGeom prst="ellipse">
              <a:avLst/>
            </a:prstGeom>
            <a:solidFill>
              <a:schemeClr val="bg1">
                <a:alpha val="40000"/>
              </a:schemeClr>
            </a:solidFill>
            <a:ln w="50800">
              <a:solidFill>
                <a:srgbClr val="BF727E"/>
              </a:solidFill>
              <a:prstDash val="solid"/>
            </a:ln>
          </p:spPr>
          <p:txBody>
            <a:bodyPr/>
            <a:p>
              <a:pPr algn="ctr"/>
              <a:r>
                <a:rPr lang="en-US" altLang="zh-CN" sz="1200" b="1">
                  <a:solidFill>
                    <a:srgbClr val="BF727E"/>
                  </a:solidFill>
                  <a:latin typeface="Noto Serif CJK KR Black" panose="02020900000000000000" charset="-122"/>
                  <a:ea typeface="Noto Serif CJK KR Black" panose="02020900000000000000" charset="-122"/>
                </a:rPr>
                <a:t>1</a:t>
              </a:r>
              <a:endParaRPr lang="en-US" altLang="zh-CN" sz="1200" b="1">
                <a:solidFill>
                  <a:srgbClr val="BF727E"/>
                </a:solidFill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29" name="Text 9"/>
            <p:cNvSpPr/>
            <p:nvPr/>
          </p:nvSpPr>
          <p:spPr>
            <a:xfrm>
              <a:off x="10217" y="3447"/>
              <a:ext cx="2304" cy="57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 algn="l">
                <a:buNone/>
              </a:pPr>
              <a:r>
                <a:rPr lang="en-US" sz="1600" b="1" dirty="0">
                  <a:solidFill>
                    <a:srgbClr val="111428"/>
                  </a:solidFill>
                  <a:latin typeface="Noto Serif CJK KR Black" panose="02020900000000000000" charset="-122"/>
                  <a:ea typeface="Noto Serif CJK KR Black" panose="02020900000000000000" charset="-122"/>
                  <a:cs typeface="Calibri" pitchFamily="34" charset="-120"/>
                </a:rPr>
                <a:t>决策疲劳</a:t>
              </a:r>
              <a:endParaRPr lang="en-US" sz="16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endParaRPr>
            </a:p>
          </p:txBody>
        </p:sp>
        <p:sp>
          <p:nvSpPr>
            <p:cNvPr id="30" name="Text 10"/>
            <p:cNvSpPr/>
            <p:nvPr/>
          </p:nvSpPr>
          <p:spPr>
            <a:xfrm>
              <a:off x="10217" y="3948"/>
              <a:ext cx="7115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每次开始前都要重新决定“今天做什么”，启动成本消耗在决策上，而非执行</a:t>
              </a: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。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5953760" y="3246120"/>
            <a:ext cx="5051425" cy="912495"/>
            <a:chOff x="9376" y="5037"/>
            <a:chExt cx="7955" cy="1437"/>
          </a:xfrm>
        </p:grpSpPr>
        <p:sp>
          <p:nvSpPr>
            <p:cNvPr id="31" name="Shape 7"/>
            <p:cNvSpPr/>
            <p:nvPr/>
          </p:nvSpPr>
          <p:spPr>
            <a:xfrm>
              <a:off x="9376" y="5091"/>
              <a:ext cx="567" cy="567"/>
            </a:xfrm>
            <a:prstGeom prst="ellipse">
              <a:avLst/>
            </a:prstGeom>
            <a:solidFill>
              <a:schemeClr val="bg1">
                <a:alpha val="40000"/>
              </a:schemeClr>
            </a:solidFill>
            <a:ln w="50800">
              <a:solidFill>
                <a:srgbClr val="BF727E"/>
              </a:solidFill>
              <a:prstDash val="solid"/>
            </a:ln>
          </p:spPr>
          <p:txBody>
            <a:bodyPr/>
            <a:p>
              <a:pPr algn="ctr"/>
              <a:r>
                <a:rPr lang="en-US" altLang="zh-CN" sz="1200" b="1">
                  <a:solidFill>
                    <a:srgbClr val="BF727E"/>
                  </a:solidFill>
                  <a:latin typeface="Noto Serif CJK KR Black" panose="02020900000000000000" charset="-122"/>
                  <a:ea typeface="Noto Serif CJK KR Black" panose="02020900000000000000" charset="-122"/>
                </a:rPr>
                <a:t>2</a:t>
              </a:r>
              <a:endParaRPr lang="en-US" altLang="zh-CN" sz="1200" b="1">
                <a:solidFill>
                  <a:srgbClr val="BF727E"/>
                </a:solidFill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32" name="Text 9"/>
            <p:cNvSpPr/>
            <p:nvPr/>
          </p:nvSpPr>
          <p:spPr>
            <a:xfrm>
              <a:off x="10217" y="5037"/>
              <a:ext cx="2304" cy="57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 algn="l">
                <a:buNone/>
              </a:pPr>
              <a:r>
                <a:rPr lang="zh-CN" altLang="en-US" sz="1600" b="1" dirty="0">
                  <a:solidFill>
                    <a:srgbClr val="111428"/>
                  </a:solidFill>
                  <a:latin typeface="Noto Serif CJK KR Black" panose="02020900000000000000" charset="-122"/>
                  <a:ea typeface="Noto Serif CJK KR Black" panose="02020900000000000000" charset="-122"/>
                  <a:cs typeface="Calibri" pitchFamily="34" charset="-120"/>
                </a:rPr>
                <a:t>筛选负担</a:t>
              </a:r>
              <a:endParaRPr lang="zh-CN" altLang="en-US" sz="16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endParaRPr>
            </a:p>
          </p:txBody>
        </p:sp>
        <p:sp>
          <p:nvSpPr>
            <p:cNvPr id="33" name="Text 10"/>
            <p:cNvSpPr/>
            <p:nvPr/>
          </p:nvSpPr>
          <p:spPr>
            <a:xfrm>
              <a:off x="10217" y="5538"/>
              <a:ext cx="7115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需要自己搜索、比较、判断材料是否值得看，信息噪音掩盖了真正有价值的内容。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grpSp>
        <p:nvGrpSpPr>
          <p:cNvPr id="37" name="组合 36"/>
          <p:cNvGrpSpPr/>
          <p:nvPr/>
        </p:nvGrpSpPr>
        <p:grpSpPr>
          <a:xfrm>
            <a:off x="5953760" y="4305300"/>
            <a:ext cx="5160010" cy="715645"/>
            <a:chOff x="9376" y="5037"/>
            <a:chExt cx="8126" cy="1127"/>
          </a:xfrm>
        </p:grpSpPr>
        <p:sp>
          <p:nvSpPr>
            <p:cNvPr id="38" name="Shape 7"/>
            <p:cNvSpPr/>
            <p:nvPr/>
          </p:nvSpPr>
          <p:spPr>
            <a:xfrm>
              <a:off x="9376" y="5091"/>
              <a:ext cx="567" cy="567"/>
            </a:xfrm>
            <a:prstGeom prst="ellipse">
              <a:avLst/>
            </a:prstGeom>
            <a:solidFill>
              <a:schemeClr val="bg1">
                <a:alpha val="40000"/>
              </a:schemeClr>
            </a:solidFill>
            <a:ln w="50800">
              <a:solidFill>
                <a:srgbClr val="BF727E"/>
              </a:solidFill>
              <a:prstDash val="solid"/>
            </a:ln>
          </p:spPr>
          <p:txBody>
            <a:bodyPr/>
            <a:p>
              <a:pPr algn="ctr"/>
              <a:r>
                <a:rPr lang="en-US" altLang="zh-CN" sz="1200" b="1">
                  <a:solidFill>
                    <a:srgbClr val="BF727E"/>
                  </a:solidFill>
                  <a:latin typeface="Noto Serif CJK KR Black" panose="02020900000000000000" charset="-122"/>
                  <a:ea typeface="Noto Serif CJK KR Black" panose="02020900000000000000" charset="-122"/>
                </a:rPr>
                <a:t>3</a:t>
              </a:r>
              <a:endParaRPr lang="en-US" altLang="zh-CN" sz="1200" b="1">
                <a:solidFill>
                  <a:srgbClr val="BF727E"/>
                </a:solidFill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39" name="Text 9"/>
            <p:cNvSpPr/>
            <p:nvPr/>
          </p:nvSpPr>
          <p:spPr>
            <a:xfrm>
              <a:off x="10217" y="5037"/>
              <a:ext cx="2304" cy="57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 algn="l">
                <a:buNone/>
              </a:pPr>
              <a:r>
                <a:rPr lang="zh-CN" altLang="en-US" sz="1600" b="1" dirty="0">
                  <a:solidFill>
                    <a:srgbClr val="111428"/>
                  </a:solidFill>
                  <a:latin typeface="Noto Serif CJK KR Black" panose="02020900000000000000" charset="-122"/>
                  <a:ea typeface="Noto Serif CJK KR Black" panose="02020900000000000000" charset="-122"/>
                  <a:cs typeface="Calibri" pitchFamily="34" charset="-120"/>
                </a:rPr>
                <a:t>粒度错位</a:t>
              </a:r>
              <a:endParaRPr lang="zh-CN" altLang="en-US" sz="16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endParaRPr>
            </a:p>
          </p:txBody>
        </p:sp>
        <p:sp>
          <p:nvSpPr>
            <p:cNvPr id="40" name="Text 10"/>
            <p:cNvSpPr/>
            <p:nvPr/>
          </p:nvSpPr>
          <p:spPr>
            <a:xfrm>
              <a:off x="10217" y="5469"/>
              <a:ext cx="7285" cy="69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计划停留在</a:t>
              </a:r>
              <a:r>
                <a:rPr lang="en-US" altLang="zh-CN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“</a:t>
              </a: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这周要学</a:t>
              </a:r>
              <a:r>
                <a:rPr lang="en-US" altLang="zh-CN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 xxx”</a:t>
              </a: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层面，缺少可以直接执行的任务单元。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5953760" y="5168265"/>
            <a:ext cx="5160010" cy="807085"/>
            <a:chOff x="9376" y="5037"/>
            <a:chExt cx="8126" cy="1271"/>
          </a:xfrm>
        </p:grpSpPr>
        <p:sp>
          <p:nvSpPr>
            <p:cNvPr id="42" name="Shape 7"/>
            <p:cNvSpPr/>
            <p:nvPr/>
          </p:nvSpPr>
          <p:spPr>
            <a:xfrm>
              <a:off x="9376" y="5091"/>
              <a:ext cx="567" cy="567"/>
            </a:xfrm>
            <a:prstGeom prst="ellipse">
              <a:avLst/>
            </a:prstGeom>
            <a:solidFill>
              <a:schemeClr val="bg1">
                <a:alpha val="40000"/>
              </a:schemeClr>
            </a:solidFill>
            <a:ln w="50800">
              <a:solidFill>
                <a:srgbClr val="BF727E"/>
              </a:solidFill>
              <a:prstDash val="solid"/>
            </a:ln>
          </p:spPr>
          <p:txBody>
            <a:bodyPr/>
            <a:p>
              <a:pPr algn="ctr"/>
              <a:r>
                <a:rPr lang="en-US" altLang="zh-CN" sz="1200" b="1">
                  <a:solidFill>
                    <a:srgbClr val="BF727E"/>
                  </a:solidFill>
                  <a:latin typeface="Noto Serif CJK KR Black" panose="02020900000000000000" charset="-122"/>
                  <a:ea typeface="Noto Serif CJK KR Black" panose="02020900000000000000" charset="-122"/>
                </a:rPr>
                <a:t>4</a:t>
              </a:r>
              <a:endParaRPr lang="en-US" altLang="zh-CN" sz="1200" b="1">
                <a:solidFill>
                  <a:srgbClr val="BF727E"/>
                </a:solidFill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43" name="Text 9"/>
            <p:cNvSpPr/>
            <p:nvPr/>
          </p:nvSpPr>
          <p:spPr>
            <a:xfrm>
              <a:off x="10217" y="5037"/>
              <a:ext cx="2304" cy="57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 algn="l">
                <a:buNone/>
              </a:pPr>
              <a:r>
                <a:rPr lang="zh-CN" altLang="en-US" sz="1600" b="1" dirty="0">
                  <a:solidFill>
                    <a:srgbClr val="111428"/>
                  </a:solidFill>
                  <a:latin typeface="Noto Serif CJK KR Black" panose="02020900000000000000" charset="-122"/>
                  <a:ea typeface="Noto Serif CJK KR Black" panose="02020900000000000000" charset="-122"/>
                  <a:cs typeface="Calibri" pitchFamily="34" charset="-120"/>
                </a:rPr>
                <a:t>沉淀断层</a:t>
              </a:r>
              <a:endParaRPr lang="zh-CN" altLang="en-US" sz="16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endParaRPr>
            </a:p>
          </p:txBody>
        </p:sp>
        <p:sp>
          <p:nvSpPr>
            <p:cNvPr id="44" name="Text 10"/>
            <p:cNvSpPr/>
            <p:nvPr/>
          </p:nvSpPr>
          <p:spPr>
            <a:xfrm>
              <a:off x="10217" y="5613"/>
              <a:ext cx="7285" cy="69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学习与观察的结果没有形成持续记录，无法回看进展，也无法反哺能力判断。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pic>
        <p:nvPicPr>
          <p:cNvPr id="46" name="Picture 3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482600"/>
            <a:ext cx="10821035" cy="18415"/>
          </a:xfrm>
          <a:prstGeom prst="rect">
            <a:avLst/>
          </a:prstGeom>
        </p:spPr>
      </p:pic>
      <p:pic>
        <p:nvPicPr>
          <p:cNvPr id="47" name="Picture 4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800735"/>
            <a:ext cx="10821035" cy="18415"/>
          </a:xfrm>
          <a:prstGeom prst="rect">
            <a:avLst/>
          </a:prstGeom>
        </p:spPr>
      </p:pic>
      <p:pic>
        <p:nvPicPr>
          <p:cNvPr id="48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834515" y="638175"/>
            <a:ext cx="309245" cy="15875"/>
          </a:xfrm>
          <a:prstGeom prst="rect">
            <a:avLst/>
          </a:prstGeom>
        </p:spPr>
      </p:pic>
      <p:pic>
        <p:nvPicPr>
          <p:cNvPr id="49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5337810" y="638175"/>
            <a:ext cx="309245" cy="15875"/>
          </a:xfrm>
          <a:prstGeom prst="rect">
            <a:avLst/>
          </a:prstGeom>
        </p:spPr>
      </p:pic>
      <p:pic>
        <p:nvPicPr>
          <p:cNvPr id="50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0401935" y="638175"/>
            <a:ext cx="309245" cy="15875"/>
          </a:xfrm>
          <a:prstGeom prst="rect">
            <a:avLst/>
          </a:prstGeom>
        </p:spPr>
      </p:pic>
      <p:sp>
        <p:nvSpPr>
          <p:cNvPr id="51" name="TextBox 12"/>
          <p:cNvSpPr txBox="1"/>
          <p:nvPr userDrawn="1"/>
        </p:nvSpPr>
        <p:spPr>
          <a:xfrm>
            <a:off x="11113770" y="56451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02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52" name="文本框 51"/>
          <p:cNvSpPr txBox="1"/>
          <p:nvPr userDrawn="1"/>
        </p:nvSpPr>
        <p:spPr>
          <a:xfrm>
            <a:off x="5519420" y="52832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53" name="文本框 52"/>
          <p:cNvSpPr txBox="1"/>
          <p:nvPr userDrawn="1"/>
        </p:nvSpPr>
        <p:spPr>
          <a:xfrm>
            <a:off x="1997075" y="52451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54" name="文本框 53"/>
          <p:cNvSpPr txBox="1"/>
          <p:nvPr userDrawn="1"/>
        </p:nvSpPr>
        <p:spPr>
          <a:xfrm>
            <a:off x="508000" y="52832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01 Problem</a:t>
            </a:r>
            <a:endParaRPr lang="en-US" sz="1000" b="1"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" name="Freeform 9"/>
          <p:cNvSpPr/>
          <p:nvPr/>
        </p:nvSpPr>
        <p:spPr>
          <a:xfrm>
            <a:off x="548640" y="2000885"/>
            <a:ext cx="10781030" cy="4039870"/>
          </a:xfrm>
          <a:custGeom>
            <a:avLst/>
            <a:gdLst/>
            <a:ahLst/>
            <a:cxnLst/>
            <a:rect l="l" t="t" r="r" b="b"/>
            <a:pathLst>
              <a:path w="4052466" h="4546106">
                <a:moveTo>
                  <a:pt x="3928006" y="4546106"/>
                </a:moveTo>
                <a:lnTo>
                  <a:pt x="124460" y="4546106"/>
                </a:lnTo>
                <a:cubicBezTo>
                  <a:pt x="55880" y="4546106"/>
                  <a:pt x="0" y="4490226"/>
                  <a:pt x="0" y="4421646"/>
                </a:cubicBezTo>
                <a:lnTo>
                  <a:pt x="0" y="124460"/>
                </a:lnTo>
                <a:cubicBezTo>
                  <a:pt x="0" y="55880"/>
                  <a:pt x="55880" y="0"/>
                  <a:pt x="124460" y="0"/>
                </a:cubicBezTo>
                <a:lnTo>
                  <a:pt x="3928006" y="0"/>
                </a:lnTo>
                <a:cubicBezTo>
                  <a:pt x="3996586" y="0"/>
                  <a:pt x="4052466" y="55880"/>
                  <a:pt x="4052466" y="124460"/>
                </a:cubicBezTo>
                <a:lnTo>
                  <a:pt x="4052466" y="4421646"/>
                </a:lnTo>
                <a:cubicBezTo>
                  <a:pt x="4052466" y="4490226"/>
                  <a:pt x="3996586" y="4546106"/>
                  <a:pt x="3928006" y="4546106"/>
                </a:cubicBezTo>
                <a:close/>
              </a:path>
            </a:pathLst>
          </a:custGeom>
          <a:solidFill>
            <a:srgbClr val="FFFFFF">
              <a:alpha val="30000"/>
            </a:srgbClr>
          </a:solidFill>
        </p:spPr>
      </p:sp>
      <p:sp>
        <p:nvSpPr>
          <p:cNvPr id="13" name="Freeform 4" descr="a white circle"/>
          <p:cNvSpPr/>
          <p:nvPr/>
        </p:nvSpPr>
        <p:spPr>
          <a:xfrm>
            <a:off x="944245" y="1026961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FFFFF">
              <a:alpha val="40000"/>
            </a:srgbClr>
          </a:solidFill>
        </p:spPr>
      </p:sp>
      <p:sp>
        <p:nvSpPr>
          <p:cNvPr id="15" name="Text 5"/>
          <p:cNvSpPr/>
          <p:nvPr/>
        </p:nvSpPr>
        <p:spPr>
          <a:xfrm>
            <a:off x="1981200" y="1118870"/>
            <a:ext cx="3366770" cy="332105"/>
          </a:xfrm>
          <a:prstGeom prst="rect">
            <a:avLst/>
          </a:prstGeom>
          <a:noFill/>
        </p:spPr>
        <p:txBody>
          <a:bodyPr wrap="square" rtlCol="0" anchor="ctr"/>
          <a:p>
            <a:pPr marL="0" indent="0" algn="ctr">
              <a:lnSpc>
                <a:spcPct val="115000"/>
              </a:lnSpc>
              <a:buNone/>
            </a:pPr>
            <a:r>
              <a:rPr lang="en-US" sz="1600" b="1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处于职业方向探索期的</a:t>
            </a:r>
            <a:r>
              <a:rPr lang="en-US" sz="1600" b="1" dirty="0">
                <a:solidFill>
                  <a:srgbClr val="11142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技术从业者</a:t>
            </a:r>
            <a:endParaRPr lang="en-U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Noto Serif CJK KR Black" panose="02020900000000000000" charset="-122"/>
              <a:ea typeface="Noto Serif CJK KR Black" panose="02020900000000000000" charset="-122"/>
            </a:endParaRPr>
          </a:p>
        </p:txBody>
      </p:sp>
      <p:grpSp>
        <p:nvGrpSpPr>
          <p:cNvPr id="28" name="组合 27"/>
          <p:cNvGrpSpPr/>
          <p:nvPr/>
        </p:nvGrpSpPr>
        <p:grpSpPr>
          <a:xfrm>
            <a:off x="1168400" y="4636135"/>
            <a:ext cx="3876040" cy="594360"/>
            <a:chOff x="1209" y="6804"/>
            <a:chExt cx="6104" cy="936"/>
          </a:xfrm>
        </p:grpSpPr>
        <p:sp>
          <p:nvSpPr>
            <p:cNvPr id="18" name="Text 10"/>
            <p:cNvSpPr/>
            <p:nvPr/>
          </p:nvSpPr>
          <p:spPr>
            <a:xfrm>
              <a:off x="1683" y="6804"/>
              <a:ext cx="5631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希望市场感知与能力建设并行，而非临时抱佛脚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  <p:sp>
          <p:nvSpPr>
            <p:cNvPr id="23" name="Freeform 4" descr="an icon of a lightbulb"/>
            <p:cNvSpPr/>
            <p:nvPr/>
          </p:nvSpPr>
          <p:spPr>
            <a:xfrm>
              <a:off x="1209" y="7030"/>
              <a:ext cx="340" cy="454"/>
            </a:xfrm>
            <a:custGeom>
              <a:avLst/>
              <a:gdLst/>
              <a:ahLst/>
              <a:cxnLst/>
              <a:rect l="l" t="t" r="r" b="b"/>
              <a:pathLst>
                <a:path w="715320" h="910708">
                  <a:moveTo>
                    <a:pt x="0" y="0"/>
                  </a:moveTo>
                  <a:lnTo>
                    <a:pt x="715320" y="0"/>
                  </a:lnTo>
                  <a:lnTo>
                    <a:pt x="715320" y="910709"/>
                  </a:lnTo>
                  <a:lnTo>
                    <a:pt x="0" y="910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26" name="组合 25"/>
          <p:cNvGrpSpPr/>
          <p:nvPr/>
        </p:nvGrpSpPr>
        <p:grpSpPr>
          <a:xfrm>
            <a:off x="1144905" y="2131060"/>
            <a:ext cx="3899535" cy="594360"/>
            <a:chOff x="1172" y="4932"/>
            <a:chExt cx="6141" cy="936"/>
          </a:xfrm>
        </p:grpSpPr>
        <p:sp>
          <p:nvSpPr>
            <p:cNvPr id="30" name="Text 10"/>
            <p:cNvSpPr/>
            <p:nvPr/>
          </p:nvSpPr>
          <p:spPr>
            <a:xfrm>
              <a:off x="1683" y="4932"/>
              <a:ext cx="5631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希望在特定方向保持持续成长和技术敏感度</a:t>
              </a:r>
              <a:endParaRPr lang="zh-CN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  <p:sp>
          <p:nvSpPr>
            <p:cNvPr id="24" name="Freeform 5" descr="an icon of a person with a tie"/>
            <p:cNvSpPr/>
            <p:nvPr/>
          </p:nvSpPr>
          <p:spPr>
            <a:xfrm>
              <a:off x="1172" y="5145"/>
              <a:ext cx="510" cy="510"/>
            </a:xfrm>
            <a:custGeom>
              <a:avLst/>
              <a:gdLst/>
              <a:ahLst/>
              <a:cxnLst/>
              <a:rect l="l" t="t" r="r" b="b"/>
              <a:pathLst>
                <a:path w="859377" h="910708">
                  <a:moveTo>
                    <a:pt x="0" y="0"/>
                  </a:moveTo>
                  <a:lnTo>
                    <a:pt x="859378" y="0"/>
                  </a:lnTo>
                  <a:lnTo>
                    <a:pt x="859378" y="910709"/>
                  </a:lnTo>
                  <a:lnTo>
                    <a:pt x="0" y="910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29" name="组合 28"/>
          <p:cNvGrpSpPr/>
          <p:nvPr/>
        </p:nvGrpSpPr>
        <p:grpSpPr>
          <a:xfrm>
            <a:off x="1144905" y="5383530"/>
            <a:ext cx="3898900" cy="594360"/>
            <a:chOff x="1174" y="7740"/>
            <a:chExt cx="6140" cy="936"/>
          </a:xfrm>
        </p:grpSpPr>
        <p:sp>
          <p:nvSpPr>
            <p:cNvPr id="21" name="Text 10"/>
            <p:cNvSpPr/>
            <p:nvPr/>
          </p:nvSpPr>
          <p:spPr>
            <a:xfrm>
              <a:off x="1683" y="7740"/>
              <a:ext cx="5631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碎片时间是主要使用场景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  <p:sp>
          <p:nvSpPr>
            <p:cNvPr id="25" name="Freeform 6" descr="an icon of a thumbs-up hand"/>
            <p:cNvSpPr/>
            <p:nvPr/>
          </p:nvSpPr>
          <p:spPr>
            <a:xfrm>
              <a:off x="1174" y="7914"/>
              <a:ext cx="510" cy="510"/>
            </a:xfrm>
            <a:custGeom>
              <a:avLst/>
              <a:gdLst/>
              <a:ahLst/>
              <a:cxnLst/>
              <a:rect l="l" t="t" r="r" b="b"/>
              <a:pathLst>
                <a:path w="910708" h="841163">
                  <a:moveTo>
                    <a:pt x="0" y="0"/>
                  </a:moveTo>
                  <a:lnTo>
                    <a:pt x="910708" y="0"/>
                  </a:lnTo>
                  <a:lnTo>
                    <a:pt x="910708" y="841163"/>
                  </a:lnTo>
                  <a:lnTo>
                    <a:pt x="0" y="8411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33" name="组合 32"/>
          <p:cNvGrpSpPr/>
          <p:nvPr/>
        </p:nvGrpSpPr>
        <p:grpSpPr>
          <a:xfrm>
            <a:off x="1146175" y="2734310"/>
            <a:ext cx="3898900" cy="838200"/>
            <a:chOff x="1279" y="5662"/>
            <a:chExt cx="6140" cy="1320"/>
          </a:xfrm>
        </p:grpSpPr>
        <p:grpSp>
          <p:nvGrpSpPr>
            <p:cNvPr id="27" name="组合 26"/>
            <p:cNvGrpSpPr/>
            <p:nvPr/>
          </p:nvGrpSpPr>
          <p:grpSpPr>
            <a:xfrm>
              <a:off x="1279" y="5662"/>
              <a:ext cx="6140" cy="936"/>
              <a:chOff x="1174" y="5868"/>
              <a:chExt cx="6140" cy="936"/>
            </a:xfrm>
          </p:grpSpPr>
          <p:sp>
            <p:nvSpPr>
              <p:cNvPr id="17" name="Text 10"/>
              <p:cNvSpPr/>
              <p:nvPr/>
            </p:nvSpPr>
            <p:spPr>
              <a:xfrm>
                <a:off x="1683" y="5868"/>
                <a:ext cx="5631" cy="936"/>
              </a:xfrm>
              <a:prstGeom prst="rect">
                <a:avLst/>
              </a:prstGeom>
              <a:noFill/>
            </p:spPr>
            <p:txBody>
              <a:bodyPr wrap="square" rtlCol="0" anchor="ctr"/>
              <a:p>
                <a:pPr marL="0" indent="0">
                  <a:lnSpc>
                    <a:spcPct val="125000"/>
                  </a:lnSpc>
                  <a:buNone/>
                </a:pPr>
                <a:r>
                  <a:rPr lang="zh-CN" altLang="en-US" sz="12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j-ea"/>
                    <a:ea typeface="+mj-ea"/>
                    <a:cs typeface="+mj-ea"/>
                  </a:rPr>
                  <a:t>缺的不是学习资源</a:t>
                </a:r>
                <a:r>
                  <a:rPr lang="en-US" altLang="zh-CN" sz="12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j-ea"/>
                    <a:ea typeface="+mj-ea"/>
                    <a:cs typeface="+mj-ea"/>
                  </a:rPr>
                  <a:t>,</a:t>
                </a:r>
                <a:r>
                  <a:rPr lang="zh-CN" altLang="en-US" sz="12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j-ea"/>
                    <a:ea typeface="+mj-ea"/>
                    <a:cs typeface="+mj-ea"/>
                  </a:rPr>
                  <a:t>而是筛选判断的确定感</a:t>
                </a:r>
                <a:endPara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endParaRPr>
              </a:p>
            </p:txBody>
          </p:sp>
          <p:sp>
            <p:nvSpPr>
              <p:cNvPr id="22" name="Freeform 3" descr="an icon of a magnifying glass"/>
              <p:cNvSpPr/>
              <p:nvPr/>
            </p:nvSpPr>
            <p:spPr>
              <a:xfrm>
                <a:off x="1174" y="6169"/>
                <a:ext cx="508" cy="510"/>
              </a:xfrm>
              <a:custGeom>
                <a:avLst/>
                <a:gdLst/>
                <a:ahLst/>
                <a:cxnLst/>
                <a:rect l="l" t="t" r="r" b="b"/>
                <a:pathLst>
                  <a:path w="910708" h="910708">
                    <a:moveTo>
                      <a:pt x="0" y="0"/>
                    </a:moveTo>
                    <a:lnTo>
                      <a:pt x="910708" y="0"/>
                    </a:lnTo>
                    <a:lnTo>
                      <a:pt x="910708" y="910709"/>
                    </a:lnTo>
                    <a:lnTo>
                      <a:pt x="0" y="91070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a:blipFill>
            </p:spPr>
          </p:sp>
        </p:grpSp>
        <p:sp>
          <p:nvSpPr>
            <p:cNvPr id="32" name="文本框 31"/>
            <p:cNvSpPr txBox="1"/>
            <p:nvPr/>
          </p:nvSpPr>
          <p:spPr>
            <a:xfrm>
              <a:off x="1783" y="6354"/>
              <a:ext cx="5299" cy="628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zh-CN" altLang="en-US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每次开始前都要重新判断</a:t>
              </a:r>
              <a:r>
                <a:rPr lang="en-US" altLang="zh-CN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"</a:t>
              </a:r>
              <a:r>
                <a:rPr lang="zh-CN" altLang="en-US" sz="1000" b="1">
                  <a:solidFill>
                    <a:schemeClr val="accent6"/>
                  </a:solidFill>
                  <a:latin typeface="+mj-ea"/>
                  <a:ea typeface="+mj-ea"/>
                  <a:cs typeface="+mj-ea"/>
                </a:rPr>
                <a:t>这次该看什么、值不值得看</a:t>
              </a:r>
              <a:r>
                <a:rPr lang="en-US" altLang="zh-CN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",</a:t>
              </a:r>
              <a:r>
                <a:rPr lang="zh-CN" altLang="en-US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这个过程本身就在消耗行动意愿</a:t>
              </a:r>
              <a:endParaRPr lang="zh-CN" altLang="en-US" sz="100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1466215" y="3629025"/>
            <a:ext cx="3578860" cy="838200"/>
            <a:chOff x="1783" y="5662"/>
            <a:chExt cx="5636" cy="1320"/>
          </a:xfrm>
        </p:grpSpPr>
        <p:sp>
          <p:nvSpPr>
            <p:cNvPr id="37" name="Text 10"/>
            <p:cNvSpPr/>
            <p:nvPr/>
          </p:nvSpPr>
          <p:spPr>
            <a:xfrm>
              <a:off x="1788" y="5662"/>
              <a:ext cx="5631" cy="936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lnSpc>
                  <a:spcPct val="125000"/>
                </a:lnSpc>
                <a:buNone/>
              </a:pPr>
              <a:r>
                <a:rPr lang="zh-CN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j-ea"/>
                  <a:ea typeface="+mj-ea"/>
                  <a:cs typeface="+mj-ea"/>
                </a:rPr>
                <a:t>投入之后难有方向确认感</a:t>
              </a:r>
              <a:endPara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83" y="6354"/>
              <a:ext cx="5299" cy="628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zh-CN" altLang="en-US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很难说清</a:t>
              </a:r>
              <a:r>
                <a:rPr lang="en-US" altLang="zh-CN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"</a:t>
              </a:r>
              <a:r>
                <a:rPr lang="zh-CN" altLang="en-US" sz="1000" b="1">
                  <a:solidFill>
                    <a:schemeClr val="accent6"/>
                  </a:solidFill>
                  <a:latin typeface="+mj-ea"/>
                  <a:ea typeface="+mj-ea"/>
                  <a:cs typeface="+mj-ea"/>
                </a:rPr>
                <a:t>今天做的这些</a:t>
              </a:r>
              <a:r>
                <a:rPr lang="en-US" altLang="zh-CN" sz="1000" b="1">
                  <a:solidFill>
                    <a:schemeClr val="accent6"/>
                  </a:solidFill>
                  <a:latin typeface="+mj-ea"/>
                  <a:ea typeface="+mj-ea"/>
                  <a:cs typeface="+mj-ea"/>
                </a:rPr>
                <a:t>,</a:t>
              </a:r>
              <a:r>
                <a:rPr lang="zh-CN" altLang="en-US" sz="1000" b="1">
                  <a:solidFill>
                    <a:schemeClr val="accent6"/>
                  </a:solidFill>
                  <a:latin typeface="+mj-ea"/>
                  <a:ea typeface="+mj-ea"/>
                  <a:cs typeface="+mj-ea"/>
                </a:rPr>
                <a:t>到底有没有在推进我的目标</a:t>
              </a:r>
              <a:r>
                <a:rPr lang="en-US" altLang="zh-CN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",</a:t>
              </a:r>
              <a:r>
                <a:rPr lang="zh-CN" altLang="en-US" sz="10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  <a:cs typeface="+mj-ea"/>
                </a:rPr>
                <a:t>这种不确定感是持续性中断的隐藏诱因</a:t>
              </a:r>
              <a:endParaRPr lang="zh-CN" altLang="en-US" sz="100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  <a:cs typeface="+mj-ea"/>
              </a:endParaRPr>
            </a:p>
          </p:txBody>
        </p:sp>
      </p:grpSp>
      <p:sp>
        <p:nvSpPr>
          <p:cNvPr id="41" name="文本框 40"/>
          <p:cNvSpPr txBox="1"/>
          <p:nvPr/>
        </p:nvSpPr>
        <p:spPr>
          <a:xfrm>
            <a:off x="2059305" y="1456055"/>
            <a:ext cx="6096000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  <a:sym typeface="+mn-ea"/>
              </a:rPr>
              <a:t>一个希望持续成长，却受困于筛选与确认成本的真实用户</a:t>
            </a:r>
            <a:endParaRPr lang="en-US" altLang="en-US" sz="1200" b="1" dirty="0">
              <a:solidFill>
                <a:schemeClr val="accent1">
                  <a:lumMod val="60000"/>
                  <a:lumOff val="40000"/>
                </a:schemeClr>
              </a:solidFill>
              <a:latin typeface="Calibri" charset="0"/>
              <a:ea typeface="Calibri" pitchFamily="34" charset="-122"/>
              <a:cs typeface="Calibri" pitchFamily="34" charset="-120"/>
              <a:sym typeface="+mn-ea"/>
            </a:endParaRPr>
          </a:p>
        </p:txBody>
      </p:sp>
      <p:cxnSp>
        <p:nvCxnSpPr>
          <p:cNvPr id="42" name="直接连接符 41"/>
          <p:cNvCxnSpPr/>
          <p:nvPr/>
        </p:nvCxnSpPr>
        <p:spPr>
          <a:xfrm>
            <a:off x="927100" y="2760345"/>
            <a:ext cx="997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927100" y="3673475"/>
            <a:ext cx="997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/>
        </p:nvCxnSpPr>
        <p:spPr>
          <a:xfrm>
            <a:off x="927100" y="4601210"/>
            <a:ext cx="997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7" name="直接连接符 46"/>
          <p:cNvCxnSpPr/>
          <p:nvPr/>
        </p:nvCxnSpPr>
        <p:spPr>
          <a:xfrm>
            <a:off x="927100" y="5307330"/>
            <a:ext cx="997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9" name="Text 12"/>
          <p:cNvSpPr/>
          <p:nvPr/>
        </p:nvSpPr>
        <p:spPr>
          <a:xfrm>
            <a:off x="6179820" y="2110740"/>
            <a:ext cx="4652645" cy="64008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lnSpc>
                <a:spcPct val="118000"/>
              </a:lnSpc>
              <a:buNone/>
            </a:pPr>
            <a:r>
              <a:rPr lang="zh-CN" sz="1200" b="1" dirty="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定期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</a:rPr>
              <a:t>、</a:t>
            </a:r>
            <a:r>
              <a:rPr lang="zh-CN" sz="1200" b="1" dirty="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主动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</a:rPr>
              <a:t>地获取外部信号</a:t>
            </a: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</a:rPr>
              <a:t>（趋势 / 动态 / 机会）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</a:rPr>
              <a:t>，</a:t>
            </a:r>
            <a:endParaRPr lang="zh-CN" sz="1200" b="1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cs typeface="+mj-ea"/>
            </a:endParaRPr>
          </a:p>
          <a:p>
            <a:pPr marL="0" indent="0">
              <a:lnSpc>
                <a:spcPct val="118000"/>
              </a:lnSpc>
              <a:buNone/>
            </a:pP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</a:rPr>
              <a:t>而不是靠用户每次临时想起来去搜</a:t>
            </a:r>
            <a:endParaRPr lang="zh-CN" sz="1200" b="1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cs typeface="+mj-ea"/>
            </a:endParaRPr>
          </a:p>
        </p:txBody>
      </p:sp>
      <p:sp>
        <p:nvSpPr>
          <p:cNvPr id="50" name="Text 16"/>
          <p:cNvSpPr/>
          <p:nvPr/>
        </p:nvSpPr>
        <p:spPr>
          <a:xfrm>
            <a:off x="6179820" y="2930525"/>
            <a:ext cx="4652645" cy="64008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p>
            <a:pPr lvl="0" algn="l">
              <a:lnSpc>
                <a:spcPct val="118000"/>
              </a:lnSpc>
              <a:buClrTx/>
              <a:buSzTx/>
              <a:buFontTx/>
            </a:pP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提前完成</a:t>
            </a: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  <a:sym typeface="+mn-ea"/>
              </a:rPr>
              <a:t>材料筛选与价值判断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，并给出清楚的</a:t>
            </a: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  <a:sym typeface="+mn-ea"/>
              </a:rPr>
              <a:t>推荐理由</a:t>
            </a:r>
            <a:endParaRPr lang="zh-CN" sz="1200" b="1" dirty="0">
              <a:solidFill>
                <a:schemeClr val="accent1"/>
              </a:solidFill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51" name="Text 20"/>
          <p:cNvSpPr/>
          <p:nvPr/>
        </p:nvSpPr>
        <p:spPr>
          <a:xfrm>
            <a:off x="6179820" y="3827399"/>
            <a:ext cx="5257800" cy="64008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p>
            <a:pPr lvl="0" algn="l">
              <a:lnSpc>
                <a:spcPct val="118000"/>
              </a:lnSpc>
              <a:buClrTx/>
              <a:buSzTx/>
              <a:buFontTx/>
            </a:pP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  <a:sym typeface="+mn-ea"/>
              </a:rPr>
              <a:t>持续记录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与</a:t>
            </a: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  <a:sym typeface="+mn-ea"/>
              </a:rPr>
              <a:t>阶段性复盘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，让用户能定期回看投入是否真的在推进目标</a:t>
            </a:r>
            <a:endParaRPr lang="zh-CN" sz="1200" b="1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52" name="Text 24"/>
          <p:cNvSpPr/>
          <p:nvPr/>
        </p:nvSpPr>
        <p:spPr>
          <a:xfrm>
            <a:off x="6179820" y="4633976"/>
            <a:ext cx="5257800" cy="64008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p>
            <a:pPr lvl="0" algn="l">
              <a:lnSpc>
                <a:spcPct val="118000"/>
              </a:lnSpc>
              <a:buClrTx/>
              <a:buSzTx/>
              <a:buFontTx/>
            </a:pP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定期获取外部世界的真实诉求，用来</a:t>
            </a:r>
            <a:r>
              <a:rPr lang="zh-CN" sz="1200" b="1" dirty="0">
                <a:solidFill>
                  <a:schemeClr val="accent1"/>
                </a:solidFill>
                <a:latin typeface="+mj-ea"/>
                <a:ea typeface="+mj-ea"/>
                <a:cs typeface="+mj-ea"/>
                <a:sym typeface="+mn-ea"/>
              </a:rPr>
              <a:t>校准学习方向</a:t>
            </a:r>
            <a:r>
              <a:rPr lang="zh-CN" sz="1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，而非闭门造车</a:t>
            </a:r>
            <a:endParaRPr lang="zh-CN" sz="1200" b="1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6179820" y="5390515"/>
            <a:ext cx="4652645" cy="53086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p>
            <a:pPr lvl="0" algn="l">
              <a:lnSpc>
                <a:spcPct val="118000"/>
              </a:lnSpc>
              <a:buClrTx/>
              <a:buSzTx/>
              <a:buFontTx/>
            </a:pPr>
            <a:r>
              <a:rPr lang="zh-CN" sz="1200" b="1" dirty="0">
                <a:solidFill>
                  <a:schemeClr val="accent4"/>
                </a:solidFill>
                <a:latin typeface="+mj-ea"/>
                <a:ea typeface="+mj-ea"/>
                <a:cs typeface="+mj-ea"/>
                <a:sym typeface="+mn-ea"/>
              </a:rPr>
              <a:t>贯穿性约束</a:t>
            </a:r>
            <a:r>
              <a:rPr lang="zh-CN" sz="12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+mj-ea"/>
                <a:ea typeface="+mj-ea"/>
                <a:cs typeface="+mj-ea"/>
                <a:sym typeface="+mn-ea"/>
              </a:rPr>
              <a:t>：所有能力都必须能拆解为可在碎片时间内完成的短任务，而非独立模块</a:t>
            </a:r>
            <a:endParaRPr lang="zh-CN" sz="1200" b="1" dirty="0">
              <a:solidFill>
                <a:schemeClr val="accent4">
                  <a:lumMod val="60000"/>
                  <a:lumOff val="40000"/>
                </a:schemeClr>
              </a:solidFill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60" name="右箭头 59"/>
          <p:cNvSpPr/>
          <p:nvPr/>
        </p:nvSpPr>
        <p:spPr>
          <a:xfrm>
            <a:off x="5349240" y="2385695"/>
            <a:ext cx="323215" cy="11493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1" name="右箭头 60"/>
          <p:cNvSpPr/>
          <p:nvPr/>
        </p:nvSpPr>
        <p:spPr>
          <a:xfrm>
            <a:off x="5344160" y="3159125"/>
            <a:ext cx="323215" cy="11493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62" name="右箭头 61"/>
          <p:cNvSpPr/>
          <p:nvPr/>
        </p:nvSpPr>
        <p:spPr>
          <a:xfrm>
            <a:off x="5344160" y="4079875"/>
            <a:ext cx="323215" cy="11493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63" name="右箭头 62"/>
          <p:cNvSpPr/>
          <p:nvPr/>
        </p:nvSpPr>
        <p:spPr>
          <a:xfrm>
            <a:off x="5344160" y="4897120"/>
            <a:ext cx="323215" cy="11493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64" name="右箭头 63"/>
          <p:cNvSpPr/>
          <p:nvPr/>
        </p:nvSpPr>
        <p:spPr>
          <a:xfrm>
            <a:off x="5344160" y="5600065"/>
            <a:ext cx="323215" cy="114935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pic>
        <p:nvPicPr>
          <p:cNvPr id="67" name="Picture 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508000" y="482600"/>
            <a:ext cx="10821035" cy="18415"/>
          </a:xfrm>
          <a:prstGeom prst="rect">
            <a:avLst/>
          </a:prstGeom>
        </p:spPr>
      </p:pic>
      <p:pic>
        <p:nvPicPr>
          <p:cNvPr id="68" name="Picture 4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508000" y="800735"/>
            <a:ext cx="10821035" cy="18415"/>
          </a:xfrm>
          <a:prstGeom prst="rect">
            <a:avLst/>
          </a:prstGeom>
        </p:spPr>
      </p:pic>
      <p:pic>
        <p:nvPicPr>
          <p:cNvPr id="69" name="Picture 5"/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 rot="5400000">
            <a:off x="1834515" y="638175"/>
            <a:ext cx="309245" cy="15875"/>
          </a:xfrm>
          <a:prstGeom prst="rect">
            <a:avLst/>
          </a:prstGeom>
        </p:spPr>
      </p:pic>
      <p:pic>
        <p:nvPicPr>
          <p:cNvPr id="70" name="Picture 6"/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 rot="5400000">
            <a:off x="5337810" y="638175"/>
            <a:ext cx="309245" cy="15875"/>
          </a:xfrm>
          <a:prstGeom prst="rect">
            <a:avLst/>
          </a:prstGeom>
        </p:spPr>
      </p:pic>
      <p:pic>
        <p:nvPicPr>
          <p:cNvPr id="71" name="Picture 7"/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 rot="5400000">
            <a:off x="10401935" y="638175"/>
            <a:ext cx="309245" cy="15875"/>
          </a:xfrm>
          <a:prstGeom prst="rect">
            <a:avLst/>
          </a:prstGeom>
        </p:spPr>
      </p:pic>
      <p:sp>
        <p:nvSpPr>
          <p:cNvPr id="72" name="TextBox 12"/>
          <p:cNvSpPr txBox="1"/>
          <p:nvPr userDrawn="1"/>
        </p:nvSpPr>
        <p:spPr>
          <a:xfrm>
            <a:off x="11113770" y="56451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03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73" name="文本框 72"/>
          <p:cNvSpPr txBox="1"/>
          <p:nvPr userDrawn="1"/>
        </p:nvSpPr>
        <p:spPr>
          <a:xfrm>
            <a:off x="5519420" y="52832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74" name="文本框 73"/>
          <p:cNvSpPr txBox="1"/>
          <p:nvPr userDrawn="1"/>
        </p:nvSpPr>
        <p:spPr>
          <a:xfrm>
            <a:off x="1997075" y="52451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75" name="文本框 74"/>
          <p:cNvSpPr txBox="1"/>
          <p:nvPr userDrawn="1"/>
        </p:nvSpPr>
        <p:spPr>
          <a:xfrm>
            <a:off x="508000" y="52832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02 Target User</a:t>
            </a:r>
            <a:endParaRPr lang="en-US" sz="1000" b="1"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7" name="Picture 3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214110"/>
            <a:ext cx="10821035" cy="18415"/>
          </a:xfrm>
          <a:prstGeom prst="rect">
            <a:avLst/>
          </a:prstGeom>
        </p:spPr>
      </p:pic>
      <p:pic>
        <p:nvPicPr>
          <p:cNvPr id="68" name="Picture 4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532245"/>
            <a:ext cx="10821035" cy="18415"/>
          </a:xfrm>
          <a:prstGeom prst="rect">
            <a:avLst/>
          </a:prstGeom>
        </p:spPr>
      </p:pic>
      <p:pic>
        <p:nvPicPr>
          <p:cNvPr id="69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834515" y="6369685"/>
            <a:ext cx="309245" cy="15875"/>
          </a:xfrm>
          <a:prstGeom prst="rect">
            <a:avLst/>
          </a:prstGeom>
        </p:spPr>
      </p:pic>
      <p:pic>
        <p:nvPicPr>
          <p:cNvPr id="70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5337810" y="6369685"/>
            <a:ext cx="309245" cy="15875"/>
          </a:xfrm>
          <a:prstGeom prst="rect">
            <a:avLst/>
          </a:prstGeom>
        </p:spPr>
      </p:pic>
      <p:pic>
        <p:nvPicPr>
          <p:cNvPr id="71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0401935" y="6369685"/>
            <a:ext cx="309245" cy="15875"/>
          </a:xfrm>
          <a:prstGeom prst="rect">
            <a:avLst/>
          </a:prstGeom>
        </p:spPr>
      </p:pic>
      <p:sp>
        <p:nvSpPr>
          <p:cNvPr id="72" name="TextBox 12"/>
          <p:cNvSpPr txBox="1"/>
          <p:nvPr userDrawn="1"/>
        </p:nvSpPr>
        <p:spPr>
          <a:xfrm>
            <a:off x="11113770" y="629602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04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73" name="文本框 72"/>
          <p:cNvSpPr txBox="1"/>
          <p:nvPr userDrawn="1"/>
        </p:nvSpPr>
        <p:spPr>
          <a:xfrm>
            <a:off x="5519420" y="625983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74" name="文本框 73"/>
          <p:cNvSpPr txBox="1"/>
          <p:nvPr userDrawn="1"/>
        </p:nvSpPr>
        <p:spPr>
          <a:xfrm>
            <a:off x="1997075" y="625602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75" name="文本框 74"/>
          <p:cNvSpPr txBox="1"/>
          <p:nvPr userDrawn="1"/>
        </p:nvSpPr>
        <p:spPr>
          <a:xfrm>
            <a:off x="508000" y="625983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03 Solution</a:t>
            </a:r>
            <a:endParaRPr lang="en-US" sz="1000" b="1">
              <a:sym typeface="+mn-ea"/>
            </a:endParaRPr>
          </a:p>
        </p:txBody>
      </p:sp>
      <p:sp>
        <p:nvSpPr>
          <p:cNvPr id="55" name="Text 1"/>
          <p:cNvSpPr/>
          <p:nvPr/>
        </p:nvSpPr>
        <p:spPr>
          <a:xfrm>
            <a:off x="508000" y="203200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四类任务模式，对应四类能力需求</a:t>
            </a:r>
            <a:endParaRPr lang="zh-CN" alt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46760"/>
            <a:ext cx="4534535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而是每一次行动开始之前，反复出现的决策与筛选成本</a:t>
            </a:r>
            <a:endParaRPr 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Shape 3"/>
          <p:cNvSpPr/>
          <p:nvPr/>
        </p:nvSpPr>
        <p:spPr>
          <a:xfrm>
            <a:off x="336550" y="1578610"/>
            <a:ext cx="2651760" cy="3984625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7" name="Shape 4"/>
          <p:cNvSpPr/>
          <p:nvPr/>
        </p:nvSpPr>
        <p:spPr>
          <a:xfrm>
            <a:off x="336550" y="157861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1">
              <a:lumMod val="40000"/>
              <a:lumOff val="60000"/>
              <a:alpha val="60000"/>
            </a:schemeClr>
          </a:solidFill>
        </p:spPr>
      </p:sp>
      <p:sp>
        <p:nvSpPr>
          <p:cNvPr id="8" name="Text 6"/>
          <p:cNvSpPr/>
          <p:nvPr/>
        </p:nvSpPr>
        <p:spPr>
          <a:xfrm>
            <a:off x="501142" y="165023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450" b="1" dirty="0">
                <a:solidFill>
                  <a:schemeClr val="accent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Signal Radar</a:t>
            </a:r>
            <a:endParaRPr lang="en-US" sz="1450" b="1" dirty="0">
              <a:solidFill>
                <a:schemeClr val="accent1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9" name="Text 6"/>
          <p:cNvSpPr/>
          <p:nvPr/>
        </p:nvSpPr>
        <p:spPr>
          <a:xfrm>
            <a:off x="501142" y="192963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200" b="1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扫描外部信号</a:t>
            </a:r>
            <a:endParaRPr lang="zh-CN" altLang="en-US" sz="1200" b="1" dirty="0">
              <a:solidFill>
                <a:schemeClr val="bg1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01015" y="2538730"/>
            <a:ext cx="2286000" cy="52006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持续获取趋势、动态、机会等外部信号，不必用户主动去搜</a:t>
            </a:r>
            <a:endParaRPr 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cxnSp>
        <p:nvCxnSpPr>
          <p:cNvPr id="42" name="直接连接符 41"/>
          <p:cNvCxnSpPr/>
          <p:nvPr/>
        </p:nvCxnSpPr>
        <p:spPr>
          <a:xfrm>
            <a:off x="501015" y="4858385"/>
            <a:ext cx="2268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Text 8"/>
          <p:cNvSpPr/>
          <p:nvPr/>
        </p:nvSpPr>
        <p:spPr>
          <a:xfrm>
            <a:off x="501015" y="4983480"/>
            <a:ext cx="2286000" cy="33210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050" b="1" dirty="0">
                <a:solidFill>
                  <a:schemeClr val="bg1">
                    <a:lumMod val="6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对应：定期主动获取外部信号</a:t>
            </a:r>
            <a:endParaRPr lang="zh-CN" altLang="en-US" sz="1050" b="1" dirty="0">
              <a:solidFill>
                <a:schemeClr val="bg1">
                  <a:lumMod val="6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12" name="Shape 3"/>
          <p:cNvSpPr/>
          <p:nvPr/>
        </p:nvSpPr>
        <p:spPr>
          <a:xfrm>
            <a:off x="3313430" y="1578610"/>
            <a:ext cx="2651760" cy="3983990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13" name="Shape 4"/>
          <p:cNvSpPr/>
          <p:nvPr/>
        </p:nvSpPr>
        <p:spPr>
          <a:xfrm>
            <a:off x="3313430" y="157861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1">
              <a:lumMod val="40000"/>
              <a:lumOff val="60000"/>
              <a:alpha val="60000"/>
            </a:schemeClr>
          </a:solidFill>
        </p:spPr>
      </p:sp>
      <p:sp>
        <p:nvSpPr>
          <p:cNvPr id="14" name="Text 6"/>
          <p:cNvSpPr/>
          <p:nvPr/>
        </p:nvSpPr>
        <p:spPr>
          <a:xfrm>
            <a:off x="3478022" y="165023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450" b="1" dirty="0">
                <a:solidFill>
                  <a:schemeClr val="accent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Deep Dive</a:t>
            </a:r>
            <a:endParaRPr lang="en-US" sz="1450" b="1" dirty="0">
              <a:solidFill>
                <a:schemeClr val="accent1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5" name="Text 6"/>
          <p:cNvSpPr/>
          <p:nvPr/>
        </p:nvSpPr>
        <p:spPr>
          <a:xfrm>
            <a:off x="3478022" y="192963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200" b="1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深度处理一份材料</a:t>
            </a:r>
            <a:endParaRPr lang="zh-CN" altLang="en-US" sz="1200" b="1" dirty="0">
              <a:solidFill>
                <a:schemeClr val="bg1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16" name="Text 8"/>
          <p:cNvSpPr/>
          <p:nvPr/>
        </p:nvSpPr>
        <p:spPr>
          <a:xfrm>
            <a:off x="3477895" y="2538730"/>
            <a:ext cx="2286000" cy="52006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深入精读一篇论文、文章、</a:t>
            </a:r>
            <a:r>
              <a:rPr lang="en-US" altLang="zh-CN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repo </a:t>
            </a:r>
            <a:r>
              <a:rPr lang="zh-CN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或案例，形成结构化理解</a:t>
            </a:r>
            <a:endParaRPr lang="zh-CN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zh-CN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cxnSp>
        <p:nvCxnSpPr>
          <p:cNvPr id="17" name="直接连接符 16"/>
          <p:cNvCxnSpPr/>
          <p:nvPr/>
        </p:nvCxnSpPr>
        <p:spPr>
          <a:xfrm>
            <a:off x="3477895" y="4858385"/>
            <a:ext cx="2268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Text 8"/>
          <p:cNvSpPr/>
          <p:nvPr/>
        </p:nvSpPr>
        <p:spPr>
          <a:xfrm>
            <a:off x="3477895" y="4983480"/>
            <a:ext cx="2437765" cy="33210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050" b="1" dirty="0">
                <a:solidFill>
                  <a:schemeClr val="bg1">
                    <a:lumMod val="6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对应：提前完成材料筛选与价值判断</a:t>
            </a:r>
            <a:endParaRPr lang="zh-CN" altLang="en-US" sz="1050" b="1" dirty="0">
              <a:solidFill>
                <a:schemeClr val="bg1">
                  <a:lumMod val="6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zh-CN" altLang="en-US" sz="1050" b="1" dirty="0">
              <a:solidFill>
                <a:schemeClr val="bg1">
                  <a:lumMod val="6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19" name="Shape 3"/>
          <p:cNvSpPr/>
          <p:nvPr/>
        </p:nvSpPr>
        <p:spPr>
          <a:xfrm>
            <a:off x="6235700" y="1578610"/>
            <a:ext cx="2651760" cy="3984625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20" name="Shape 4"/>
          <p:cNvSpPr/>
          <p:nvPr/>
        </p:nvSpPr>
        <p:spPr>
          <a:xfrm>
            <a:off x="6235700" y="157861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1">
              <a:lumMod val="40000"/>
              <a:lumOff val="60000"/>
              <a:alpha val="60000"/>
            </a:schemeClr>
          </a:solidFill>
        </p:spPr>
      </p:sp>
      <p:sp>
        <p:nvSpPr>
          <p:cNvPr id="21" name="Text 6"/>
          <p:cNvSpPr/>
          <p:nvPr/>
        </p:nvSpPr>
        <p:spPr>
          <a:xfrm>
            <a:off x="6318885" y="1650365"/>
            <a:ext cx="2586355" cy="384175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Opportunity Alignment</a:t>
            </a:r>
            <a:endParaRPr lang="en-US" sz="1400" b="1" dirty="0">
              <a:solidFill>
                <a:schemeClr val="accent1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2" name="Text 6"/>
          <p:cNvSpPr/>
          <p:nvPr/>
        </p:nvSpPr>
        <p:spPr>
          <a:xfrm>
            <a:off x="6400292" y="192963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200" b="1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外部诉求分析</a:t>
            </a:r>
            <a:endParaRPr lang="zh-CN" altLang="en-US" sz="1200" b="1" dirty="0">
              <a:solidFill>
                <a:schemeClr val="bg1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23" name="Text 8"/>
          <p:cNvSpPr/>
          <p:nvPr/>
        </p:nvSpPr>
        <p:spPr>
          <a:xfrm>
            <a:off x="6400165" y="2538730"/>
            <a:ext cx="2286000" cy="52006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分析所在领域里，外部世界（市场</a:t>
            </a:r>
            <a:r>
              <a:rPr lang="en-US" altLang="zh-CN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/</a:t>
            </a:r>
            <a:r>
              <a:rPr lang="zh-CN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机构</a:t>
            </a:r>
            <a:r>
              <a:rPr lang="en-US" altLang="zh-CN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/</a:t>
            </a:r>
            <a:r>
              <a:rPr lang="zh-CN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社区）真正需要什么</a:t>
            </a:r>
            <a:endParaRPr lang="zh-CN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zh-CN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cxnSp>
        <p:nvCxnSpPr>
          <p:cNvPr id="24" name="直接连接符 23"/>
          <p:cNvCxnSpPr/>
          <p:nvPr/>
        </p:nvCxnSpPr>
        <p:spPr>
          <a:xfrm>
            <a:off x="6400165" y="4858385"/>
            <a:ext cx="2268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Text 8"/>
          <p:cNvSpPr/>
          <p:nvPr/>
        </p:nvSpPr>
        <p:spPr>
          <a:xfrm>
            <a:off x="6400165" y="4983480"/>
            <a:ext cx="2286000" cy="33210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050" b="1" dirty="0">
                <a:solidFill>
                  <a:schemeClr val="bg1">
                    <a:lumMod val="6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对应：定期获取外部世界真实诉求</a:t>
            </a:r>
            <a:endParaRPr lang="zh-CN" altLang="en-US" sz="1050" b="1" dirty="0">
              <a:solidFill>
                <a:schemeClr val="bg1">
                  <a:lumMod val="6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zh-CN" altLang="en-US" sz="1050" b="1" dirty="0">
              <a:solidFill>
                <a:schemeClr val="bg1">
                  <a:lumMod val="6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26" name="Shape 3"/>
          <p:cNvSpPr/>
          <p:nvPr/>
        </p:nvSpPr>
        <p:spPr>
          <a:xfrm>
            <a:off x="9103360" y="1578610"/>
            <a:ext cx="2651760" cy="3984625"/>
          </a:xfrm>
          <a:prstGeom prst="roundRect">
            <a:avLst>
              <a:gd name="adj" fmla="val 4138"/>
            </a:avLst>
          </a:prstGeom>
          <a:solidFill>
            <a:schemeClr val="bg1">
              <a:alpha val="60000"/>
            </a:schemeClr>
          </a:solidFill>
        </p:spPr>
      </p:sp>
      <p:sp>
        <p:nvSpPr>
          <p:cNvPr id="27" name="Shape 4"/>
          <p:cNvSpPr/>
          <p:nvPr/>
        </p:nvSpPr>
        <p:spPr>
          <a:xfrm>
            <a:off x="9103360" y="157861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1">
              <a:lumMod val="40000"/>
              <a:lumOff val="60000"/>
              <a:alpha val="60000"/>
            </a:schemeClr>
          </a:solidFill>
        </p:spPr>
      </p:sp>
      <p:sp>
        <p:nvSpPr>
          <p:cNvPr id="28" name="Text 6"/>
          <p:cNvSpPr/>
          <p:nvPr/>
        </p:nvSpPr>
        <p:spPr>
          <a:xfrm>
            <a:off x="9267952" y="165023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sz="1450" b="1" dirty="0">
                <a:solidFill>
                  <a:schemeClr val="accent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Weekly Studio</a:t>
            </a:r>
            <a:endParaRPr lang="en-US" sz="1450" b="1" dirty="0">
              <a:solidFill>
                <a:schemeClr val="accent1"/>
              </a:solidFill>
              <a:latin typeface="Calibri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9" name="Text 6"/>
          <p:cNvSpPr/>
          <p:nvPr/>
        </p:nvSpPr>
        <p:spPr>
          <a:xfrm>
            <a:off x="9267952" y="1929638"/>
            <a:ext cx="2322576" cy="384048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200" b="1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周期归档复盘</a:t>
            </a:r>
            <a:endParaRPr lang="zh-CN" altLang="en-US" sz="1200" b="1" dirty="0">
              <a:solidFill>
                <a:schemeClr val="bg1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30" name="Text 8"/>
          <p:cNvSpPr/>
          <p:nvPr/>
        </p:nvSpPr>
        <p:spPr>
          <a:xfrm>
            <a:off x="9267825" y="2538730"/>
            <a:ext cx="2286000" cy="52006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定期整理、归档，更新能力档案，回看阶段性投入与产出</a:t>
            </a:r>
            <a:endParaRPr lang="zh-CN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zh-CN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9267825" y="4858385"/>
            <a:ext cx="2268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2" name="Text 8"/>
          <p:cNvSpPr/>
          <p:nvPr/>
        </p:nvSpPr>
        <p:spPr>
          <a:xfrm>
            <a:off x="9267825" y="4983480"/>
            <a:ext cx="2286000" cy="332105"/>
          </a:xfrm>
          <a:prstGeom prst="rect">
            <a:avLst/>
          </a:prstGeom>
          <a:noFill/>
        </p:spPr>
        <p:txBody>
          <a:bodyPr wrap="square" rtlCol="0" anchor="t"/>
          <a:p>
            <a:pPr marL="0" indent="0">
              <a:lnSpc>
                <a:spcPct val="130000"/>
              </a:lnSpc>
              <a:buNone/>
            </a:pPr>
            <a:r>
              <a:rPr lang="zh-CN" altLang="en-US" sz="1050" b="1" dirty="0">
                <a:solidFill>
                  <a:schemeClr val="bg1">
                    <a:lumMod val="6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对应：持续记录与阶段性复盘</a:t>
            </a:r>
            <a:endParaRPr lang="zh-CN" altLang="en-US" sz="1050" b="1" dirty="0">
              <a:solidFill>
                <a:schemeClr val="bg1">
                  <a:lumMod val="65000"/>
                </a:schemeClr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336550" y="5722620"/>
            <a:ext cx="6096000" cy="252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50" b="1" dirty="0">
                <a:solidFill>
                  <a:srgbClr val="6B7394"/>
                </a:solidFill>
                <a:latin typeface="Calibri" charset="0"/>
                <a:ea typeface="Calibri" pitchFamily="34" charset="-122"/>
                <a:cs typeface="Calibri" pitchFamily="34" charset="-120"/>
                <a:sym typeface="+mn-ea"/>
              </a:rPr>
              <a:t>四类会话共享同一套 BaseSession / Skill 架构，仅数据源与生成逻辑不同</a:t>
            </a:r>
            <a:r>
              <a:rPr lang="zh-CN" altLang="en-US" sz="1050" b="1" dirty="0">
                <a:solidFill>
                  <a:srgbClr val="6B7394"/>
                </a:solidFill>
                <a:latin typeface="Calibri" charset="0"/>
                <a:ea typeface="宋体" charset="0"/>
                <a:cs typeface="Calibri" pitchFamily="34" charset="-120"/>
                <a:sym typeface="+mn-ea"/>
              </a:rPr>
              <a:t>。</a:t>
            </a:r>
            <a:endParaRPr lang="zh-CN" altLang="en-US" sz="1050" b="1" dirty="0">
              <a:solidFill>
                <a:srgbClr val="6B7394"/>
              </a:solidFill>
              <a:latin typeface="Calibri" charset="0"/>
              <a:ea typeface="宋体" charset="0"/>
              <a:cs typeface="Calibri" pitchFamily="34" charset="-120"/>
              <a:sym typeface="+mn-ea"/>
            </a:endParaRPr>
          </a:p>
        </p:txBody>
      </p:sp>
      <p:pic>
        <p:nvPicPr>
          <p:cNvPr id="34" name="图片 33" descr="deep-div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2510" y="2945130"/>
            <a:ext cx="2078990" cy="2078990"/>
          </a:xfrm>
          <a:prstGeom prst="rect">
            <a:avLst/>
          </a:prstGeom>
        </p:spPr>
      </p:pic>
      <p:pic>
        <p:nvPicPr>
          <p:cNvPr id="35" name="图片 34" descr="opportunity-alignmen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205" y="2755900"/>
            <a:ext cx="2458085" cy="2458085"/>
          </a:xfrm>
          <a:prstGeom prst="rect">
            <a:avLst/>
          </a:prstGeom>
        </p:spPr>
      </p:pic>
      <p:pic>
        <p:nvPicPr>
          <p:cNvPr id="36" name="图片 35" descr="signal-rada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2965450"/>
            <a:ext cx="2068830" cy="1925320"/>
          </a:xfrm>
          <a:prstGeom prst="rect">
            <a:avLst/>
          </a:prstGeom>
        </p:spPr>
      </p:pic>
      <p:pic>
        <p:nvPicPr>
          <p:cNvPr id="37" name="图片 36" descr="weekly-studi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7345" y="2755900"/>
            <a:ext cx="2393950" cy="23939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5" name="Text 1"/>
          <p:cNvSpPr/>
          <p:nvPr/>
        </p:nvSpPr>
        <p:spPr>
          <a:xfrm>
            <a:off x="508000" y="211455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两层结构设计，六步完整闭环</a:t>
            </a:r>
            <a:endParaRPr lang="zh-CN" alt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34695"/>
            <a:ext cx="4534535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四类会话按用户配置的周期，依次进入任务闭环</a:t>
            </a:r>
            <a:endParaRPr lang="zh-CN" alt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pic>
        <p:nvPicPr>
          <p:cNvPr id="8" name="Picture 3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214110"/>
            <a:ext cx="10821035" cy="18415"/>
          </a:xfrm>
          <a:prstGeom prst="rect">
            <a:avLst/>
          </a:prstGeom>
        </p:spPr>
      </p:pic>
      <p:pic>
        <p:nvPicPr>
          <p:cNvPr id="9" name="Picture 4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532245"/>
            <a:ext cx="10821035" cy="18415"/>
          </a:xfrm>
          <a:prstGeom prst="rect">
            <a:avLst/>
          </a:prstGeom>
        </p:spPr>
      </p:pic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834515" y="6369685"/>
            <a:ext cx="309245" cy="15875"/>
          </a:xfrm>
          <a:prstGeom prst="rect">
            <a:avLst/>
          </a:prstGeom>
        </p:spPr>
      </p:pic>
      <p:pic>
        <p:nvPicPr>
          <p:cNvPr id="11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5337810" y="6369685"/>
            <a:ext cx="309245" cy="15875"/>
          </a:xfrm>
          <a:prstGeom prst="rect">
            <a:avLst/>
          </a:prstGeom>
        </p:spPr>
      </p:pic>
      <p:pic>
        <p:nvPicPr>
          <p:cNvPr id="12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0401935" y="6369685"/>
            <a:ext cx="309245" cy="15875"/>
          </a:xfrm>
          <a:prstGeom prst="rect">
            <a:avLst/>
          </a:prstGeom>
        </p:spPr>
      </p:pic>
      <p:sp>
        <p:nvSpPr>
          <p:cNvPr id="13" name="TextBox 12"/>
          <p:cNvSpPr txBox="1"/>
          <p:nvPr userDrawn="1"/>
        </p:nvSpPr>
        <p:spPr>
          <a:xfrm>
            <a:off x="11113770" y="629602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04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5519420" y="625983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15" name="文本框 14"/>
          <p:cNvSpPr txBox="1"/>
          <p:nvPr userDrawn="1"/>
        </p:nvSpPr>
        <p:spPr>
          <a:xfrm>
            <a:off x="1997075" y="625602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508000" y="625983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03 Solution</a:t>
            </a:r>
            <a:endParaRPr lang="en-US" sz="1000" b="1">
              <a:sym typeface="+mn-ea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22" name="组合 21"/>
          <p:cNvGrpSpPr/>
          <p:nvPr/>
        </p:nvGrpSpPr>
        <p:grpSpPr>
          <a:xfrm>
            <a:off x="537845" y="2853055"/>
            <a:ext cx="2597150" cy="970280"/>
            <a:chOff x="5568" y="2383"/>
            <a:chExt cx="4090" cy="1528"/>
          </a:xfrm>
        </p:grpSpPr>
        <p:sp>
          <p:nvSpPr>
            <p:cNvPr id="20" name="矩形 19"/>
            <p:cNvSpPr/>
            <p:nvPr/>
          </p:nvSpPr>
          <p:spPr>
            <a:xfrm>
              <a:off x="5568" y="2383"/>
              <a:ext cx="4090" cy="1529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 w="6350">
              <a:solidFill>
                <a:schemeClr val="tx1"/>
              </a:solidFill>
            </a:ln>
          </p:spPr>
          <p:txBody>
            <a:bodyPr rtlCol="0" anchor="t">
              <a:noAutofit/>
            </a:bodyPr>
            <a:p>
              <a:pPr lvl="0" algn="l">
                <a:buClrTx/>
                <a:buSzTx/>
                <a:buFontTx/>
              </a:pPr>
              <a:endParaRPr lang="en-US" altLang="zh-CN">
                <a:latin typeface="Noto Serif CJK KR Black" panose="02020900000000000000" charset="-122"/>
                <a:ea typeface="Noto Serif CJK KR Black" panose="02020900000000000000" charset="-122"/>
                <a:sym typeface="+mn-ea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5600" y="2516"/>
              <a:ext cx="2594" cy="48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1600"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rPr>
                <a:t>①节奏触发</a:t>
              </a:r>
              <a:endParaRPr lang="en-US" altLang="zh-CN" sz="1600">
                <a:latin typeface="Noto Serif CJK KR Black" panose="02020900000000000000" charset="-122"/>
                <a:ea typeface="Noto Serif CJK KR Black" panose="02020900000000000000" charset="-122"/>
              </a:endParaRPr>
            </a:p>
            <a:p>
              <a:endParaRPr lang="en-US" altLang="zh-CN" sz="1600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5744" y="2970"/>
              <a:ext cx="3791" cy="91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200" b="1">
                  <a:solidFill>
                    <a:schemeClr val="bg1">
                      <a:lumMod val="50000"/>
                    </a:schemeClr>
                  </a:solidFill>
                  <a:ea typeface="+mn-lt"/>
                  <a:cs typeface="+mn-lt"/>
                  <a:sym typeface="+mn-ea"/>
                </a:rPr>
                <a:t>日期</a:t>
              </a:r>
              <a:r>
                <a:rPr lang="en-US" altLang="zh-CN" sz="1200" b="1">
                  <a:solidFill>
                    <a:schemeClr val="bg1">
                      <a:lumMod val="50000"/>
                    </a:schemeClr>
                  </a:solidFill>
                  <a:ea typeface="+mn-lt"/>
                  <a:cs typeface="+mn-lt"/>
                  <a:sym typeface="+mn-ea"/>
                </a:rPr>
                <a:t>/</a:t>
              </a:r>
              <a:r>
                <a:rPr lang="zh-CN" altLang="en-US" sz="1200" b="1">
                  <a:solidFill>
                    <a:schemeClr val="bg1">
                      <a:lumMod val="50000"/>
                    </a:schemeClr>
                  </a:solidFill>
                  <a:ea typeface="+mn-lt"/>
                  <a:cs typeface="+mn-lt"/>
                  <a:sym typeface="+mn-ea"/>
                </a:rPr>
                <a:t>用户选择决定今天进入哪类</a:t>
              </a:r>
              <a:r>
                <a:rPr lang="en-US" altLang="zh-CN" sz="1200" b="1">
                  <a:solidFill>
                    <a:schemeClr val="bg1">
                      <a:lumMod val="50000"/>
                    </a:schemeClr>
                  </a:solidFill>
                  <a:ea typeface="+mn-lt"/>
                  <a:cs typeface="+mn-lt"/>
                  <a:sym typeface="+mn-ea"/>
                </a:rPr>
                <a:t>Session</a:t>
              </a:r>
              <a:endParaRPr lang="en-US" altLang="zh-CN" sz="1200" b="1">
                <a:solidFill>
                  <a:schemeClr val="bg1">
                    <a:lumMod val="50000"/>
                  </a:schemeClr>
                </a:solidFill>
                <a:ea typeface="+mn-lt"/>
                <a:cs typeface="+mn-lt"/>
                <a:sym typeface="+mn-ea"/>
              </a:endParaRPr>
            </a:p>
          </p:txBody>
        </p:sp>
      </p:grpSp>
      <p:grpSp>
        <p:nvGrpSpPr>
          <p:cNvPr id="23" name="组合 22"/>
          <p:cNvGrpSpPr/>
          <p:nvPr/>
        </p:nvGrpSpPr>
        <p:grpSpPr>
          <a:xfrm>
            <a:off x="4939030" y="2853690"/>
            <a:ext cx="2597150" cy="970280"/>
            <a:chOff x="5568" y="2383"/>
            <a:chExt cx="4090" cy="1528"/>
          </a:xfrm>
        </p:grpSpPr>
        <p:sp>
          <p:nvSpPr>
            <p:cNvPr id="24" name="矩形 23"/>
            <p:cNvSpPr/>
            <p:nvPr/>
          </p:nvSpPr>
          <p:spPr>
            <a:xfrm>
              <a:off x="5568" y="2383"/>
              <a:ext cx="4090" cy="1529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 w="6350">
              <a:solidFill>
                <a:schemeClr val="tx1"/>
              </a:solidFill>
            </a:ln>
          </p:spPr>
          <p:txBody>
            <a:bodyPr rtlCol="0" anchor="t">
              <a:noAutofit/>
            </a:bodyPr>
            <a:p>
              <a:pPr lvl="0" algn="l">
                <a:buClrTx/>
                <a:buSzTx/>
                <a:buFontTx/>
              </a:pPr>
              <a:endParaRPr lang="en-US" altLang="zh-CN">
                <a:latin typeface="Noto Serif CJK KR Black" panose="02020900000000000000" charset="-122"/>
                <a:ea typeface="Noto Serif CJK KR Black" panose="02020900000000000000" charset="-122"/>
                <a:sym typeface="+mn-ea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5600" y="2516"/>
              <a:ext cx="2594" cy="48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1600" b="1">
                  <a:latin typeface="东文宋体" charset="0"/>
                  <a:ea typeface="东文宋体" charset="0"/>
                  <a:sym typeface="+mn-ea"/>
                </a:rPr>
                <a:t>②材料包生成</a:t>
              </a:r>
              <a:endParaRPr lang="en-US" altLang="zh-CN" sz="1600" b="1">
                <a:latin typeface="Noto Serif CJK KR Black" panose="02020900000000000000" charset="-122"/>
                <a:ea typeface="Noto Serif CJK KR Black" panose="02020900000000000000" charset="-122"/>
              </a:endParaRPr>
            </a:p>
            <a:p>
              <a:endParaRPr lang="en-US" altLang="zh-CN" sz="1600" b="1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5744" y="2970"/>
              <a:ext cx="3791" cy="91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生成</a:t>
              </a:r>
              <a:r>
                <a:rPr lang="en-US" altLang="zh-CN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payload</a:t>
              </a:r>
              <a:r>
                <a:rPr lang="zh-CN" altLang="en-US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、材料、推荐理由和完成标准</a:t>
              </a:r>
              <a:endParaRPr lang="zh-CN" altLang="en-US" sz="1200" b="1">
                <a:solidFill>
                  <a:schemeClr val="bg1">
                    <a:lumMod val="50000"/>
                  </a:schemeClr>
                </a:solidFill>
                <a:ea typeface="宋体" charset="0"/>
                <a:cs typeface="+mn-lt"/>
                <a:sym typeface="+mn-ea"/>
              </a:endParaRPr>
            </a:p>
          </p:txBody>
        </p:sp>
      </p:grpSp>
      <p:grpSp>
        <p:nvGrpSpPr>
          <p:cNvPr id="28" name="组合 27"/>
          <p:cNvGrpSpPr/>
          <p:nvPr/>
        </p:nvGrpSpPr>
        <p:grpSpPr>
          <a:xfrm>
            <a:off x="9171305" y="2853690"/>
            <a:ext cx="2597150" cy="970280"/>
            <a:chOff x="5568" y="2383"/>
            <a:chExt cx="4090" cy="1528"/>
          </a:xfrm>
        </p:grpSpPr>
        <p:sp>
          <p:nvSpPr>
            <p:cNvPr id="29" name="矩形 28"/>
            <p:cNvSpPr/>
            <p:nvPr/>
          </p:nvSpPr>
          <p:spPr>
            <a:xfrm>
              <a:off x="5568" y="2383"/>
              <a:ext cx="4090" cy="1529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 w="6350">
              <a:solidFill>
                <a:schemeClr val="tx1"/>
              </a:solidFill>
            </a:ln>
          </p:spPr>
          <p:txBody>
            <a:bodyPr rtlCol="0" anchor="t">
              <a:noAutofit/>
            </a:bodyPr>
            <a:p>
              <a:pPr lvl="0" algn="l">
                <a:buClrTx/>
                <a:buSzTx/>
                <a:buFontTx/>
              </a:pPr>
              <a:endParaRPr lang="en-US" altLang="zh-CN">
                <a:latin typeface="Noto Serif CJK KR Black" panose="02020900000000000000" charset="-122"/>
                <a:ea typeface="Noto Serif CJK KR Black" panose="02020900000000000000" charset="-122"/>
                <a:sym typeface="+mn-ea"/>
              </a:endParaRP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5600" y="2516"/>
              <a:ext cx="2594" cy="48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1600" b="1">
                  <a:latin typeface="东文宋体" charset="0"/>
                  <a:ea typeface="东文宋体" charset="0"/>
                  <a:sym typeface="+mn-ea"/>
                </a:rPr>
                <a:t>③任务执行</a:t>
              </a:r>
              <a:endParaRPr lang="en-US" altLang="zh-CN" sz="1600" b="1">
                <a:latin typeface="Noto Serif CJK KR Black" panose="02020900000000000000" charset="-122"/>
                <a:ea typeface="Noto Serif CJK KR Black" panose="02020900000000000000" charset="-122"/>
              </a:endParaRPr>
            </a:p>
            <a:p>
              <a:endParaRPr lang="en-US" altLang="zh-CN" sz="1600" b="1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5744" y="2970"/>
              <a:ext cx="3791" cy="91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进入工作区，完成一次定时执行任务</a:t>
              </a:r>
              <a:endParaRPr lang="en-US" altLang="zh-CN" sz="1200" b="1">
                <a:solidFill>
                  <a:schemeClr val="bg1">
                    <a:lumMod val="50000"/>
                  </a:schemeClr>
                </a:solidFill>
                <a:ea typeface="宋体" charset="0"/>
                <a:cs typeface="+mn-lt"/>
                <a:sym typeface="+mn-ea"/>
              </a:endParaRPr>
            </a:p>
          </p:txBody>
        </p:sp>
      </p:grpSp>
      <p:grpSp>
        <p:nvGrpSpPr>
          <p:cNvPr id="34" name="组合 33"/>
          <p:cNvGrpSpPr/>
          <p:nvPr/>
        </p:nvGrpSpPr>
        <p:grpSpPr>
          <a:xfrm>
            <a:off x="9171305" y="5080635"/>
            <a:ext cx="2597150" cy="970280"/>
            <a:chOff x="5568" y="2383"/>
            <a:chExt cx="4090" cy="1528"/>
          </a:xfrm>
        </p:grpSpPr>
        <p:sp>
          <p:nvSpPr>
            <p:cNvPr id="35" name="矩形 34"/>
            <p:cNvSpPr/>
            <p:nvPr/>
          </p:nvSpPr>
          <p:spPr>
            <a:xfrm>
              <a:off x="5568" y="2383"/>
              <a:ext cx="4090" cy="1529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 w="6350">
              <a:solidFill>
                <a:schemeClr val="tx1"/>
              </a:solidFill>
            </a:ln>
          </p:spPr>
          <p:txBody>
            <a:bodyPr rtlCol="0" anchor="t">
              <a:noAutofit/>
            </a:bodyPr>
            <a:p>
              <a:pPr lvl="0" algn="l">
                <a:buClrTx/>
                <a:buSzTx/>
                <a:buFontTx/>
              </a:pPr>
              <a:endParaRPr lang="en-US" altLang="zh-CN">
                <a:latin typeface="Noto Serif CJK KR Black" panose="02020900000000000000" charset="-122"/>
                <a:ea typeface="Noto Serif CJK KR Black" panose="02020900000000000000" charset="-122"/>
                <a:sym typeface="+mn-ea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5600" y="2516"/>
              <a:ext cx="2594" cy="48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1600" b="1">
                  <a:latin typeface="东文宋体" charset="0"/>
                  <a:ea typeface="东文宋体" charset="0"/>
                  <a:sym typeface="+mn-ea"/>
                </a:rPr>
                <a:t>④打卡归档</a:t>
              </a:r>
              <a:endParaRPr lang="zh-CN" altLang="en-US" sz="1600" b="1">
                <a:latin typeface="东文宋体" charset="0"/>
                <a:ea typeface="东文宋体" charset="0"/>
              </a:endParaRPr>
            </a:p>
            <a:p>
              <a:endParaRPr lang="en-US" altLang="zh-CN" sz="1600" b="1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5744" y="2970"/>
              <a:ext cx="3791" cy="91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用户确认完成</a:t>
              </a:r>
              <a:r>
                <a:rPr lang="en-US" altLang="zh-CN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/</a:t>
              </a:r>
              <a:r>
                <a:rPr lang="zh-CN" altLang="en-US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部分完成，沉淀</a:t>
              </a:r>
              <a:r>
                <a:rPr lang="en-US" altLang="zh-CN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summary</a:t>
              </a:r>
              <a:r>
                <a:rPr lang="zh-CN" altLang="en-US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与</a:t>
              </a:r>
              <a:r>
                <a:rPr lang="en-US" altLang="zh-CN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next action</a:t>
              </a:r>
              <a:endParaRPr lang="en-US" altLang="zh-CN" sz="1200" b="1">
                <a:solidFill>
                  <a:schemeClr val="bg1">
                    <a:lumMod val="50000"/>
                  </a:schemeClr>
                </a:solidFill>
                <a:ea typeface="宋体" charset="0"/>
                <a:cs typeface="+mn-lt"/>
                <a:sym typeface="+mn-ea"/>
              </a:endParaRPr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4939030" y="5080635"/>
            <a:ext cx="2597150" cy="970915"/>
            <a:chOff x="5568" y="2383"/>
            <a:chExt cx="4090" cy="1529"/>
          </a:xfrm>
        </p:grpSpPr>
        <p:sp>
          <p:nvSpPr>
            <p:cNvPr id="40" name="矩形 39"/>
            <p:cNvSpPr/>
            <p:nvPr/>
          </p:nvSpPr>
          <p:spPr>
            <a:xfrm>
              <a:off x="5568" y="2383"/>
              <a:ext cx="4090" cy="1529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 w="6350">
              <a:solidFill>
                <a:schemeClr val="tx1"/>
              </a:solidFill>
            </a:ln>
          </p:spPr>
          <p:txBody>
            <a:bodyPr rtlCol="0" anchor="t">
              <a:noAutofit/>
            </a:bodyPr>
            <a:p>
              <a:pPr lvl="0" algn="l">
                <a:buClrTx/>
                <a:buSzTx/>
                <a:buFontTx/>
              </a:pPr>
              <a:endParaRPr lang="en-US" altLang="zh-CN">
                <a:latin typeface="Noto Serif CJK KR Black" panose="02020900000000000000" charset="-122"/>
                <a:ea typeface="Noto Serif CJK KR Black" panose="02020900000000000000" charset="-122"/>
                <a:sym typeface="+mn-ea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5600" y="2500"/>
              <a:ext cx="2594" cy="48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1600" b="1">
                  <a:latin typeface="东文宋体" charset="0"/>
                  <a:ea typeface="东文宋体" charset="0"/>
                  <a:sym typeface="+mn-ea"/>
                </a:rPr>
                <a:t>⑤Agent反馈</a:t>
              </a:r>
              <a:endParaRPr lang="zh-CN" altLang="en-US" sz="1600" b="1">
                <a:latin typeface="东文宋体" charset="0"/>
                <a:ea typeface="东文宋体" charset="0"/>
              </a:endParaRPr>
            </a:p>
            <a:p>
              <a:endParaRPr lang="en-US" altLang="zh-CN" sz="1600" b="1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744" y="2970"/>
              <a:ext cx="3791" cy="91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生成草稿、讨论材料、补齐洞察和下一步</a:t>
              </a:r>
              <a:endParaRPr lang="zh-CN" sz="1200" b="1">
                <a:solidFill>
                  <a:schemeClr val="bg1">
                    <a:lumMod val="50000"/>
                  </a:schemeClr>
                </a:solidFill>
                <a:ea typeface="宋体" charset="0"/>
                <a:cs typeface="+mn-lt"/>
                <a:sym typeface="+mn-ea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574040" y="5080635"/>
            <a:ext cx="2597150" cy="970915"/>
            <a:chOff x="5568" y="2383"/>
            <a:chExt cx="4090" cy="1529"/>
          </a:xfrm>
        </p:grpSpPr>
        <p:sp>
          <p:nvSpPr>
            <p:cNvPr id="45" name="矩形 44"/>
            <p:cNvSpPr/>
            <p:nvPr/>
          </p:nvSpPr>
          <p:spPr>
            <a:xfrm>
              <a:off x="5568" y="2383"/>
              <a:ext cx="4090" cy="1529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 w="6350">
              <a:solidFill>
                <a:schemeClr val="tx1"/>
              </a:solidFill>
            </a:ln>
          </p:spPr>
          <p:txBody>
            <a:bodyPr rtlCol="0" anchor="t">
              <a:noAutofit/>
            </a:bodyPr>
            <a:p>
              <a:pPr lvl="0" algn="l">
                <a:buClrTx/>
                <a:buSzTx/>
                <a:buFontTx/>
              </a:pPr>
              <a:endParaRPr lang="en-US" altLang="zh-CN">
                <a:latin typeface="Noto Serif CJK KR Black" panose="02020900000000000000" charset="-122"/>
                <a:ea typeface="Noto Serif CJK KR Black" panose="02020900000000000000" charset="-122"/>
                <a:sym typeface="+mn-ea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5600" y="2500"/>
              <a:ext cx="2594" cy="48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 sz="1600" b="1">
                  <a:latin typeface="东文宋体" charset="0"/>
                  <a:ea typeface="东文宋体" charset="0"/>
                  <a:sym typeface="+mn-ea"/>
                </a:rPr>
                <a:t>⑥复盘沉淀</a:t>
              </a:r>
              <a:endParaRPr lang="zh-CN" altLang="en-US" sz="1600" b="1">
                <a:latin typeface="东文宋体" charset="0"/>
                <a:ea typeface="东文宋体" charset="0"/>
              </a:endParaRPr>
            </a:p>
            <a:p>
              <a:endParaRPr lang="en-US" altLang="zh-CN" sz="1600" b="1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5744" y="2970"/>
              <a:ext cx="3791" cy="91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写入</a:t>
              </a:r>
              <a:r>
                <a:rPr lang="en-US" altLang="zh-CN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History</a:t>
              </a:r>
              <a:r>
                <a:rPr lang="zh-CN" altLang="en-US" sz="1200" b="1">
                  <a:solidFill>
                    <a:schemeClr val="bg1">
                      <a:lumMod val="50000"/>
                    </a:schemeClr>
                  </a:solidFill>
                  <a:ea typeface="宋体" charset="0"/>
                  <a:cs typeface="+mn-lt"/>
                  <a:sym typeface="+mn-ea"/>
                </a:rPr>
                <a:t>，归档，反哺下个周期选择</a:t>
              </a:r>
              <a:endParaRPr lang="zh-CN" altLang="en-US" sz="1200" b="1">
                <a:solidFill>
                  <a:schemeClr val="bg1">
                    <a:lumMod val="50000"/>
                  </a:schemeClr>
                </a:solidFill>
                <a:ea typeface="宋体" charset="0"/>
                <a:cs typeface="+mn-lt"/>
                <a:sym typeface="+mn-ea"/>
              </a:endParaRPr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2705735" y="4056380"/>
            <a:ext cx="6254750" cy="895350"/>
            <a:chOff x="4261" y="6328"/>
            <a:chExt cx="9850" cy="1410"/>
          </a:xfrm>
        </p:grpSpPr>
        <p:sp>
          <p:nvSpPr>
            <p:cNvPr id="3" name="矩形 2"/>
            <p:cNvSpPr/>
            <p:nvPr/>
          </p:nvSpPr>
          <p:spPr>
            <a:xfrm>
              <a:off x="4261" y="6328"/>
              <a:ext cx="9850" cy="1382"/>
            </a:xfrm>
            <a:prstGeom prst="rect">
              <a:avLst/>
            </a:prstGeom>
            <a:solidFill>
              <a:srgbClr val="EAC2BA">
                <a:alpha val="30000"/>
              </a:srgbClr>
            </a:solidFill>
            <a:ln>
              <a:noFill/>
            </a:ln>
          </p:spPr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4412" y="6400"/>
              <a:ext cx="8839" cy="55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sz="1400">
                  <a:solidFill>
                    <a:schemeClr val="accent6">
                      <a:lumMod val="75000"/>
                    </a:schemeClr>
                  </a:solidFill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rPr>
                <a:t>用户目标与计划上下文</a:t>
              </a:r>
              <a:r>
                <a:rPr lang="en-US" altLang="zh-CN" sz="1400">
                  <a:solidFill>
                    <a:schemeClr val="accent6">
                      <a:lumMod val="75000"/>
                    </a:schemeClr>
                  </a:solidFill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rPr>
                <a:t> </a:t>
              </a:r>
              <a:endParaRPr lang="en-US" altLang="zh-CN" sz="1400">
                <a:solidFill>
                  <a:schemeClr val="accent6">
                    <a:lumMod val="75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sym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561" y="6821"/>
              <a:ext cx="4340" cy="55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sz="1200" b="1">
                  <a:ea typeface="+mn-lt"/>
                  <a:cs typeface="+mn-lt"/>
                  <a:sym typeface="+mn-ea"/>
                </a:rPr>
                <a:t>长期目标</a:t>
              </a:r>
              <a:r>
                <a:rPr lang="zh-CN" sz="1200">
                  <a:ea typeface="+mn-lt"/>
                  <a:cs typeface="+mn-lt"/>
                  <a:sym typeface="+mn-ea"/>
                </a:rPr>
                <a:t>：职业</a:t>
              </a:r>
              <a:r>
                <a:rPr lang="en-US" altLang="zh-CN" sz="1200">
                  <a:ea typeface="+mn-lt"/>
                  <a:cs typeface="+mn-lt"/>
                  <a:sym typeface="+mn-ea"/>
                </a:rPr>
                <a:t>/</a:t>
              </a:r>
              <a:r>
                <a:rPr lang="zh-CN" altLang="en-US" sz="1200">
                  <a:ea typeface="+mn-lt"/>
                  <a:cs typeface="+mn-lt"/>
                  <a:sym typeface="+mn-ea"/>
                </a:rPr>
                <a:t>研究</a:t>
              </a:r>
              <a:r>
                <a:rPr lang="en-US" altLang="zh-CN" sz="1200">
                  <a:ea typeface="+mn-lt"/>
                  <a:cs typeface="+mn-lt"/>
                  <a:sym typeface="+mn-ea"/>
                </a:rPr>
                <a:t>/</a:t>
              </a:r>
              <a:r>
                <a:rPr lang="zh-CN" altLang="en-US" sz="1200">
                  <a:ea typeface="+mn-lt"/>
                  <a:cs typeface="+mn-lt"/>
                  <a:sym typeface="+mn-ea"/>
                </a:rPr>
                <a:t>创作方向</a:t>
              </a:r>
              <a:endParaRPr lang="zh-CN" altLang="en-US" sz="1200">
                <a:ea typeface="+mn-lt"/>
                <a:cs typeface="+mn-lt"/>
                <a:sym typeface="+mn-ea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4561" y="7188"/>
              <a:ext cx="4005" cy="55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sz="1200" b="1">
                  <a:ea typeface="+mn-lt"/>
                  <a:cs typeface="+mn-lt"/>
                  <a:sym typeface="+mn-ea"/>
                </a:rPr>
                <a:t>短期计划</a:t>
              </a:r>
              <a:r>
                <a:rPr lang="zh-CN" sz="1200">
                  <a:ea typeface="+mn-lt"/>
                  <a:cs typeface="+mn-lt"/>
                  <a:sym typeface="+mn-ea"/>
                </a:rPr>
                <a:t>：本周重点</a:t>
              </a:r>
              <a:r>
                <a:rPr lang="en-US" altLang="zh-CN" sz="1200">
                  <a:ea typeface="+mn-lt"/>
                  <a:cs typeface="+mn-lt"/>
                  <a:sym typeface="+mn-ea"/>
                </a:rPr>
                <a:t>/</a:t>
              </a:r>
              <a:r>
                <a:rPr lang="zh-CN" sz="1200">
                  <a:ea typeface="+mn-lt"/>
                  <a:cs typeface="+mn-lt"/>
                  <a:sym typeface="+mn-ea"/>
                </a:rPr>
                <a:t>下一步任务</a:t>
              </a:r>
              <a:endParaRPr lang="zh-CN" altLang="en-US" sz="1200">
                <a:ea typeface="+mn-lt"/>
                <a:cs typeface="+mn-lt"/>
                <a:sym typeface="+mn-ea"/>
              </a:endParaRP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8752" y="6771"/>
              <a:ext cx="5216" cy="67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indent="0" fontAlgn="auto">
                <a:lnSpc>
                  <a:spcPct val="130000"/>
                </a:lnSpc>
              </a:pPr>
              <a:r>
                <a:rPr lang="zh-CN" sz="1200" b="1">
                  <a:ea typeface="+mn-lt"/>
                  <a:cs typeface="+mn-lt"/>
                  <a:sym typeface="+mn-ea"/>
                </a:rPr>
                <a:t>偏好约束</a:t>
              </a:r>
              <a:r>
                <a:rPr lang="zh-CN" sz="1200">
                  <a:ea typeface="+mn-lt"/>
                  <a:cs typeface="+mn-lt"/>
                  <a:sym typeface="+mn-ea"/>
                </a:rPr>
                <a:t>：时间预算</a:t>
              </a:r>
              <a:r>
                <a:rPr lang="en-US" altLang="zh-CN" sz="1200">
                  <a:ea typeface="+mn-lt"/>
                  <a:cs typeface="+mn-lt"/>
                  <a:sym typeface="+mn-ea"/>
                </a:rPr>
                <a:t>/</a:t>
              </a:r>
              <a:r>
                <a:rPr lang="zh-CN" altLang="en-US" sz="1200">
                  <a:ea typeface="宋体" charset="0"/>
                  <a:cs typeface="+mn-lt"/>
                  <a:sym typeface="+mn-ea"/>
                </a:rPr>
                <a:t>材料类型</a:t>
              </a:r>
              <a:r>
                <a:rPr lang="en-US" altLang="zh-CN" sz="1200">
                  <a:ea typeface="宋体" charset="0"/>
                  <a:cs typeface="+mn-lt"/>
                  <a:sym typeface="+mn-ea"/>
                </a:rPr>
                <a:t>/</a:t>
              </a:r>
              <a:r>
                <a:rPr lang="zh-CN" altLang="en-US" sz="1200">
                  <a:ea typeface="宋体" charset="0"/>
                  <a:cs typeface="+mn-lt"/>
                  <a:sym typeface="+mn-ea"/>
                </a:rPr>
                <a:t>能力画像</a:t>
              </a:r>
              <a:endParaRPr lang="en-US" altLang="zh-CN" sz="1200">
                <a:ea typeface="宋体" charset="0"/>
                <a:cs typeface="+mn-lt"/>
                <a:sym typeface="+mn-ea"/>
              </a:endParaRP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8752" y="7163"/>
              <a:ext cx="5216" cy="50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indent="0" fontAlgn="auto">
                <a:lnSpc>
                  <a:spcPct val="130000"/>
                </a:lnSpc>
              </a:pPr>
              <a:r>
                <a:rPr lang="en-US" altLang="zh-CN" sz="1000" b="1">
                  <a:ea typeface="宋体" charset="0"/>
                  <a:cs typeface="+mn-lt"/>
                  <a:sym typeface="+mn-ea"/>
                </a:rPr>
                <a:t>UserContext/Plan/Skill Profile</a:t>
              </a:r>
              <a:endParaRPr lang="en-US" altLang="zh-CN" sz="1000" b="1">
                <a:ea typeface="宋体" charset="0"/>
                <a:cs typeface="+mn-lt"/>
                <a:sym typeface="+mn-ea"/>
              </a:endParaRPr>
            </a:p>
          </p:txBody>
        </p:sp>
      </p:grpSp>
      <p:sp>
        <p:nvSpPr>
          <p:cNvPr id="54" name="矩形 53"/>
          <p:cNvSpPr/>
          <p:nvPr/>
        </p:nvSpPr>
        <p:spPr>
          <a:xfrm>
            <a:off x="508000" y="2185670"/>
            <a:ext cx="5370830" cy="35941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rtlCol="0" anchor="ctr" anchorCtr="0">
            <a:noAutofit/>
          </a:bodyPr>
          <a:p>
            <a:pPr lvl="0" algn="ctr" fontAlgn="ctr">
              <a:buClrTx/>
              <a:buSzTx/>
              <a:buFontTx/>
            </a:pPr>
            <a:r>
              <a:rPr lang="en-US" altLang="zh-CN" sz="1200" b="1">
                <a:solidFill>
                  <a:schemeClr val="accent6">
                    <a:lumMod val="40000"/>
                    <a:lumOff val="60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sym typeface="+mn-ea"/>
              </a:rPr>
              <a:t>Scheduled Mode</a:t>
            </a:r>
            <a:r>
              <a:rPr lang="en-US" altLang="zh-CN" sz="1200" b="1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sym typeface="+mn-ea"/>
              </a:rPr>
              <a:t>：周期触发</a:t>
            </a:r>
            <a:endParaRPr lang="en-US" altLang="zh-CN" sz="1200" b="1">
              <a:solidFill>
                <a:schemeClr val="bg1"/>
              </a:solidFill>
              <a:latin typeface="Noto Serif CJK KR Black" panose="02020900000000000000" charset="-122"/>
              <a:ea typeface="Noto Serif CJK KR Black" panose="02020900000000000000" charset="-122"/>
              <a:sym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5970270" y="2185670"/>
            <a:ext cx="5798185" cy="35941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rtlCol="0" anchor="ctr" anchorCtr="0">
            <a:noAutofit/>
          </a:bodyPr>
          <a:p>
            <a:pPr lvl="0" algn="ctr" fontAlgn="ctr">
              <a:buClrTx/>
              <a:buSzTx/>
              <a:buFontTx/>
            </a:pPr>
            <a:r>
              <a:rPr lang="en-US" altLang="zh-CN" sz="1200" b="1">
                <a:solidFill>
                  <a:schemeClr val="accent6">
                    <a:lumMod val="40000"/>
                    <a:lumOff val="60000"/>
                  </a:schemeClr>
                </a:solidFill>
                <a:latin typeface="Noto Serif CJK KR Black" panose="02020900000000000000" charset="-122"/>
                <a:ea typeface="Noto Serif CJK KR Black" panose="02020900000000000000" charset="-122"/>
                <a:sym typeface="+mn-ea"/>
              </a:rPr>
              <a:t>Manual Mode</a:t>
            </a:r>
            <a:r>
              <a:rPr lang="en-US" altLang="zh-CN" sz="1200" b="1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sym typeface="+mn-ea"/>
              </a:rPr>
              <a:t>：用户手动设置</a:t>
            </a:r>
            <a:endParaRPr lang="en-US" altLang="zh-CN" sz="1200" b="1">
              <a:solidFill>
                <a:schemeClr val="bg1"/>
              </a:solidFill>
              <a:latin typeface="Noto Serif CJK KR Black" panose="02020900000000000000" charset="-122"/>
              <a:ea typeface="Noto Serif CJK KR Black" panose="02020900000000000000" charset="-122"/>
              <a:sym typeface="+mn-ea"/>
            </a:endParaRPr>
          </a:p>
        </p:txBody>
      </p:sp>
      <p:cxnSp>
        <p:nvCxnSpPr>
          <p:cNvPr id="59" name="曲线连接符 58"/>
          <p:cNvCxnSpPr/>
          <p:nvPr/>
        </p:nvCxnSpPr>
        <p:spPr>
          <a:xfrm>
            <a:off x="3134995" y="3338830"/>
            <a:ext cx="1804035" cy="635"/>
          </a:xfrm>
          <a:prstGeom prst="curvedConnector3">
            <a:avLst>
              <a:gd name="adj1" fmla="val 50018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 w="med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0" name="曲线连接符 59"/>
          <p:cNvCxnSpPr/>
          <p:nvPr/>
        </p:nvCxnSpPr>
        <p:spPr>
          <a:xfrm>
            <a:off x="7536180" y="3339465"/>
            <a:ext cx="1635125" cy="3175"/>
          </a:xfrm>
          <a:prstGeom prst="curvedConnector2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 w="med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1" name="曲线连接符 60"/>
          <p:cNvCxnSpPr>
            <a:endCxn id="35" idx="0"/>
          </p:cNvCxnSpPr>
          <p:nvPr/>
        </p:nvCxnSpPr>
        <p:spPr>
          <a:xfrm rot="5400000">
            <a:off x="9971405" y="4335780"/>
            <a:ext cx="1242695" cy="245745"/>
          </a:xfrm>
          <a:prstGeom prst="curvedConnector3">
            <a:avLst>
              <a:gd name="adj1" fmla="val 50026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 w="med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2" name="曲线连接符 61"/>
          <p:cNvCxnSpPr/>
          <p:nvPr/>
        </p:nvCxnSpPr>
        <p:spPr>
          <a:xfrm rot="10800000" flipV="1">
            <a:off x="7535545" y="5566410"/>
            <a:ext cx="1635125" cy="3175"/>
          </a:xfrm>
          <a:prstGeom prst="curvedConnector2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 w="med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3" name="曲线连接符 62"/>
          <p:cNvCxnSpPr/>
          <p:nvPr/>
        </p:nvCxnSpPr>
        <p:spPr>
          <a:xfrm rot="10800000" flipV="1">
            <a:off x="3171190" y="5566410"/>
            <a:ext cx="1767840" cy="3175"/>
          </a:xfrm>
          <a:prstGeom prst="curvedConnector2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 w="med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4" name="曲线连接符 63"/>
          <p:cNvCxnSpPr>
            <a:stCxn id="54" idx="2"/>
            <a:endCxn id="20" idx="0"/>
          </p:cNvCxnSpPr>
          <p:nvPr/>
        </p:nvCxnSpPr>
        <p:spPr>
          <a:xfrm rot="5400000">
            <a:off x="2360930" y="2020570"/>
            <a:ext cx="307975" cy="1356995"/>
          </a:xfrm>
          <a:prstGeom prst="curvedConnector3">
            <a:avLst>
              <a:gd name="adj1" fmla="val 50103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 w="med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5" name="曲线连接符 64"/>
          <p:cNvCxnSpPr>
            <a:stCxn id="57" idx="2"/>
            <a:endCxn id="20" idx="0"/>
          </p:cNvCxnSpPr>
          <p:nvPr/>
        </p:nvCxnSpPr>
        <p:spPr>
          <a:xfrm rot="5400000">
            <a:off x="5199063" y="-817562"/>
            <a:ext cx="307975" cy="7033260"/>
          </a:xfrm>
          <a:prstGeom prst="curved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 w="med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6" name="曲线连接符 65"/>
          <p:cNvCxnSpPr>
            <a:stCxn id="45" idx="1"/>
            <a:endCxn id="20" idx="1"/>
          </p:cNvCxnSpPr>
          <p:nvPr/>
        </p:nvCxnSpPr>
        <p:spPr>
          <a:xfrm rot="10800000">
            <a:off x="537845" y="3338830"/>
            <a:ext cx="36195" cy="2227580"/>
          </a:xfrm>
          <a:prstGeom prst="curvedConnector3">
            <a:avLst>
              <a:gd name="adj1" fmla="val 757895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stealth" w="med" len="lg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2" name="组合 1"/>
          <p:cNvGrpSpPr/>
          <p:nvPr/>
        </p:nvGrpSpPr>
        <p:grpSpPr>
          <a:xfrm>
            <a:off x="508000" y="1311910"/>
            <a:ext cx="11261725" cy="802005"/>
            <a:chOff x="4905" y="2061"/>
            <a:chExt cx="13456" cy="1263"/>
          </a:xfrm>
        </p:grpSpPr>
        <p:sp>
          <p:nvSpPr>
            <p:cNvPr id="86" name="Freeform 9"/>
            <p:cNvSpPr/>
            <p:nvPr/>
          </p:nvSpPr>
          <p:spPr>
            <a:xfrm>
              <a:off x="4905" y="2061"/>
              <a:ext cx="13456" cy="1263"/>
            </a:xfrm>
            <a:custGeom>
              <a:avLst/>
              <a:gdLst/>
              <a:ahLst/>
              <a:cxnLst/>
              <a:rect l="l" t="t" r="r" b="b"/>
              <a:pathLst>
                <a:path w="4052466" h="4546106">
                  <a:moveTo>
                    <a:pt x="3928006" y="4546106"/>
                  </a:moveTo>
                  <a:lnTo>
                    <a:pt x="124460" y="4546106"/>
                  </a:lnTo>
                  <a:cubicBezTo>
                    <a:pt x="55880" y="4546106"/>
                    <a:pt x="0" y="4490226"/>
                    <a:pt x="0" y="4421646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928006" y="0"/>
                  </a:lnTo>
                  <a:cubicBezTo>
                    <a:pt x="3996586" y="0"/>
                    <a:pt x="4052466" y="55880"/>
                    <a:pt x="4052466" y="124460"/>
                  </a:cubicBezTo>
                  <a:lnTo>
                    <a:pt x="4052466" y="4421646"/>
                  </a:lnTo>
                  <a:cubicBezTo>
                    <a:pt x="4052466" y="4490226"/>
                    <a:pt x="3996586" y="4546106"/>
                    <a:pt x="3928006" y="4546106"/>
                  </a:cubicBez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30000"/>
              </a:schemeClr>
            </a:solidFill>
            <a:ln>
              <a:solidFill>
                <a:schemeClr val="accent1"/>
              </a:solidFill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77" name="Shape 4"/>
            <p:cNvSpPr/>
            <p:nvPr/>
          </p:nvSpPr>
          <p:spPr>
            <a:xfrm>
              <a:off x="5184" y="2515"/>
              <a:ext cx="2594" cy="486"/>
            </a:xfrm>
            <a:prstGeom prst="roundRect">
              <a:avLst>
                <a:gd name="adj" fmla="val 14118"/>
              </a:avLst>
            </a:prstGeom>
            <a:solidFill>
              <a:schemeClr val="accent1">
                <a:lumMod val="40000"/>
                <a:lumOff val="60000"/>
                <a:alpha val="60000"/>
              </a:schemeClr>
            </a:solidFill>
          </p:spPr>
          <p:txBody>
            <a:bodyPr anchor="ctr" anchorCtr="0"/>
            <a:p>
              <a:pPr algn="ctr"/>
              <a:r>
                <a:rPr lang="en-US" altLang="zh-CN" sz="1200">
                  <a:latin typeface="Noto Serif CJK KR Black" panose="02020900000000000000" charset="-122"/>
                  <a:ea typeface="Noto Serif CJK KR Black" panose="02020900000000000000" charset="-122"/>
                </a:rPr>
                <a:t>Signal Radar</a:t>
              </a:r>
              <a:endParaRPr lang="en-US" altLang="zh-CN" sz="1200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78" name="Shape 4"/>
            <p:cNvSpPr/>
            <p:nvPr/>
          </p:nvSpPr>
          <p:spPr>
            <a:xfrm>
              <a:off x="8352" y="2515"/>
              <a:ext cx="2374" cy="486"/>
            </a:xfrm>
            <a:prstGeom prst="roundRect">
              <a:avLst>
                <a:gd name="adj" fmla="val 14118"/>
              </a:avLst>
            </a:prstGeom>
            <a:solidFill>
              <a:schemeClr val="accent1">
                <a:lumMod val="40000"/>
                <a:lumOff val="60000"/>
                <a:alpha val="60000"/>
              </a:schemeClr>
            </a:solidFill>
          </p:spPr>
          <p:txBody>
            <a:bodyPr anchor="ctr" anchorCtr="0"/>
            <a:p>
              <a:pPr algn="ctr"/>
              <a:r>
                <a:rPr lang="en-US" altLang="zh-CN" sz="1200">
                  <a:latin typeface="Noto Serif CJK KR Black" panose="02020900000000000000" charset="-122"/>
                  <a:ea typeface="Noto Serif CJK KR Black" panose="02020900000000000000" charset="-122"/>
                </a:rPr>
                <a:t>Deep Dive</a:t>
              </a:r>
              <a:endParaRPr lang="en-US" altLang="zh-CN" sz="1200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79" name="Shape 4"/>
            <p:cNvSpPr/>
            <p:nvPr/>
          </p:nvSpPr>
          <p:spPr>
            <a:xfrm>
              <a:off x="11283" y="2515"/>
              <a:ext cx="3869" cy="486"/>
            </a:xfrm>
            <a:prstGeom prst="roundRect">
              <a:avLst>
                <a:gd name="adj" fmla="val 14118"/>
              </a:avLst>
            </a:prstGeom>
            <a:solidFill>
              <a:schemeClr val="accent1">
                <a:lumMod val="40000"/>
                <a:lumOff val="60000"/>
                <a:alpha val="60000"/>
              </a:schemeClr>
            </a:solidFill>
          </p:spPr>
          <p:txBody>
            <a:bodyPr anchor="ctr" anchorCtr="0"/>
            <a:p>
              <a:pPr algn="ctr"/>
              <a:r>
                <a:rPr lang="en-US" altLang="zh-CN" sz="1200">
                  <a:latin typeface="Noto Serif CJK KR Black" panose="02020900000000000000" charset="-122"/>
                  <a:ea typeface="Noto Serif CJK KR Black" panose="02020900000000000000" charset="-122"/>
                </a:rPr>
                <a:t>Opportunity Alignment</a:t>
              </a:r>
              <a:endParaRPr lang="en-US" altLang="zh-CN" sz="1200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sp>
          <p:nvSpPr>
            <p:cNvPr id="80" name="Shape 4"/>
            <p:cNvSpPr/>
            <p:nvPr/>
          </p:nvSpPr>
          <p:spPr>
            <a:xfrm>
              <a:off x="15659" y="2515"/>
              <a:ext cx="2374" cy="486"/>
            </a:xfrm>
            <a:prstGeom prst="roundRect">
              <a:avLst>
                <a:gd name="adj" fmla="val 14118"/>
              </a:avLst>
            </a:prstGeom>
            <a:solidFill>
              <a:schemeClr val="accent1">
                <a:lumMod val="40000"/>
                <a:lumOff val="60000"/>
                <a:alpha val="60000"/>
              </a:schemeClr>
            </a:solidFill>
          </p:spPr>
          <p:txBody>
            <a:bodyPr anchor="ctr" anchorCtr="0"/>
            <a:p>
              <a:pPr algn="ctr"/>
              <a:r>
                <a:rPr lang="en-US" altLang="zh-CN" sz="1200">
                  <a:latin typeface="Noto Serif CJK KR Black" panose="02020900000000000000" charset="-122"/>
                  <a:ea typeface="Noto Serif CJK KR Black" panose="02020900000000000000" charset="-122"/>
                </a:rPr>
                <a:t>Weekly Studio</a:t>
              </a:r>
              <a:endParaRPr lang="en-US" altLang="zh-CN" sz="1200">
                <a:latin typeface="Noto Serif CJK KR Black" panose="02020900000000000000" charset="-122"/>
                <a:ea typeface="Noto Serif CJK KR Black" panose="02020900000000000000" charset="-122"/>
              </a:endParaRPr>
            </a:p>
          </p:txBody>
        </p:sp>
        <p:cxnSp>
          <p:nvCxnSpPr>
            <p:cNvPr id="81" name="曲线连接符 80"/>
            <p:cNvCxnSpPr>
              <a:stCxn id="77" idx="3"/>
              <a:endCxn id="78" idx="1"/>
            </p:cNvCxnSpPr>
            <p:nvPr/>
          </p:nvCxnSpPr>
          <p:spPr>
            <a:xfrm>
              <a:off x="7778" y="2758"/>
              <a:ext cx="574" cy="5"/>
            </a:xfrm>
            <a:prstGeom prst="curvedConnector2">
              <a:avLst/>
            </a:prstGeom>
            <a:ln>
              <a:solidFill>
                <a:srgbClr val="99B0E4"/>
              </a:solidFill>
              <a:prstDash val="dash"/>
              <a:tailEnd type="stealth" w="med" len="lg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2" name="曲线连接符 81"/>
            <p:cNvCxnSpPr>
              <a:stCxn id="78" idx="3"/>
              <a:endCxn id="79" idx="1"/>
            </p:cNvCxnSpPr>
            <p:nvPr/>
          </p:nvCxnSpPr>
          <p:spPr>
            <a:xfrm>
              <a:off x="10726" y="2758"/>
              <a:ext cx="557" cy="5"/>
            </a:xfrm>
            <a:prstGeom prst="curvedConnector2">
              <a:avLst/>
            </a:prstGeom>
            <a:ln>
              <a:solidFill>
                <a:srgbClr val="99B0E4"/>
              </a:solidFill>
              <a:prstDash val="dash"/>
              <a:tailEnd type="stealth" w="med" len="lg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3" name="曲线连接符 82"/>
            <p:cNvCxnSpPr>
              <a:stCxn id="79" idx="3"/>
              <a:endCxn id="80" idx="1"/>
            </p:cNvCxnSpPr>
            <p:nvPr/>
          </p:nvCxnSpPr>
          <p:spPr>
            <a:xfrm>
              <a:off x="15152" y="2758"/>
              <a:ext cx="507" cy="5"/>
            </a:xfrm>
            <a:prstGeom prst="curvedConnector2">
              <a:avLst/>
            </a:prstGeom>
            <a:ln>
              <a:solidFill>
                <a:srgbClr val="99B0E4"/>
              </a:solidFill>
              <a:prstDash val="dash"/>
              <a:tailEnd type="stealth" w="med" len="lg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4" name="曲线连接符 83"/>
            <p:cNvCxnSpPr>
              <a:stCxn id="80" idx="0"/>
              <a:endCxn id="77" idx="0"/>
            </p:cNvCxnSpPr>
            <p:nvPr/>
          </p:nvCxnSpPr>
          <p:spPr>
            <a:xfrm rot="16200000" flipH="1" flipV="1">
              <a:off x="11663" y="-2667"/>
              <a:ext cx="5" cy="10365"/>
            </a:xfrm>
            <a:prstGeom prst="curvedConnector3">
              <a:avLst>
                <a:gd name="adj1" fmla="val -4800000"/>
              </a:avLst>
            </a:prstGeom>
            <a:ln>
              <a:solidFill>
                <a:srgbClr val="99B0E4"/>
              </a:solidFill>
              <a:prstDash val="dash"/>
              <a:tailEnd type="stealth" w="med" len="lg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cxnSp>
        <p:nvCxnSpPr>
          <p:cNvPr id="5" name="曲线连接符 4"/>
          <p:cNvCxnSpPr>
            <a:endCxn id="24" idx="2"/>
          </p:cNvCxnSpPr>
          <p:nvPr/>
        </p:nvCxnSpPr>
        <p:spPr>
          <a:xfrm rot="16200000" flipV="1">
            <a:off x="6112510" y="3949700"/>
            <a:ext cx="251460" cy="3175"/>
          </a:xfrm>
          <a:prstGeom prst="curvedConnector3">
            <a:avLst>
              <a:gd name="adj1" fmla="val 50000"/>
            </a:avLst>
          </a:prstGeom>
          <a:ln w="50800">
            <a:solidFill>
              <a:srgbClr val="BF727E"/>
            </a:solidFill>
            <a:tailEnd type="stealt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8" name="Picture 3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214110"/>
            <a:ext cx="10821035" cy="18415"/>
          </a:xfrm>
          <a:prstGeom prst="rect">
            <a:avLst/>
          </a:prstGeom>
        </p:spPr>
      </p:pic>
      <p:pic>
        <p:nvPicPr>
          <p:cNvPr id="9" name="Picture 4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532245"/>
            <a:ext cx="10821035" cy="18415"/>
          </a:xfrm>
          <a:prstGeom prst="rect">
            <a:avLst/>
          </a:prstGeom>
        </p:spPr>
      </p:pic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834515" y="6369685"/>
            <a:ext cx="309245" cy="15875"/>
          </a:xfrm>
          <a:prstGeom prst="rect">
            <a:avLst/>
          </a:prstGeom>
        </p:spPr>
      </p:pic>
      <p:pic>
        <p:nvPicPr>
          <p:cNvPr id="11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5337810" y="6369685"/>
            <a:ext cx="309245" cy="15875"/>
          </a:xfrm>
          <a:prstGeom prst="rect">
            <a:avLst/>
          </a:prstGeom>
        </p:spPr>
      </p:pic>
      <p:pic>
        <p:nvPicPr>
          <p:cNvPr id="12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0401935" y="6369685"/>
            <a:ext cx="309245" cy="15875"/>
          </a:xfrm>
          <a:prstGeom prst="rect">
            <a:avLst/>
          </a:prstGeom>
        </p:spPr>
      </p:pic>
      <p:sp>
        <p:nvSpPr>
          <p:cNvPr id="13" name="TextBox 12"/>
          <p:cNvSpPr txBox="1"/>
          <p:nvPr userDrawn="1"/>
        </p:nvSpPr>
        <p:spPr>
          <a:xfrm>
            <a:off x="11113770" y="629602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04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5519420" y="625983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15" name="文本框 14"/>
          <p:cNvSpPr txBox="1"/>
          <p:nvPr userDrawn="1"/>
        </p:nvSpPr>
        <p:spPr>
          <a:xfrm>
            <a:off x="1997075" y="625602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508000" y="625983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05 Agent Ability</a:t>
            </a:r>
            <a:endParaRPr lang="en-US" sz="1000" b="1">
              <a:sym typeface="+mn-ea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Text 1"/>
          <p:cNvSpPr/>
          <p:nvPr/>
        </p:nvSpPr>
        <p:spPr>
          <a:xfrm>
            <a:off x="508000" y="211455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altLang="zh-CN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Agent</a:t>
            </a: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能力与任务闭环映射</a:t>
            </a:r>
            <a:endParaRPr lang="zh-CN" alt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34695"/>
            <a:ext cx="9880600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它不是聊天入口，而是 session runtime 里的决策、组织和记忆更新层，</a:t>
            </a: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覆盖完整的Agent Closed-Loop多个环节</a:t>
            </a:r>
            <a:endParaRPr lang="zh-CN" alt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grpSp>
        <p:nvGrpSpPr>
          <p:cNvPr id="19" name="组合 18"/>
          <p:cNvGrpSpPr/>
          <p:nvPr/>
        </p:nvGrpSpPr>
        <p:grpSpPr>
          <a:xfrm>
            <a:off x="645795" y="1557020"/>
            <a:ext cx="3300095" cy="4300220"/>
            <a:chOff x="1643" y="2551"/>
            <a:chExt cx="5197" cy="6772"/>
          </a:xfrm>
        </p:grpSpPr>
        <p:sp>
          <p:nvSpPr>
            <p:cNvPr id="6" name="Rounded Rectangle 4"/>
            <p:cNvSpPr/>
            <p:nvPr/>
          </p:nvSpPr>
          <p:spPr>
            <a:xfrm>
              <a:off x="1643" y="2551"/>
              <a:ext cx="5197" cy="6772"/>
            </a:xfrm>
            <a:prstGeom prst="roundRect">
              <a:avLst>
                <a:gd name="adj" fmla="val 8000"/>
              </a:avLst>
            </a:prstGeom>
            <a:solidFill>
              <a:srgbClr val="FFFFFF">
                <a:alpha val="70000"/>
              </a:srgbClr>
            </a:solidFill>
            <a:ln w="12700">
              <a:solidFill>
                <a:srgbClr val="D9ADC0"/>
              </a:solidFill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</a:p>
          </p:txBody>
        </p:sp>
        <p:sp>
          <p:nvSpPr>
            <p:cNvPr id="7" name="Text 6"/>
            <p:cNvSpPr/>
            <p:nvPr/>
          </p:nvSpPr>
          <p:spPr>
            <a:xfrm>
              <a:off x="1779" y="2599"/>
              <a:ext cx="3658" cy="60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marL="0" indent="0">
                <a:buNone/>
              </a:pPr>
              <a:r>
                <a:rPr lang="zh-CN" altLang="en-US" sz="1450">
                  <a:latin typeface="Noto Serif CJK KR Black" panose="02020900000000000000" charset="-122"/>
                  <a:ea typeface="Noto Serif CJK KR Black" panose="02020900000000000000" charset="-122"/>
                  <a:sym typeface="+mn-ea"/>
                </a:rPr>
                <a:t>①</a:t>
              </a:r>
              <a:r>
                <a:rPr lang="en-US" sz="145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charset="0"/>
                  <a:ea typeface="Calibri" pitchFamily="34" charset="-122"/>
                  <a:cs typeface="Calibri" pitchFamily="34" charset="-120"/>
                </a:rPr>
                <a:t>Signal Radar</a:t>
              </a:r>
              <a:endParaRPr lang="en-US" sz="145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endParaRPr>
            </a:p>
          </p:txBody>
        </p:sp>
        <p:sp>
          <p:nvSpPr>
            <p:cNvPr id="18" name="TextBox 7"/>
            <p:cNvSpPr txBox="1"/>
            <p:nvPr/>
          </p:nvSpPr>
          <p:spPr>
            <a:xfrm>
              <a:off x="1888" y="3204"/>
              <a:ext cx="4693" cy="72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p>
              <a:pPr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0">
                  <a:solidFill>
                    <a:srgbClr val="566070"/>
                  </a:solidFill>
                  <a:latin typeface="微软雅黑"/>
                </a:rPr>
                <a:t>读取日期、用户计划、历史 check-in 和未完成 session，决定今天进入哪类任务。</a:t>
              </a:r>
              <a:endParaRPr sz="1150" b="0">
                <a:solidFill>
                  <a:srgbClr val="566070"/>
                </a:solidFill>
                <a:latin typeface="微软雅黑"/>
              </a:endParaRPr>
            </a:p>
          </p:txBody>
        </p:sp>
      </p:grpSp>
      <p:grpSp>
        <p:nvGrpSpPr>
          <p:cNvPr id="20" name="组合 19"/>
          <p:cNvGrpSpPr/>
          <p:nvPr/>
        </p:nvGrpSpPr>
        <p:grpSpPr>
          <a:xfrm>
            <a:off x="4352290" y="1557020"/>
            <a:ext cx="3300095" cy="4300220"/>
            <a:chOff x="1643" y="2551"/>
            <a:chExt cx="5197" cy="6772"/>
          </a:xfrm>
        </p:grpSpPr>
        <p:sp>
          <p:nvSpPr>
            <p:cNvPr id="21" name="Rounded Rectangle 4"/>
            <p:cNvSpPr/>
            <p:nvPr/>
          </p:nvSpPr>
          <p:spPr>
            <a:xfrm>
              <a:off x="1643" y="2551"/>
              <a:ext cx="5197" cy="6772"/>
            </a:xfrm>
            <a:prstGeom prst="roundRect">
              <a:avLst>
                <a:gd name="adj" fmla="val 8000"/>
              </a:avLst>
            </a:prstGeom>
            <a:solidFill>
              <a:srgbClr val="FFFFFF">
                <a:alpha val="70000"/>
              </a:srgbClr>
            </a:solidFill>
            <a:ln w="12700">
              <a:solidFill>
                <a:srgbClr val="D9ADC0"/>
              </a:solidFill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</a:p>
          </p:txBody>
        </p:sp>
        <p:sp>
          <p:nvSpPr>
            <p:cNvPr id="22" name="Text 6"/>
            <p:cNvSpPr/>
            <p:nvPr/>
          </p:nvSpPr>
          <p:spPr>
            <a:xfrm>
              <a:off x="1779" y="2599"/>
              <a:ext cx="3658" cy="60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algn="l">
                <a:buClrTx/>
                <a:buSzTx/>
                <a:buFontTx/>
              </a:pPr>
              <a:r>
                <a:rPr lang="zh-CN" altLang="en-US" sz="1450" b="1">
                  <a:latin typeface="东文宋体" charset="0"/>
                  <a:ea typeface="东文宋体" charset="0"/>
                  <a:sym typeface="+mn-ea"/>
                </a:rPr>
                <a:t>②</a:t>
              </a:r>
              <a:r>
                <a:rPr lang="en-US" sz="145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charset="0"/>
                  <a:ea typeface="Calibri" pitchFamily="34" charset="-122"/>
                  <a:cs typeface="Calibri" pitchFamily="34" charset="-120"/>
                  <a:sym typeface="+mn-ea"/>
                </a:rPr>
                <a:t>Material Selection</a:t>
              </a:r>
              <a:endParaRPr lang="en-US" sz="145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endParaRPr>
            </a:p>
          </p:txBody>
        </p:sp>
        <p:sp>
          <p:nvSpPr>
            <p:cNvPr id="23" name="TextBox 7"/>
            <p:cNvSpPr txBox="1"/>
            <p:nvPr/>
          </p:nvSpPr>
          <p:spPr>
            <a:xfrm>
              <a:off x="1888" y="3204"/>
              <a:ext cx="4693" cy="72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p>
              <a:pPr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>
                  <a:solidFill>
                    <a:srgbClr val="566070"/>
                  </a:solidFill>
                  <a:latin typeface="微软雅黑"/>
                  <a:sym typeface="+mn-ea"/>
                </a:rPr>
                <a:t>从用户登记材料、公开源或 fallback demo source 中选择适合当前目标的材料。</a:t>
              </a:r>
              <a:endParaRPr sz="1150" b="0">
                <a:solidFill>
                  <a:srgbClr val="566070"/>
                </a:solidFill>
                <a:latin typeface="微软雅黑"/>
              </a:endParaRPr>
            </a:p>
          </p:txBody>
        </p:sp>
      </p:grpSp>
      <p:grpSp>
        <p:nvGrpSpPr>
          <p:cNvPr id="24" name="组合 23"/>
          <p:cNvGrpSpPr/>
          <p:nvPr/>
        </p:nvGrpSpPr>
        <p:grpSpPr>
          <a:xfrm>
            <a:off x="8049895" y="1557020"/>
            <a:ext cx="3300095" cy="4300220"/>
            <a:chOff x="1643" y="2551"/>
            <a:chExt cx="5197" cy="6772"/>
          </a:xfrm>
        </p:grpSpPr>
        <p:sp>
          <p:nvSpPr>
            <p:cNvPr id="25" name="Rounded Rectangle 4"/>
            <p:cNvSpPr/>
            <p:nvPr/>
          </p:nvSpPr>
          <p:spPr>
            <a:xfrm>
              <a:off x="1643" y="2551"/>
              <a:ext cx="5197" cy="6772"/>
            </a:xfrm>
            <a:prstGeom prst="roundRect">
              <a:avLst>
                <a:gd name="adj" fmla="val 8000"/>
              </a:avLst>
            </a:prstGeom>
            <a:solidFill>
              <a:srgbClr val="FFFFFF">
                <a:alpha val="70000"/>
              </a:srgbClr>
            </a:solidFill>
            <a:ln w="12700">
              <a:solidFill>
                <a:srgbClr val="D9ADC0"/>
              </a:solidFill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</a:p>
          </p:txBody>
        </p:sp>
        <p:sp>
          <p:nvSpPr>
            <p:cNvPr id="26" name="Text 6"/>
            <p:cNvSpPr/>
            <p:nvPr/>
          </p:nvSpPr>
          <p:spPr>
            <a:xfrm>
              <a:off x="1779" y="2599"/>
              <a:ext cx="3658" cy="60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algn="l"/>
              <a:r>
                <a:rPr lang="zh-CN" altLang="en-US" sz="1450" b="1">
                  <a:latin typeface="东文宋体" charset="0"/>
                  <a:ea typeface="东文宋体" charset="0"/>
                  <a:sym typeface="+mn-ea"/>
                </a:rPr>
                <a:t>③</a:t>
              </a:r>
              <a:r>
                <a:rPr lang="en-US" sz="145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charset="0"/>
                  <a:ea typeface="Calibri" pitchFamily="34" charset="-122"/>
                  <a:cs typeface="Calibri" pitchFamily="34" charset="-120"/>
                  <a:sym typeface="+mn-ea"/>
                </a:rPr>
                <a:t>Task Framing</a:t>
              </a:r>
              <a:endParaRPr lang="en-US" sz="145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endParaRPr>
            </a:p>
          </p:txBody>
        </p:sp>
        <p:sp>
          <p:nvSpPr>
            <p:cNvPr id="27" name="TextBox 7"/>
            <p:cNvSpPr txBox="1"/>
            <p:nvPr/>
          </p:nvSpPr>
          <p:spPr>
            <a:xfrm>
              <a:off x="1888" y="3204"/>
              <a:ext cx="4693" cy="72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p>
              <a:pPr algn="l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>
                  <a:solidFill>
                    <a:srgbClr val="566070"/>
                  </a:solidFill>
                  <a:latin typeface="微软雅黑"/>
                  <a:sym typeface="+mn-ea"/>
                </a:rPr>
                <a:t>把材料转成</a:t>
              </a:r>
              <a:r>
                <a:rPr lang="zh-CN" sz="1150">
                  <a:solidFill>
                    <a:srgbClr val="566070"/>
                  </a:solidFill>
                  <a:latin typeface="微软雅黑"/>
                  <a:sym typeface="+mn-ea"/>
                </a:rPr>
                <a:t>定时</a:t>
              </a:r>
              <a:r>
                <a:rPr sz="1150">
                  <a:solidFill>
                    <a:srgbClr val="566070"/>
                  </a:solidFill>
                  <a:latin typeface="微软雅黑"/>
                  <a:sym typeface="+mn-ea"/>
                </a:rPr>
                <a:t>任务，给出完成标准、阅读重点和最小产出。</a:t>
              </a:r>
              <a:endParaRPr sz="1150" b="0">
                <a:solidFill>
                  <a:srgbClr val="566070"/>
                </a:solidFill>
                <a:latin typeface="微软雅黑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 16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Text 1"/>
          <p:cNvSpPr/>
          <p:nvPr/>
        </p:nvSpPr>
        <p:spPr>
          <a:xfrm>
            <a:off x="508000" y="211455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altLang="zh-CN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Agent</a:t>
            </a: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能力与任务闭环映射</a:t>
            </a:r>
            <a:endParaRPr lang="zh-CN" alt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34695"/>
            <a:ext cx="9880600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  <a:sym typeface="+mn-ea"/>
              </a:rPr>
              <a:t>它不是聊天入口，而是 session runtime 里的决策、组织和记忆更新层，</a:t>
            </a: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覆盖完整的Agent Closed-Loop多个环节</a:t>
            </a:r>
            <a:endParaRPr lang="zh-CN" alt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grpSp>
        <p:nvGrpSpPr>
          <p:cNvPr id="28" name="组合 27"/>
          <p:cNvGrpSpPr/>
          <p:nvPr/>
        </p:nvGrpSpPr>
        <p:grpSpPr>
          <a:xfrm>
            <a:off x="8051165" y="1553210"/>
            <a:ext cx="3300095" cy="4308475"/>
            <a:chOff x="1643" y="2551"/>
            <a:chExt cx="5197" cy="6785"/>
          </a:xfrm>
        </p:grpSpPr>
        <p:sp>
          <p:nvSpPr>
            <p:cNvPr id="29" name="Rounded Rectangle 4"/>
            <p:cNvSpPr/>
            <p:nvPr/>
          </p:nvSpPr>
          <p:spPr>
            <a:xfrm>
              <a:off x="1643" y="2551"/>
              <a:ext cx="5197" cy="6785"/>
            </a:xfrm>
            <a:prstGeom prst="roundRect">
              <a:avLst>
                <a:gd name="adj" fmla="val 8000"/>
              </a:avLst>
            </a:prstGeom>
            <a:solidFill>
              <a:srgbClr val="FFFFFF">
                <a:alpha val="70000"/>
              </a:srgbClr>
            </a:solidFill>
            <a:ln w="12700">
              <a:solidFill>
                <a:srgbClr val="D9ADC0"/>
              </a:solidFill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</a:p>
          </p:txBody>
        </p:sp>
        <p:sp>
          <p:nvSpPr>
            <p:cNvPr id="30" name="Text 6"/>
            <p:cNvSpPr/>
            <p:nvPr/>
          </p:nvSpPr>
          <p:spPr>
            <a:xfrm>
              <a:off x="1779" y="2599"/>
              <a:ext cx="3658" cy="60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algn="l"/>
              <a:r>
                <a:rPr lang="zh-CN" altLang="en-US" sz="1450" b="1">
                  <a:latin typeface="东文宋体" charset="0"/>
                  <a:ea typeface="东文宋体" charset="0"/>
                  <a:sym typeface="+mn-ea"/>
                </a:rPr>
                <a:t>⑥</a:t>
              </a:r>
              <a:r>
                <a:rPr lang="en-US" sz="145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charset="0"/>
                  <a:ea typeface="Calibri" pitchFamily="34" charset="-122"/>
                  <a:cs typeface="Calibri" pitchFamily="34" charset="-120"/>
                  <a:sym typeface="+mn-ea"/>
                </a:rPr>
                <a:t>Boundary Control</a:t>
              </a:r>
              <a:endParaRPr lang="en-US" sz="145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endParaRPr>
            </a:p>
          </p:txBody>
        </p:sp>
        <p:sp>
          <p:nvSpPr>
            <p:cNvPr id="31" name="TextBox 7"/>
            <p:cNvSpPr txBox="1"/>
            <p:nvPr/>
          </p:nvSpPr>
          <p:spPr>
            <a:xfrm>
              <a:off x="1888" y="3204"/>
              <a:ext cx="4693" cy="72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p>
              <a:pPr indent="0" algn="l" fontAlgn="auto">
                <a:lnSpc>
                  <a:spcPct val="130000"/>
                </a:lnSpc>
              </a:pPr>
              <a:r>
                <a:rPr sz="1150">
                  <a:solidFill>
                    <a:srgbClr val="566070"/>
                  </a:solidFill>
                  <a:latin typeface="微软雅黑"/>
                  <a:sym typeface="+mn-ea"/>
                </a:rPr>
                <a:t>不自动提交、不替用户做职业判断；外部动作和长期记录均由用户确认。</a:t>
              </a:r>
              <a:endParaRPr sz="1150" b="0">
                <a:solidFill>
                  <a:srgbClr val="566070"/>
                </a:solidFill>
                <a:latin typeface="微软雅黑"/>
              </a:endParaRP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4353560" y="1553210"/>
            <a:ext cx="3300095" cy="4303395"/>
            <a:chOff x="1643" y="2551"/>
            <a:chExt cx="5197" cy="6777"/>
          </a:xfrm>
        </p:grpSpPr>
        <p:sp>
          <p:nvSpPr>
            <p:cNvPr id="33" name="Rounded Rectangle 4"/>
            <p:cNvSpPr/>
            <p:nvPr/>
          </p:nvSpPr>
          <p:spPr>
            <a:xfrm>
              <a:off x="1643" y="2551"/>
              <a:ext cx="5197" cy="6777"/>
            </a:xfrm>
            <a:prstGeom prst="roundRect">
              <a:avLst>
                <a:gd name="adj" fmla="val 8000"/>
              </a:avLst>
            </a:prstGeom>
            <a:solidFill>
              <a:srgbClr val="FFFFFF">
                <a:alpha val="70000"/>
              </a:srgbClr>
            </a:solidFill>
            <a:ln w="12700">
              <a:solidFill>
                <a:srgbClr val="D9ADC0"/>
              </a:solidFill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</a:p>
          </p:txBody>
        </p:sp>
        <p:sp>
          <p:nvSpPr>
            <p:cNvPr id="34" name="Text 6"/>
            <p:cNvSpPr/>
            <p:nvPr/>
          </p:nvSpPr>
          <p:spPr>
            <a:xfrm>
              <a:off x="1779" y="2599"/>
              <a:ext cx="3658" cy="60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algn="l"/>
              <a:r>
                <a:rPr lang="zh-CN" altLang="en-US" sz="1450" b="1">
                  <a:latin typeface="东文宋体" charset="0"/>
                  <a:ea typeface="东文宋体" charset="0"/>
                  <a:sym typeface="+mn-ea"/>
                </a:rPr>
                <a:t>⑤</a:t>
              </a:r>
              <a:r>
                <a:rPr lang="en-US" sz="145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charset="0"/>
                  <a:ea typeface="Calibri" pitchFamily="34" charset="-122"/>
                  <a:cs typeface="Calibri" pitchFamily="34" charset="-120"/>
                  <a:sym typeface="+mn-ea"/>
                </a:rPr>
                <a:t>Memory Update</a:t>
              </a:r>
              <a:endParaRPr lang="en-US" sz="145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endParaRPr>
            </a:p>
          </p:txBody>
        </p:sp>
        <p:sp>
          <p:nvSpPr>
            <p:cNvPr id="35" name="TextBox 7"/>
            <p:cNvSpPr txBox="1"/>
            <p:nvPr/>
          </p:nvSpPr>
          <p:spPr>
            <a:xfrm>
              <a:off x="1888" y="3204"/>
              <a:ext cx="4693" cy="72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p>
              <a:pPr indent="0" algn="l" fontAlgn="auto">
                <a:lnSpc>
                  <a:spcPct val="130000"/>
                </a:lnSpc>
              </a:pPr>
              <a:r>
                <a:rPr sz="1150">
                  <a:solidFill>
                    <a:srgbClr val="566070"/>
                  </a:solidFill>
                  <a:latin typeface="微软雅黑"/>
                  <a:sym typeface="+mn-ea"/>
                </a:rPr>
                <a:t>用户确认后写入 History，让下一轮推荐受历史行为和真实反馈影响。</a:t>
              </a:r>
              <a:endParaRPr sz="1150" b="0">
                <a:solidFill>
                  <a:srgbClr val="566070"/>
                </a:solidFill>
                <a:latin typeface="微软雅黑"/>
              </a:endParaRPr>
            </a:p>
          </p:txBody>
        </p:sp>
      </p:grpSp>
      <p:grpSp>
        <p:nvGrpSpPr>
          <p:cNvPr id="36" name="组合 35"/>
          <p:cNvGrpSpPr/>
          <p:nvPr/>
        </p:nvGrpSpPr>
        <p:grpSpPr>
          <a:xfrm>
            <a:off x="644525" y="1553210"/>
            <a:ext cx="3300095" cy="4307840"/>
            <a:chOff x="1643" y="2551"/>
            <a:chExt cx="5197" cy="6784"/>
          </a:xfrm>
        </p:grpSpPr>
        <p:sp>
          <p:nvSpPr>
            <p:cNvPr id="37" name="Rounded Rectangle 4"/>
            <p:cNvSpPr/>
            <p:nvPr/>
          </p:nvSpPr>
          <p:spPr>
            <a:xfrm>
              <a:off x="1643" y="2551"/>
              <a:ext cx="5197" cy="6784"/>
            </a:xfrm>
            <a:prstGeom prst="roundRect">
              <a:avLst>
                <a:gd name="adj" fmla="val 8000"/>
              </a:avLst>
            </a:prstGeom>
            <a:solidFill>
              <a:srgbClr val="FFFFFF">
                <a:alpha val="70000"/>
              </a:srgbClr>
            </a:solidFill>
            <a:ln w="12700">
              <a:solidFill>
                <a:srgbClr val="D9ADC0"/>
              </a:solidFill>
            </a:ln>
            <a:effectLst>
              <a:outerShdw blurRad="50800" dist="38100" dir="2700000" algn="tl" rotWithShape="0">
                <a:schemeClr val="bg1">
                  <a:alpha val="40000"/>
                </a:scheme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</a:p>
          </p:txBody>
        </p:sp>
        <p:sp>
          <p:nvSpPr>
            <p:cNvPr id="38" name="Text 6"/>
            <p:cNvSpPr/>
            <p:nvPr/>
          </p:nvSpPr>
          <p:spPr>
            <a:xfrm>
              <a:off x="1779" y="2599"/>
              <a:ext cx="3658" cy="605"/>
            </a:xfrm>
            <a:prstGeom prst="rect">
              <a:avLst/>
            </a:prstGeom>
            <a:noFill/>
          </p:spPr>
          <p:txBody>
            <a:bodyPr wrap="square" rtlCol="0" anchor="ctr"/>
            <a:p>
              <a:pPr algn="l"/>
              <a:r>
                <a:rPr lang="zh-CN" altLang="en-US" sz="1450" b="1">
                  <a:latin typeface="东文宋体" charset="0"/>
                  <a:ea typeface="东文宋体" charset="0"/>
                  <a:sym typeface="+mn-ea"/>
                </a:rPr>
                <a:t>④</a:t>
              </a:r>
              <a:r>
                <a:rPr lang="en-US" sz="145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charset="0"/>
                  <a:ea typeface="Calibri" pitchFamily="34" charset="-122"/>
                  <a:cs typeface="Calibri" pitchFamily="34" charset="-120"/>
                  <a:sym typeface="+mn-ea"/>
                </a:rPr>
                <a:t>Guidance Drafting</a:t>
              </a:r>
              <a:endParaRPr lang="en-US" sz="145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charset="0"/>
                <a:ea typeface="Calibri" pitchFamily="34" charset="-122"/>
                <a:cs typeface="Calibri" pitchFamily="34" charset="-120"/>
              </a:endParaRPr>
            </a:p>
          </p:txBody>
        </p:sp>
        <p:sp>
          <p:nvSpPr>
            <p:cNvPr id="39" name="TextBox 7"/>
            <p:cNvSpPr txBox="1"/>
            <p:nvPr/>
          </p:nvSpPr>
          <p:spPr>
            <a:xfrm>
              <a:off x="1888" y="3204"/>
              <a:ext cx="4693" cy="72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p>
              <a:pPr indent="0" algn="l" fontAlgn="auto">
                <a:lnSpc>
                  <a:spcPct val="130000"/>
                </a:lnSpc>
              </a:pPr>
              <a:r>
                <a:rPr sz="1150">
                  <a:solidFill>
                    <a:srgbClr val="566070"/>
                  </a:solidFill>
                  <a:latin typeface="微软雅黑"/>
                  <a:sym typeface="+mn-ea"/>
                </a:rPr>
                <a:t>生成 check-in 草稿、下一步建议和 continue / track_later / drop 判断参考。</a:t>
              </a:r>
              <a:endParaRPr sz="1150" b="0">
                <a:solidFill>
                  <a:srgbClr val="566070"/>
                </a:solidFill>
                <a:latin typeface="微软雅黑"/>
              </a:endParaRPr>
            </a:p>
          </p:txBody>
        </p:sp>
      </p:grpSp>
      <p:pic>
        <p:nvPicPr>
          <p:cNvPr id="8" name="Picture 3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214110"/>
            <a:ext cx="10821035" cy="18415"/>
          </a:xfrm>
          <a:prstGeom prst="rect">
            <a:avLst/>
          </a:prstGeom>
        </p:spPr>
      </p:pic>
      <p:pic>
        <p:nvPicPr>
          <p:cNvPr id="9" name="Picture 4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532245"/>
            <a:ext cx="10821035" cy="18415"/>
          </a:xfrm>
          <a:prstGeom prst="rect">
            <a:avLst/>
          </a:prstGeom>
        </p:spPr>
      </p:pic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834515" y="6369685"/>
            <a:ext cx="309245" cy="15875"/>
          </a:xfrm>
          <a:prstGeom prst="rect">
            <a:avLst/>
          </a:prstGeom>
        </p:spPr>
      </p:pic>
      <p:pic>
        <p:nvPicPr>
          <p:cNvPr id="11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5337810" y="6369685"/>
            <a:ext cx="309245" cy="15875"/>
          </a:xfrm>
          <a:prstGeom prst="rect">
            <a:avLst/>
          </a:prstGeom>
        </p:spPr>
      </p:pic>
      <p:pic>
        <p:nvPicPr>
          <p:cNvPr id="12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0401935" y="6369685"/>
            <a:ext cx="309245" cy="15875"/>
          </a:xfrm>
          <a:prstGeom prst="rect">
            <a:avLst/>
          </a:prstGeom>
        </p:spPr>
      </p:pic>
      <p:sp>
        <p:nvSpPr>
          <p:cNvPr id="13" name="TextBox 12"/>
          <p:cNvSpPr txBox="1"/>
          <p:nvPr userDrawn="1"/>
        </p:nvSpPr>
        <p:spPr>
          <a:xfrm>
            <a:off x="11113770" y="629602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04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5519420" y="625983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15" name="文本框 14"/>
          <p:cNvSpPr txBox="1"/>
          <p:nvPr userDrawn="1"/>
        </p:nvSpPr>
        <p:spPr>
          <a:xfrm>
            <a:off x="1997075" y="625602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508000" y="625983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05 Agent Ability</a:t>
            </a:r>
            <a:endParaRPr lang="en-US" sz="1000" b="1"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 16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Text 1"/>
          <p:cNvSpPr/>
          <p:nvPr/>
        </p:nvSpPr>
        <p:spPr>
          <a:xfrm>
            <a:off x="508000" y="211455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en-US" altLang="zh-CN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Agent</a:t>
            </a: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能力与任务闭环映射</a:t>
            </a:r>
            <a:endParaRPr lang="zh-CN" alt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34695"/>
            <a:ext cx="8601075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覆盖完整的Agent Closed-Loop多个环节</a:t>
            </a:r>
            <a:endParaRPr lang="zh-CN" alt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 16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Text 1"/>
          <p:cNvSpPr/>
          <p:nvPr/>
        </p:nvSpPr>
        <p:spPr>
          <a:xfrm>
            <a:off x="508000" y="211455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移动端形态已经跑通</a:t>
            </a:r>
            <a:endParaRPr lang="zh-CN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34695"/>
            <a:ext cx="8601075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400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原生</a:t>
            </a:r>
            <a:r>
              <a:rPr lang="en-US" altLang="zh-CN" sz="1400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SwiftUI iOS</a:t>
            </a:r>
            <a:r>
              <a:rPr lang="zh-CN" altLang="en-US" sz="1400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应用是当前主端，共享同一套后端</a:t>
            </a:r>
            <a:r>
              <a:rPr lang="en-US" altLang="zh-CN" sz="1400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JSON</a:t>
            </a:r>
            <a:r>
              <a:rPr lang="zh-CN" altLang="en-US" sz="1400" dirty="0">
                <a:solidFill>
                  <a:schemeClr val="bg1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协议</a:t>
            </a:r>
            <a:endParaRPr lang="zh-CN" altLang="en-US" sz="1400" dirty="0">
              <a:solidFill>
                <a:schemeClr val="bg1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8" name="Picture 3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214110"/>
            <a:ext cx="10821035" cy="18415"/>
          </a:xfrm>
          <a:prstGeom prst="rect">
            <a:avLst/>
          </a:prstGeom>
        </p:spPr>
      </p:pic>
      <p:pic>
        <p:nvPicPr>
          <p:cNvPr id="9" name="Picture 4"/>
          <p:cNvPicPr>
            <a:picLocks noChangeAspect="1"/>
          </p:cNvPicPr>
          <p:nvPr userDrawn="1"/>
        </p:nvPicPr>
        <p:blipFill>
          <a:blip r:embed="rId1"/>
          <a:stretch>
            <a:fillRect/>
          </a:stretch>
        </p:blipFill>
        <p:spPr>
          <a:xfrm>
            <a:off x="508000" y="6532245"/>
            <a:ext cx="10821035" cy="18415"/>
          </a:xfrm>
          <a:prstGeom prst="rect">
            <a:avLst/>
          </a:prstGeom>
        </p:spPr>
      </p:pic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834515" y="6369685"/>
            <a:ext cx="309245" cy="15875"/>
          </a:xfrm>
          <a:prstGeom prst="rect">
            <a:avLst/>
          </a:prstGeom>
        </p:spPr>
      </p:pic>
      <p:pic>
        <p:nvPicPr>
          <p:cNvPr id="11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5337810" y="6369685"/>
            <a:ext cx="309245" cy="15875"/>
          </a:xfrm>
          <a:prstGeom prst="rect">
            <a:avLst/>
          </a:prstGeom>
        </p:spPr>
      </p:pic>
      <p:pic>
        <p:nvPicPr>
          <p:cNvPr id="12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0401935" y="6369685"/>
            <a:ext cx="309245" cy="15875"/>
          </a:xfrm>
          <a:prstGeom prst="rect">
            <a:avLst/>
          </a:prstGeom>
        </p:spPr>
      </p:pic>
      <p:sp>
        <p:nvSpPr>
          <p:cNvPr id="13" name="TextBox 12"/>
          <p:cNvSpPr txBox="1"/>
          <p:nvPr userDrawn="1"/>
        </p:nvSpPr>
        <p:spPr>
          <a:xfrm>
            <a:off x="11113770" y="6296025"/>
            <a:ext cx="215265" cy="208915"/>
          </a:xfrm>
          <a:prstGeom prst="rect">
            <a:avLst/>
          </a:prstGeom>
        </p:spPr>
        <p:txBody>
          <a:bodyPr lIns="0" tIns="0" rIns="0" bIns="0" rtlCol="0" anchor="ctr" anchorCtr="0"/>
          <a:p>
            <a:pPr lvl="0" indent="0" algn="ctr" fontAlgn="base">
              <a:lnSpc>
                <a:spcPct val="11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nek Tamil Expanded SemiBold"/>
              </a:rPr>
              <a:t>04</a:t>
            </a:r>
            <a:endParaRPr lang="en-US" sz="1000" b="0" i="0" u="none" strike="noStrike">
              <a:solidFill>
                <a:srgbClr val="000000"/>
              </a:solidFill>
              <a:latin typeface="Anek Tamil Expanded SemiBold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5519420" y="6259830"/>
            <a:ext cx="457835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 </a:t>
            </a:r>
            <a:r>
              <a:rPr lang="zh-CN" altLang="en-US" sz="1000" b="1"/>
              <a:t>无界应用</a:t>
            </a:r>
            <a:r>
              <a:rPr lang="en-US" altLang="zh-CN" sz="1000" b="1"/>
              <a:t>Boundless Agents |</a:t>
            </a:r>
            <a:r>
              <a:rPr lang="en-US" altLang="zh-CN" sz="1000"/>
              <a:t> AI + Education</a:t>
            </a:r>
            <a:endParaRPr lang="en-US" altLang="zh-CN" sz="1000"/>
          </a:p>
        </p:txBody>
      </p:sp>
      <p:sp>
        <p:nvSpPr>
          <p:cNvPr id="15" name="文本框 14"/>
          <p:cNvSpPr txBox="1"/>
          <p:nvPr userDrawn="1"/>
        </p:nvSpPr>
        <p:spPr>
          <a:xfrm>
            <a:off x="1997075" y="6256020"/>
            <a:ext cx="21818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 b="1">
                <a:sym typeface="+mn-ea"/>
              </a:rPr>
              <a:t>Orbit Engine | </a:t>
            </a:r>
            <a:r>
              <a:rPr lang="zh-CN" altLang="en-US" sz="1000" b="1">
                <a:sym typeface="+mn-ea"/>
              </a:rPr>
              <a:t>圆周引擎</a:t>
            </a:r>
            <a:endParaRPr lang="zh-CN" altLang="en-US" sz="1000" b="1">
              <a:sym typeface="+mn-ea"/>
            </a:endParaRP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508000" y="6259830"/>
            <a:ext cx="140208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000" b="1">
                <a:sym typeface="+mn-ea"/>
              </a:rPr>
              <a:t>04 Generalizability</a:t>
            </a:r>
            <a:endParaRPr lang="en-US" sz="1000" b="1">
              <a:sym typeface="+mn-ea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485140" y="1167765"/>
            <a:ext cx="11284585" cy="54000"/>
          </a:xfrm>
          <a:prstGeom prst="rect">
            <a:avLst/>
          </a:prstGeom>
          <a:gradFill>
            <a:gsLst>
              <a:gs pos="0">
                <a:srgbClr val="FC9686"/>
              </a:gs>
              <a:gs pos="63000">
                <a:srgbClr val="8DB7FF"/>
              </a:gs>
              <a:gs pos="32000">
                <a:srgbClr val="99B0E4"/>
              </a:gs>
              <a:gs pos="100000">
                <a:srgbClr val="C2B5F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Text 1"/>
          <p:cNvSpPr/>
          <p:nvPr/>
        </p:nvSpPr>
        <p:spPr>
          <a:xfrm>
            <a:off x="508000" y="211455"/>
            <a:ext cx="8686800" cy="73152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2800" b="1" dirty="0">
                <a:solidFill>
                  <a:srgbClr val="111428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mbria" pitchFamily="34" charset="-120"/>
              </a:rPr>
              <a:t>同一套抽象，映射到任意专业领域</a:t>
            </a:r>
            <a:endParaRPr lang="zh-CN" altLang="en-US" sz="2800" b="1" dirty="0">
              <a:solidFill>
                <a:srgbClr val="111428"/>
              </a:solidFill>
              <a:latin typeface="Noto Serif CJK KR Black" panose="02020900000000000000" charset="-122"/>
              <a:ea typeface="Noto Serif CJK KR Black" panose="02020900000000000000" charset="-122"/>
              <a:cs typeface="Cambria" pitchFamily="34" charset="-120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08000" y="734695"/>
            <a:ext cx="8601075" cy="457200"/>
          </a:xfrm>
          <a:prstGeom prst="rect">
            <a:avLst/>
          </a:prstGeom>
          <a:noFill/>
        </p:spPr>
        <p:txBody>
          <a:bodyPr wrap="square" rtlCol="0" anchor="ctr"/>
          <a:p>
            <a:pPr marL="0" indent="0">
              <a:buNone/>
            </a:pPr>
            <a:r>
              <a:rPr lang="zh-CN" altLang="en-US" sz="1400" dirty="0">
                <a:solidFill>
                  <a:srgbClr val="6B7394"/>
                </a:solidFill>
                <a:latin typeface="Noto Serif CJK KR Black" panose="02020900000000000000" charset="-122"/>
                <a:ea typeface="Noto Serif CJK KR Black" panose="02020900000000000000" charset="-122"/>
                <a:cs typeface="Calibri" pitchFamily="34" charset="-120"/>
              </a:rPr>
              <a:t>从职业能力建设,到研究/创作/创业等场景——迁移的是应用领域,不变的是背后的四类任务模式</a:t>
            </a:r>
            <a:endParaRPr lang="zh-CN" altLang="en-US" sz="1400" dirty="0">
              <a:solidFill>
                <a:srgbClr val="6B7394"/>
              </a:solidFill>
              <a:latin typeface="Noto Serif CJK KR Black" panose="02020900000000000000" charset="-122"/>
              <a:ea typeface="Noto Serif CJK KR Black" panose="02020900000000000000" charset="-122"/>
              <a:cs typeface="Calibri" pitchFamily="34" charset="-120"/>
            </a:endParaRPr>
          </a:p>
        </p:txBody>
      </p:sp>
      <p:graphicFrame>
        <p:nvGraphicFramePr>
          <p:cNvPr id="6" name="表格 5"/>
          <p:cNvGraphicFramePr/>
          <p:nvPr/>
        </p:nvGraphicFramePr>
        <p:xfrm>
          <a:off x="502920" y="1446530"/>
          <a:ext cx="11266805" cy="18281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2960"/>
                <a:gridCol w="2902585"/>
                <a:gridCol w="3502025"/>
                <a:gridCol w="2768940"/>
              </a:tblGrid>
              <a:tr h="347345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zh-CN" altLang="en-US" sz="140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ea"/>
                        </a:rPr>
                        <a:t>领域</a:t>
                      </a:r>
                      <a:endParaRPr lang="zh-CN" altLang="en-US" sz="1400">
                        <a:solidFill>
                          <a:schemeClr val="accent1">
                            <a:lumMod val="50000"/>
                          </a:schemeClr>
                        </a:solidFill>
                        <a:latin typeface="+mn-ea"/>
                      </a:endParaRPr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B8B9D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ea"/>
                          <a:cs typeface="Times New Roman" panose="02020603050405020304" charset="0"/>
                          <a:sym typeface="+mn-ea"/>
                        </a:rPr>
                        <a:t>Radar</a:t>
                      </a:r>
                      <a:endParaRPr lang="en-US" altLang="en-US" sz="140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+mn-ea"/>
                        <a:cs typeface="Times New Roman" panose="02020603050405020304" charset="0"/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B8B9D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ea"/>
                          <a:cs typeface="Times New Roman" panose="02020603050405020304" charset="0"/>
                          <a:sym typeface="+mn-ea"/>
                        </a:rPr>
                        <a:t>Opportunity Alignment</a:t>
                      </a:r>
                      <a:endParaRPr lang="en-US" altLang="en-US" sz="140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+mn-ea"/>
                        <a:cs typeface="Times New Roman" panose="02020603050405020304" charset="0"/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B8B9D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ea"/>
                          <a:cs typeface="Times New Roman" panose="02020603050405020304" charset="0"/>
                          <a:sym typeface="+mn-ea"/>
                        </a:rPr>
                        <a:t>Deep Dive</a:t>
                      </a:r>
                      <a:endParaRPr lang="en-US" altLang="en-US" sz="140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+mn-ea"/>
                        <a:cs typeface="Times New Roman" panose="02020603050405020304" charset="0"/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B8B9D7">
                        <a:alpha val="80000"/>
                      </a:srgbClr>
                    </a:solidFill>
                  </a:tcPr>
                </a:tc>
              </a:tr>
              <a:tr h="341630">
                <a:tc>
                  <a:txBody>
                    <a:bodyPr/>
                    <a:p>
                      <a:pPr marL="0" indent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职业能力建设</a:t>
                      </a:r>
                      <a:endParaRPr lang="en-US" sz="13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  <a:p>
                      <a:pPr marL="0" indent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（当前旗舰场景）</a:t>
                      </a:r>
                      <a:endParaRPr lang="en-US" altLang="en-US" sz="10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B3B2D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技术趋势 / 产品动态</a:t>
                      </a:r>
                      <a:endParaRPr lang="en-US" altLang="en-US" sz="1300" b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D0D4D6">
                        <a:alpha val="7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JD / 招聘要求 / 简历差距</a:t>
                      </a:r>
                      <a:endParaRPr lang="en-US" altLang="en-US" sz="1300" b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D0D4D6">
                        <a:alpha val="7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论文 / repo 精读</a:t>
                      </a:r>
                      <a:endParaRPr lang="en-US" altLang="en-US" sz="1300" b="1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D0D4D6">
                        <a:alpha val="70000"/>
                      </a:srgbClr>
                    </a:solidFill>
                  </a:tcPr>
                </a:tc>
              </a:tr>
              <a:tr h="247650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研究方向探索</a:t>
                      </a:r>
                      <a:endParaRPr lang="en-US" altLang="en-US" sz="13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B3B2D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领域最新进展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CFP / Benchmark / Open Problem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论文精读与复现判断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171450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创作者 / IP 运营</a:t>
                      </a:r>
                      <a:endParaRPr lang="en-US" altLang="en-US" sz="13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B3B2D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平台热点与算法变化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爆款内容 / 用户反馈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同类内容深度拆解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noFill/>
                  </a:tcPr>
                </a:tc>
              </a:tr>
              <a:tr h="171450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创业 / 产品方向</a:t>
                      </a:r>
                      <a:endParaRPr lang="en-US" altLang="en-US" sz="13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solidFill>
                      <a:srgbClr val="B3B2D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行业与竞品动态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用户需求 / 市场机会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sz="13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libri" charset="0"/>
                          <a:ea typeface="Calibri" pitchFamily="34" charset="-122"/>
                          <a:cs typeface="Calibri" pitchFamily="34" charset="-120"/>
                          <a:sym typeface="+mn-ea"/>
                        </a:rPr>
                        <a:t>案例 / 竞品深度研究</a:t>
                      </a:r>
                      <a:endParaRPr lang="en-US" altLang="en-US" sz="13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Calibri" charset="0"/>
                        <a:ea typeface="Calibri" pitchFamily="34" charset="-122"/>
                        <a:cs typeface="Calibri" pitchFamily="34" charset="-120"/>
                        <a:sym typeface="+mn-ea"/>
                      </a:endParaRPr>
                    </a:p>
                  </a:txBody>
                  <a:tcPr anchor="ctr" anchorCtr="0">
                    <a:lnL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R>
                    <a:lnT w="12700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3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4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5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6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7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8_自定义设计方案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3229</Words>
  <Application>WPS 演示</Application>
  <PresentationFormat>宽屏</PresentationFormat>
  <Paragraphs>345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11</vt:i4>
      </vt:variant>
    </vt:vector>
  </HeadingPairs>
  <TitlesOfParts>
    <vt:vector size="45" baseType="lpstr">
      <vt:lpstr>Arial</vt:lpstr>
      <vt:lpstr>宋体</vt:lpstr>
      <vt:lpstr>Wingdings</vt:lpstr>
      <vt:lpstr>DejaVu Sans</vt:lpstr>
      <vt:lpstr>URW Gothic</vt:lpstr>
      <vt:lpstr>Noto Serif CJK KR Black</vt:lpstr>
      <vt:lpstr>Calibri</vt:lpstr>
      <vt:lpstr>Calibri</vt:lpstr>
      <vt:lpstr>Calibri</vt:lpstr>
      <vt:lpstr>宋体</vt:lpstr>
      <vt:lpstr>Cambria</vt:lpstr>
      <vt:lpstr>方正仿宋_GBK</vt:lpstr>
      <vt:lpstr>Noto Sans CJK SC</vt:lpstr>
      <vt:lpstr>Anek Tamil Expanded SemiBold</vt:lpstr>
      <vt:lpstr>Gubbi</vt:lpstr>
      <vt:lpstr>东文宋体</vt:lpstr>
      <vt:lpstr>Noto Serif CJK SC</vt:lpstr>
      <vt:lpstr>微软雅黑</vt:lpstr>
      <vt:lpstr>Droid Sans Fallback</vt:lpstr>
      <vt:lpstr>Arial Unicode MS</vt:lpstr>
      <vt:lpstr>微软雅黑</vt:lpstr>
      <vt:lpstr>Times New Roman</vt:lpstr>
      <vt:lpstr>Calibri Light</vt:lpstr>
      <vt:lpstr>OpenSymbol</vt:lpstr>
      <vt:lpstr>WPS</vt:lpstr>
      <vt:lpstr>自定义设计方案</vt:lpstr>
      <vt:lpstr>1_自定义设计方案</vt:lpstr>
      <vt:lpstr>2_自定义设计方案</vt:lpstr>
      <vt:lpstr>3_自定义设计方案</vt:lpstr>
      <vt:lpstr>4_自定义设计方案</vt:lpstr>
      <vt:lpstr>5_自定义设计方案</vt:lpstr>
      <vt:lpstr>6_自定义设计方案</vt:lpstr>
      <vt:lpstr>7_自定义设计方案</vt:lpstr>
      <vt:lpstr>8_自定义设计方案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maxiaohan</cp:lastModifiedBy>
  <cp:revision>144</cp:revision>
  <dcterms:created xsi:type="dcterms:W3CDTF">2026-08-12T14:30:22Z</dcterms:created>
  <dcterms:modified xsi:type="dcterms:W3CDTF">2026-08-12T14:30:22Z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2052-12.1.2.22571</vt:lpwstr>
  </property>
  <property fmtid="{D5CDD505-2E9C-101B-9397-08002B2CF9AE}" pid="3" name="ICV">
    <vt:lpwstr>4C5BE1D3321C749C159A766AC0D3627C_41</vt:lpwstr>
  </property>
</Properties>
</file>