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  <p:sldMasterId id="2147483653" r:id="rId4"/>
  </p:sldMasterIdLst>
  <p:notesMasterIdLst>
    <p:notesMasterId r:id="rId9"/>
  </p:notesMasterIdLst>
  <p:handoutMasterIdLst>
    <p:handoutMasterId r:id="rId10"/>
  </p:handoutMasterIdLst>
  <p:sldIdLst>
    <p:sldId id="256" r:id="rId5"/>
    <p:sldId id="262" r:id="rId6"/>
    <p:sldId id="261" r:id="rId7"/>
    <p:sldId id="260" r:id="rId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4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727E"/>
    <a:srgbClr val="D6A5AD"/>
    <a:srgbClr val="FFD1E0"/>
    <a:srgbClr val="D4D6D5"/>
    <a:srgbClr val="6E7696"/>
    <a:srgbClr val="F4F1E9"/>
    <a:srgbClr val="E4D8EE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34"/>
        <p:guide pos="383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/>
          </p:cNvPicPr>
          <p:nvPr userDrawn="1"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3007995" y="10795"/>
            <a:ext cx="7039610" cy="7039610"/>
          </a:xfrm>
          <a:prstGeom prst="rect">
            <a:avLst/>
          </a:prstGeom>
        </p:spPr>
      </p:pic>
      <p:sp>
        <p:nvSpPr>
          <p:cNvPr id="13" name="椭圆 12"/>
          <p:cNvSpPr/>
          <p:nvPr userDrawn="1"/>
        </p:nvSpPr>
        <p:spPr>
          <a:xfrm>
            <a:off x="2514600" y="-399415"/>
            <a:ext cx="5505450" cy="5542915"/>
          </a:xfrm>
          <a:prstGeom prst="ellipse">
            <a:avLst/>
          </a:prstGeom>
          <a:solidFill>
            <a:srgbClr val="F4F1E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-1500000">
            <a:off x="2221865" y="2085340"/>
            <a:ext cx="7503795" cy="2461260"/>
          </a:xfrm>
          <a:prstGeom prst="rect">
            <a:avLst/>
          </a:prstGeom>
        </p:spPr>
      </p:pic>
      <p:pic>
        <p:nvPicPr>
          <p:cNvPr id="12" name="Picture 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-1860000">
            <a:off x="2242185" y="2092325"/>
            <a:ext cx="7463790" cy="24479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gradFill>
          <a:gsLst>
            <a:gs pos="51000">
              <a:srgbClr val="E4D8EE"/>
            </a:gs>
            <a:gs pos="0">
              <a:schemeClr val="accent6">
                <a:lumMod val="20000"/>
                <a:lumOff val="80000"/>
              </a:schemeClr>
            </a:gs>
            <a:gs pos="100000">
              <a:schemeClr val="accent2">
                <a:lumMod val="20000"/>
                <a:lumOff val="80000"/>
              </a:schemeClr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3" descr="a glowing gradient brush stroke "/>
          <p:cNvSpPr/>
          <p:nvPr userDrawn="1"/>
        </p:nvSpPr>
        <p:spPr>
          <a:xfrm rot="9007576">
            <a:off x="-2720340" y="1591310"/>
            <a:ext cx="7639685" cy="8204200"/>
          </a:xfrm>
          <a:custGeom>
            <a:avLst/>
            <a:gdLst/>
            <a:ahLst/>
            <a:cxnLst/>
            <a:rect l="l" t="t" r="r" b="b"/>
            <a:pathLst>
              <a:path w="10624840" h="12724359">
                <a:moveTo>
                  <a:pt x="0" y="0"/>
                </a:moveTo>
                <a:lnTo>
                  <a:pt x="10624840" y="0"/>
                </a:lnTo>
                <a:lnTo>
                  <a:pt x="10624840" y="12724359"/>
                </a:lnTo>
                <a:lnTo>
                  <a:pt x="0" y="127243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5000"/>
            </a:blip>
            <a:stretch>
              <a:fillRect/>
            </a:stretch>
          </a:blipFill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5" Type="http://schemas.openxmlformats.org/officeDocument/2006/relationships/theme" Target="../theme/theme3.xml"/><Relationship Id="rId4" Type="http://schemas.openxmlformats.org/officeDocument/2006/relationships/image" Target="../media/image9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>
            <a:off x="2698750" y="637540"/>
            <a:ext cx="6263640" cy="558292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 rot="-2244769">
            <a:off x="7503160" y="-3639185"/>
            <a:ext cx="8134350" cy="8946515"/>
          </a:xfrm>
          <a:custGeom>
            <a:avLst/>
            <a:gdLst/>
            <a:ahLst/>
            <a:cxnLst/>
            <a:rect l="l" t="t" r="r" b="b"/>
            <a:pathLst>
              <a:path w="12326388" h="12824155">
                <a:moveTo>
                  <a:pt x="0" y="0"/>
                </a:moveTo>
                <a:lnTo>
                  <a:pt x="12326387" y="0"/>
                </a:lnTo>
                <a:lnTo>
                  <a:pt x="12326387" y="12824154"/>
                </a:lnTo>
                <a:lnTo>
                  <a:pt x="0" y="12824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r="-328"/>
            </a:stretch>
          </a:blipFill>
        </p:spPr>
      </p:sp>
      <p:sp>
        <p:nvSpPr>
          <p:cNvPr id="9" name="Freeform 4"/>
          <p:cNvSpPr/>
          <p:nvPr userDrawn="1"/>
        </p:nvSpPr>
        <p:spPr>
          <a:xfrm rot="1162109">
            <a:off x="-5512435" y="3198495"/>
            <a:ext cx="10259695" cy="7027545"/>
          </a:xfrm>
          <a:custGeom>
            <a:avLst/>
            <a:gdLst/>
            <a:ahLst/>
            <a:cxnLst/>
            <a:rect l="l" t="t" r="r" b="b"/>
            <a:pathLst>
              <a:path w="15657358" h="11677597">
                <a:moveTo>
                  <a:pt x="0" y="0"/>
                </a:moveTo>
                <a:lnTo>
                  <a:pt x="15657358" y="0"/>
                </a:lnTo>
                <a:lnTo>
                  <a:pt x="15657358" y="11677597"/>
                </a:lnTo>
                <a:lnTo>
                  <a:pt x="0" y="11677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94350"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rounded gradient shape"/>
          <p:cNvSpPr/>
          <p:nvPr userDrawn="1"/>
        </p:nvSpPr>
        <p:spPr>
          <a:xfrm>
            <a:off x="6096000" y="-3339465"/>
            <a:ext cx="10243185" cy="9320530"/>
          </a:xfrm>
          <a:custGeom>
            <a:avLst/>
            <a:gdLst/>
            <a:ahLst/>
            <a:cxnLst/>
            <a:rect l="l" t="t" r="r" b="b"/>
            <a:pathLst>
              <a:path w="15350424" h="15350424">
                <a:moveTo>
                  <a:pt x="0" y="0"/>
                </a:moveTo>
                <a:lnTo>
                  <a:pt x="15350424" y="0"/>
                </a:lnTo>
                <a:lnTo>
                  <a:pt x="15350424" y="15350424"/>
                </a:lnTo>
                <a:lnTo>
                  <a:pt x="0" y="153504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>
            <a:off x="-5285105" y="-1374140"/>
            <a:ext cx="12105640" cy="10544175"/>
          </a:xfrm>
          <a:custGeom>
            <a:avLst/>
            <a:gdLst/>
            <a:ahLst/>
            <a:cxnLst/>
            <a:rect l="l" t="t" r="r" b="b"/>
            <a:pathLst>
              <a:path w="18963665" h="18299937">
                <a:moveTo>
                  <a:pt x="0" y="0"/>
                </a:moveTo>
                <a:lnTo>
                  <a:pt x="18963665" y="0"/>
                </a:lnTo>
                <a:lnTo>
                  <a:pt x="18963665" y="18299937"/>
                </a:lnTo>
                <a:lnTo>
                  <a:pt x="0" y="182999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0000"/>
            </a:blip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1" Type="http://schemas.openxmlformats.org/officeDocument/2006/relationships/slideLayout" Target="../slideLayouts/slideLayout4.xml"/><Relationship Id="rId10" Type="http://schemas.openxmlformats.org/officeDocument/2006/relationships/image" Target="../media/image19.svg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286125" y="2357120"/>
            <a:ext cx="608330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60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Orbit Engine</a:t>
            </a:r>
            <a:endParaRPr lang="en-US" altLang="zh-CN" sz="60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67150" y="3371850"/>
            <a:ext cx="49307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8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圆周引擎</a:t>
            </a:r>
            <a:endParaRPr lang="zh-CN" altLang="en-US" sz="48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25955" y="439420"/>
            <a:ext cx="86868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n-ea"/>
                <a:cs typeface="+mn-ea"/>
              </a:rPr>
              <a:t>面向任意专业领域的周期性成长 Agent</a:t>
            </a:r>
            <a:endParaRPr lang="en-US" sz="16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6" name="Text 8"/>
          <p:cNvSpPr/>
          <p:nvPr/>
        </p:nvSpPr>
        <p:spPr>
          <a:xfrm>
            <a:off x="1925955" y="782320"/>
            <a:ext cx="8686800" cy="4114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+mn-ea"/>
                <a:cs typeface="+mn-ea"/>
              </a:rPr>
              <a:t>每一次循环，都在积累前进的动能 — Every cycle builds momentum.</a:t>
            </a:r>
            <a:endParaRPr lang="en-US" sz="12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301240" y="5490210"/>
            <a:ext cx="7589520" cy="10515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40000"/>
              </a:lnSpc>
              <a:buNone/>
            </a:pP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赛道方向：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AI + Education（成人职业技能教育 Agent）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团队名称：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圆周引擎  |  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提交日期：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2026.08.16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团队成员：</a:t>
            </a:r>
            <a:r>
              <a:rPr lang="zh-CN" altLang="en-US" sz="1300" b="1" dirty="0">
                <a:solidFill>
                  <a:schemeClr val="tx1"/>
                </a:solidFill>
                <a:latin typeface="Calibri" charset="0"/>
                <a:ea typeface="宋体" charset="0"/>
                <a:cs typeface="Calibri" pitchFamily="34" charset="-120"/>
              </a:rPr>
              <a:t>马小涵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 · 独立开发者（负责产品 / 架构 / 全栈开发）</a:t>
            </a:r>
            <a:endParaRPr lang="en-US" sz="1300" dirty="0">
              <a:solidFill>
                <a:schemeClr val="tx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5755" y="274320"/>
            <a:ext cx="4124960" cy="3657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300" b="1" kern="0" spc="150" dirty="0">
                <a:solidFill>
                  <a:srgbClr val="FFB00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GOAI 世界人工智能开源大赛 · 无界应用赛道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02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9" name="文本框 8"/>
          <p:cNvSpPr txBox="1"/>
          <p:nvPr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01 Problem</a:t>
            </a:r>
            <a:endParaRPr lang="en-US" sz="1000" b="1">
              <a:sym typeface="+mn-ea"/>
            </a:endParaRPr>
          </a:p>
        </p:txBody>
      </p:sp>
      <p:sp>
        <p:nvSpPr>
          <p:cNvPr id="15" name="Text 1"/>
          <p:cNvSpPr/>
          <p:nvPr/>
        </p:nvSpPr>
        <p:spPr>
          <a:xfrm>
            <a:off x="548640" y="86868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真正的阻力，不是缺计划</a:t>
            </a:r>
            <a:endParaRPr 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146304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9" name="Freeform 9"/>
          <p:cNvSpPr/>
          <p:nvPr/>
        </p:nvSpPr>
        <p:spPr>
          <a:xfrm>
            <a:off x="548640" y="1967865"/>
            <a:ext cx="4369435" cy="4354195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20" name="Text 6"/>
          <p:cNvSpPr/>
          <p:nvPr/>
        </p:nvSpPr>
        <p:spPr>
          <a:xfrm>
            <a:off x="773430" y="4036695"/>
            <a:ext cx="3945255" cy="17373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典型用户在开始一次学习/探索行动前，花在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今天该做什么、去哪找材料、值不值得看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b="1" dirty="0">
              <a:solidFill>
                <a:schemeClr val="accent1">
                  <a:lumMod val="5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algn="ctr">
              <a:lnSpc>
                <a:spcPct val="130000"/>
              </a:lnSpc>
              <a:buClrTx/>
              <a:buSzTx/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这类决策上的时间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66240" y="2376170"/>
            <a:ext cx="2282825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50000"/>
              </a:lnSpc>
            </a:pP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30</a:t>
            </a:r>
            <a:r>
              <a:rPr lang="zh-CN" altLang="en-US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～</a:t>
            </a: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60</a:t>
            </a:r>
            <a:endParaRPr lang="en-US" altLang="zh-CN" sz="4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b="1"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分钟</a:t>
            </a:r>
            <a:endParaRPr lang="zh-CN" altLang="en-US" sz="2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5953760" y="2188845"/>
            <a:ext cx="5051425" cy="912495"/>
            <a:chOff x="9376" y="3447"/>
            <a:chExt cx="7955" cy="1437"/>
          </a:xfrm>
        </p:grpSpPr>
        <p:sp>
          <p:nvSpPr>
            <p:cNvPr id="27" name="Shape 7"/>
            <p:cNvSpPr/>
            <p:nvPr/>
          </p:nvSpPr>
          <p:spPr>
            <a:xfrm>
              <a:off x="9376" y="350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1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9" name="Text 9"/>
            <p:cNvSpPr/>
            <p:nvPr/>
          </p:nvSpPr>
          <p:spPr>
            <a:xfrm>
              <a:off x="10217" y="344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决策疲劳</a:t>
              </a:r>
              <a:endParaRPr 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0" name="Text 10"/>
            <p:cNvSpPr/>
            <p:nvPr/>
          </p:nvSpPr>
          <p:spPr>
            <a:xfrm>
              <a:off x="10217" y="394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每次开始前都要重新决定“今天做什么”，启动成本消耗在决策上，而非执行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5953760" y="3246120"/>
            <a:ext cx="5051425" cy="912495"/>
            <a:chOff x="9376" y="5037"/>
            <a:chExt cx="7955" cy="1437"/>
          </a:xfrm>
        </p:grpSpPr>
        <p:sp>
          <p:nvSpPr>
            <p:cNvPr id="31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2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2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筛选负担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3" name="Text 10"/>
            <p:cNvSpPr/>
            <p:nvPr/>
          </p:nvSpPr>
          <p:spPr>
            <a:xfrm>
              <a:off x="10217" y="553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需要自己搜索、比较、判断材料是否值得看，信息噪音掩盖了真正有价值的内容。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5953760" y="4305300"/>
            <a:ext cx="5160010" cy="715645"/>
            <a:chOff x="9376" y="5037"/>
            <a:chExt cx="8126" cy="1127"/>
          </a:xfrm>
        </p:grpSpPr>
        <p:sp>
          <p:nvSpPr>
            <p:cNvPr id="38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3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9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粒度错位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0" name="Text 10"/>
            <p:cNvSpPr/>
            <p:nvPr/>
          </p:nvSpPr>
          <p:spPr>
            <a:xfrm>
              <a:off x="10217" y="5469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计划停留在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“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这周要学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 xxx”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层面，缺少可以直接执行的任务单元。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953760" y="5168265"/>
            <a:ext cx="5160010" cy="807085"/>
            <a:chOff x="9376" y="5037"/>
            <a:chExt cx="8126" cy="1271"/>
          </a:xfrm>
        </p:grpSpPr>
        <p:sp>
          <p:nvSpPr>
            <p:cNvPr id="42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4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3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沉淀断层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4" name="Text 10"/>
            <p:cNvSpPr/>
            <p:nvPr/>
          </p:nvSpPr>
          <p:spPr>
            <a:xfrm>
              <a:off x="10217" y="5613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学习与观察的结果没有形成持续记录，无法回看进展，也无法反哺能力判断。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03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0" name="文本框 9"/>
          <p:cNvSpPr txBox="1"/>
          <p:nvPr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02 Target User</a:t>
            </a:r>
            <a:endParaRPr lang="en-US" sz="1000" b="1">
              <a:sym typeface="+mn-ea"/>
            </a:endParaRPr>
          </a:p>
        </p:txBody>
      </p:sp>
      <p:sp>
        <p:nvSpPr>
          <p:cNvPr id="19" name="Freeform 9"/>
          <p:cNvSpPr/>
          <p:nvPr/>
        </p:nvSpPr>
        <p:spPr>
          <a:xfrm>
            <a:off x="548640" y="2000885"/>
            <a:ext cx="10781030" cy="4039870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13" name="Freeform 4" descr="a white circle"/>
          <p:cNvSpPr/>
          <p:nvPr/>
        </p:nvSpPr>
        <p:spPr>
          <a:xfrm>
            <a:off x="944245" y="1026961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FFFF">
              <a:alpha val="40000"/>
            </a:srgbClr>
          </a:solidFill>
        </p:spPr>
      </p:sp>
      <p:sp>
        <p:nvSpPr>
          <p:cNvPr id="15" name="Text 5"/>
          <p:cNvSpPr/>
          <p:nvPr/>
        </p:nvSpPr>
        <p:spPr>
          <a:xfrm>
            <a:off x="1981200" y="1118870"/>
            <a:ext cx="3366770" cy="33210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处于职业方向探索期的</a:t>
            </a:r>
            <a:r>
              <a:rPr 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技术从业者</a:t>
            </a:r>
            <a:endParaRPr lang="en-US" sz="1600" dirty="0">
              <a:latin typeface="Noto Serif CJK KR Black" panose="02020900000000000000" charset="-122"/>
              <a:ea typeface="Noto Serif CJK KR Black" panose="02020900000000000000" charset="-122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1168400" y="4636135"/>
            <a:ext cx="3876040" cy="594360"/>
            <a:chOff x="1209" y="6804"/>
            <a:chExt cx="6104" cy="936"/>
          </a:xfrm>
        </p:grpSpPr>
        <p:sp>
          <p:nvSpPr>
            <p:cNvPr id="18" name="Text 10"/>
            <p:cNvSpPr/>
            <p:nvPr/>
          </p:nvSpPr>
          <p:spPr>
            <a:xfrm>
              <a:off x="1683" y="6804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希望市场感知与能力建设并行，而非临时抱佛脚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3" name="Freeform 4" descr="an icon of a lightbulb"/>
            <p:cNvSpPr/>
            <p:nvPr/>
          </p:nvSpPr>
          <p:spPr>
            <a:xfrm>
              <a:off x="1209" y="7030"/>
              <a:ext cx="340" cy="454"/>
            </a:xfrm>
            <a:custGeom>
              <a:avLst/>
              <a:gdLst/>
              <a:ahLst/>
              <a:cxnLst/>
              <a:rect l="l" t="t" r="r" b="b"/>
              <a:pathLst>
                <a:path w="715320" h="910708">
                  <a:moveTo>
                    <a:pt x="0" y="0"/>
                  </a:moveTo>
                  <a:lnTo>
                    <a:pt x="715320" y="0"/>
                  </a:lnTo>
                  <a:lnTo>
                    <a:pt x="715320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6" name="组合 25"/>
          <p:cNvGrpSpPr/>
          <p:nvPr/>
        </p:nvGrpSpPr>
        <p:grpSpPr>
          <a:xfrm>
            <a:off x="1144905" y="2131060"/>
            <a:ext cx="3899535" cy="594360"/>
            <a:chOff x="1172" y="4932"/>
            <a:chExt cx="6141" cy="936"/>
          </a:xfrm>
        </p:grpSpPr>
        <p:sp>
          <p:nvSpPr>
            <p:cNvPr id="30" name="Text 10"/>
            <p:cNvSpPr/>
            <p:nvPr/>
          </p:nvSpPr>
          <p:spPr>
            <a:xfrm>
              <a:off x="1683" y="493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希望在特定方向保持持续成长和技术敏感度</a:t>
              </a:r>
              <a:endParaRPr 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4" name="Freeform 5" descr="an icon of a person with a tie"/>
            <p:cNvSpPr/>
            <p:nvPr/>
          </p:nvSpPr>
          <p:spPr>
            <a:xfrm>
              <a:off x="1172" y="5145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859377" h="910708">
                  <a:moveTo>
                    <a:pt x="0" y="0"/>
                  </a:moveTo>
                  <a:lnTo>
                    <a:pt x="859378" y="0"/>
                  </a:lnTo>
                  <a:lnTo>
                    <a:pt x="859378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9" name="组合 28"/>
          <p:cNvGrpSpPr/>
          <p:nvPr/>
        </p:nvGrpSpPr>
        <p:grpSpPr>
          <a:xfrm>
            <a:off x="1144905" y="5383530"/>
            <a:ext cx="3898900" cy="594360"/>
            <a:chOff x="1174" y="7740"/>
            <a:chExt cx="6140" cy="936"/>
          </a:xfrm>
        </p:grpSpPr>
        <p:sp>
          <p:nvSpPr>
            <p:cNvPr id="21" name="Text 10"/>
            <p:cNvSpPr/>
            <p:nvPr/>
          </p:nvSpPr>
          <p:spPr>
            <a:xfrm>
              <a:off x="1683" y="7740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碎片时间是主要使用场景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5" name="Freeform 6" descr="an icon of a thumbs-up hand"/>
            <p:cNvSpPr/>
            <p:nvPr/>
          </p:nvSpPr>
          <p:spPr>
            <a:xfrm>
              <a:off x="1174" y="7914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910708" h="841163">
                  <a:moveTo>
                    <a:pt x="0" y="0"/>
                  </a:moveTo>
                  <a:lnTo>
                    <a:pt x="910708" y="0"/>
                  </a:lnTo>
                  <a:lnTo>
                    <a:pt x="910708" y="841163"/>
                  </a:lnTo>
                  <a:lnTo>
                    <a:pt x="0" y="8411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33" name="组合 32"/>
          <p:cNvGrpSpPr/>
          <p:nvPr/>
        </p:nvGrpSpPr>
        <p:grpSpPr>
          <a:xfrm>
            <a:off x="1146175" y="2734310"/>
            <a:ext cx="3898900" cy="838200"/>
            <a:chOff x="1279" y="5662"/>
            <a:chExt cx="6140" cy="1320"/>
          </a:xfrm>
        </p:grpSpPr>
        <p:grpSp>
          <p:nvGrpSpPr>
            <p:cNvPr id="27" name="组合 26"/>
            <p:cNvGrpSpPr/>
            <p:nvPr/>
          </p:nvGrpSpPr>
          <p:grpSpPr>
            <a:xfrm>
              <a:off x="1279" y="5662"/>
              <a:ext cx="6140" cy="936"/>
              <a:chOff x="1174" y="5868"/>
              <a:chExt cx="6140" cy="936"/>
            </a:xfrm>
          </p:grpSpPr>
          <p:sp>
            <p:nvSpPr>
              <p:cNvPr id="17" name="Text 10"/>
              <p:cNvSpPr/>
              <p:nvPr/>
            </p:nvSpPr>
            <p:spPr>
              <a:xfrm>
                <a:off x="1683" y="5868"/>
                <a:ext cx="5631" cy="936"/>
              </a:xfrm>
              <a:prstGeom prst="rect">
                <a:avLst/>
              </a:prstGeom>
              <a:noFill/>
            </p:spPr>
            <p:txBody>
              <a:bodyPr wrap="square" rtlCol="0" anchor="ctr"/>
              <a:p>
                <a:pPr marL="0" indent="0">
                  <a:lnSpc>
                    <a:spcPct val="125000"/>
                  </a:lnSpc>
                  <a:buNone/>
                </a:pP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缺的不是学习资源</a:t>
                </a:r>
                <a:r>
                  <a:rPr lang="en-US" altLang="zh-CN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,</a:t>
                </a: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而是筛选判断的确定感</a:t>
                </a:r>
                <a:endPara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endParaRPr>
              </a:p>
            </p:txBody>
          </p:sp>
          <p:sp>
            <p:nvSpPr>
              <p:cNvPr id="22" name="Freeform 3" descr="an icon of a magnifying glass"/>
              <p:cNvSpPr/>
              <p:nvPr/>
            </p:nvSpPr>
            <p:spPr>
              <a:xfrm>
                <a:off x="1174" y="6169"/>
                <a:ext cx="508" cy="510"/>
              </a:xfrm>
              <a:custGeom>
                <a:avLst/>
                <a:gdLst/>
                <a:ahLst/>
                <a:cxnLst/>
                <a:rect l="l" t="t" r="r" b="b"/>
                <a:pathLst>
                  <a:path w="910708" h="910708">
                    <a:moveTo>
                      <a:pt x="0" y="0"/>
                    </a:moveTo>
                    <a:lnTo>
                      <a:pt x="910708" y="0"/>
                    </a:lnTo>
                    <a:lnTo>
                      <a:pt x="910708" y="910709"/>
                    </a:lnTo>
                    <a:lnTo>
                      <a:pt x="0" y="9107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a:blipFill>
            </p:spPr>
          </p:sp>
        </p:grpSp>
        <p:sp>
          <p:nvSpPr>
            <p:cNvPr id="32" name="文本框 31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每次开始前都要重新判断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这次该看什么、值不值得看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这个过程本身就在消耗行动意愿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1466215" y="3629025"/>
            <a:ext cx="3578860" cy="838200"/>
            <a:chOff x="1783" y="5662"/>
            <a:chExt cx="5636" cy="1320"/>
          </a:xfrm>
        </p:grpSpPr>
        <p:sp>
          <p:nvSpPr>
            <p:cNvPr id="37" name="Text 10"/>
            <p:cNvSpPr/>
            <p:nvPr/>
          </p:nvSpPr>
          <p:spPr>
            <a:xfrm>
              <a:off x="1788" y="566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投入之后难有方向确认感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很难说清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今天做的这些</a:t>
              </a:r>
              <a:r>
                <a:rPr lang="en-US" altLang="zh-CN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,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到底有没有在推进我的目标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这种不确定感是持续性中断的隐藏诱因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sp>
        <p:nvSpPr>
          <p:cNvPr id="41" name="文本框 40"/>
          <p:cNvSpPr txBox="1"/>
          <p:nvPr/>
        </p:nvSpPr>
        <p:spPr>
          <a:xfrm>
            <a:off x="2059305" y="1456055"/>
            <a:ext cx="609600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一个希望持续成长，却受困于筛选与确认成本的真实用户</a:t>
            </a:r>
            <a:endParaRPr lang="en-US" altLang="en-US" sz="1200" b="1" dirty="0">
              <a:solidFill>
                <a:schemeClr val="accent1">
                  <a:lumMod val="60000"/>
                  <a:lumOff val="4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927100" y="276034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927100" y="367347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7100" y="460121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/>
        </p:nvCxnSpPr>
        <p:spPr>
          <a:xfrm>
            <a:off x="927100" y="530733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Text 12"/>
          <p:cNvSpPr/>
          <p:nvPr/>
        </p:nvSpPr>
        <p:spPr>
          <a:xfrm>
            <a:off x="6179820" y="2110740"/>
            <a:ext cx="4652645" cy="6400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定期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、</a:t>
            </a: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主动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地获取外部信号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（趋势 / 动态 / 机会）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，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而不是靠用户每次临时想起来去搜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6179820" y="2930525"/>
            <a:ext cx="4652645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提前完成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材料筛选与价值判断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，并给出清楚的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推荐理由</a:t>
            </a:r>
            <a:endParaRPr lang="zh-CN" sz="1200" b="1" dirty="0">
              <a:solidFill>
                <a:schemeClr val="accent1"/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1" name="Text 20"/>
          <p:cNvSpPr/>
          <p:nvPr/>
        </p:nvSpPr>
        <p:spPr>
          <a:xfrm>
            <a:off x="6179820" y="3827399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持续记录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与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阶段性复盘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，让用户能定期回看投入是否真的在推进目标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6179820" y="4633976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定期获取外部世界的真实诉求，用来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校准学习方向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，而非闭门造车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6179820" y="5390515"/>
            <a:ext cx="4652645" cy="53086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4"/>
                </a:solidFill>
                <a:latin typeface="+mj-ea"/>
                <a:ea typeface="+mj-ea"/>
                <a:cs typeface="+mj-ea"/>
                <a:sym typeface="+mn-ea"/>
              </a:rPr>
              <a:t>贯穿性约束</a:t>
            </a:r>
            <a:r>
              <a:rPr lang="zh-CN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：所有能力都必须能拆解为可在碎片时间内完成的短任务，而非独立模块</a:t>
            </a:r>
            <a:endParaRPr lang="zh-CN" sz="1200" b="1" dirty="0">
              <a:solidFill>
                <a:schemeClr val="accent4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60" name="右箭头 59"/>
          <p:cNvSpPr/>
          <p:nvPr/>
        </p:nvSpPr>
        <p:spPr>
          <a:xfrm>
            <a:off x="5349240" y="238569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右箭头 60"/>
          <p:cNvSpPr/>
          <p:nvPr/>
        </p:nvSpPr>
        <p:spPr>
          <a:xfrm>
            <a:off x="5344160" y="315912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2" name="右箭头 61"/>
          <p:cNvSpPr/>
          <p:nvPr/>
        </p:nvSpPr>
        <p:spPr>
          <a:xfrm>
            <a:off x="5344160" y="407987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3" name="右箭头 62"/>
          <p:cNvSpPr/>
          <p:nvPr/>
        </p:nvSpPr>
        <p:spPr>
          <a:xfrm>
            <a:off x="5344160" y="4897120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4" name="右箭头 63"/>
          <p:cNvSpPr/>
          <p:nvPr/>
        </p:nvSpPr>
        <p:spPr>
          <a:xfrm>
            <a:off x="5344160" y="560006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961</Words>
  <Application>WPS 演示</Application>
  <PresentationFormat>宽屏</PresentationFormat>
  <Paragraphs>92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92" baseType="lpstr">
      <vt:lpstr>Arial</vt:lpstr>
      <vt:lpstr>宋体</vt:lpstr>
      <vt:lpstr>Wingdings</vt:lpstr>
      <vt:lpstr>DejaVu Sans</vt:lpstr>
      <vt:lpstr>Calibri Light</vt:lpstr>
      <vt:lpstr>Noto Serif CJK SC</vt:lpstr>
      <vt:lpstr>微软雅黑</vt:lpstr>
      <vt:lpstr>Droid Sans Fallback</vt:lpstr>
      <vt:lpstr>宋体</vt:lpstr>
      <vt:lpstr>Arial Unicode MS</vt:lpstr>
      <vt:lpstr>Calibri</vt:lpstr>
      <vt:lpstr>OpenSymbol</vt:lpstr>
      <vt:lpstr>Arial</vt:lpstr>
      <vt:lpstr>TT Commons Pro</vt:lpstr>
      <vt:lpstr>TAN Mon Cheri</vt:lpstr>
      <vt:lpstr>Gubbi</vt:lpstr>
      <vt:lpstr>Anek Tamil Expanded Regular</vt:lpstr>
      <vt:lpstr>AR PL UKai TW</vt:lpstr>
      <vt:lpstr>AR PL UKai HK</vt:lpstr>
      <vt:lpstr>Chandas</vt:lpstr>
      <vt:lpstr>Chilanka</vt:lpstr>
      <vt:lpstr>Courier 10 Pitch</vt:lpstr>
      <vt:lpstr>DejaVu Math TeX Gyre</vt:lpstr>
      <vt:lpstr>Dhurjati</vt:lpstr>
      <vt:lpstr>Dyuthi</vt:lpstr>
      <vt:lpstr>FreeSans</vt:lpstr>
      <vt:lpstr>Jamrul</vt:lpstr>
      <vt:lpstr>KacstArt</vt:lpstr>
      <vt:lpstr>KacstBook</vt:lpstr>
      <vt:lpstr>KacstQurn</vt:lpstr>
      <vt:lpstr>Kinnari</vt:lpstr>
      <vt:lpstr>Khmer OS System</vt:lpstr>
      <vt:lpstr>Khmer OS</vt:lpstr>
      <vt:lpstr>C059</vt:lpstr>
      <vt:lpstr>Bitstream Charter</vt:lpstr>
      <vt:lpstr>Ani</vt:lpstr>
      <vt:lpstr>Abyssinica SIL</vt:lpstr>
      <vt:lpstr>AR PL UMing TW</vt:lpstr>
      <vt:lpstr>AR PL UMing HK</vt:lpstr>
      <vt:lpstr>DejaVu Sans Mono</vt:lpstr>
      <vt:lpstr>DejaVu Serif</vt:lpstr>
      <vt:lpstr>KacstTitle</vt:lpstr>
      <vt:lpstr>KacstScreen</vt:lpstr>
      <vt:lpstr>Karumbi</vt:lpstr>
      <vt:lpstr>Noto Serif CJK KR ExtraLight</vt:lpstr>
      <vt:lpstr>Noto Serif CJK KR Black</vt:lpstr>
      <vt:lpstr>Samyak Devanagari</vt:lpstr>
      <vt:lpstr>RaghuMalayalamSans</vt:lpstr>
      <vt:lpstr>Rachana</vt:lpstr>
      <vt:lpstr>Purisa</vt:lpstr>
      <vt:lpstr>Ramabhadra</vt:lpstr>
      <vt:lpstr>Rasa</vt:lpstr>
      <vt:lpstr>Samanata</vt:lpstr>
      <vt:lpstr>Samyak Gujarati</vt:lpstr>
      <vt:lpstr>Samyak Malayalam</vt:lpstr>
      <vt:lpstr>Ramaraja</vt:lpstr>
      <vt:lpstr>RaviPrakash</vt:lpstr>
      <vt:lpstr>Sawasdee</vt:lpstr>
      <vt:lpstr>Timmana</vt:lpstr>
      <vt:lpstr>Tlwg Typewriter</vt:lpstr>
      <vt:lpstr>URW Gothic</vt:lpstr>
      <vt:lpstr>URW Bookman</vt:lpstr>
      <vt:lpstr>Ubuntu</vt:lpstr>
      <vt:lpstr>AR PL UKai CN</vt:lpstr>
      <vt:lpstr>汉仪叶叶相思体简</vt:lpstr>
      <vt:lpstr>汉仪中圆B5</vt:lpstr>
      <vt:lpstr>AR PL UKai TW MBE</vt:lpstr>
      <vt:lpstr>AR PL UMing CN</vt:lpstr>
      <vt:lpstr>KacstFarsi</vt:lpstr>
      <vt:lpstr>方正仿宋_GBK</vt:lpstr>
      <vt:lpstr>Calibri</vt:lpstr>
      <vt:lpstr>Calibri</vt:lpstr>
      <vt:lpstr>FreeSerif</vt:lpstr>
      <vt:lpstr>Gayathri Thin</vt:lpstr>
      <vt:lpstr>aakar</vt:lpstr>
      <vt:lpstr>mry_KacstQurn</vt:lpstr>
      <vt:lpstr>KacstPoster</vt:lpstr>
      <vt:lpstr>Liberation Sans Narrow</vt:lpstr>
      <vt:lpstr>NTR</vt:lpstr>
      <vt:lpstr>Anek Tamil Expanded ExtraBold</vt:lpstr>
      <vt:lpstr>Anek Tamil Expanded SemiBold</vt:lpstr>
      <vt:lpstr>Anek Tamil Expanded Light</vt:lpstr>
      <vt:lpstr>Cambria</vt:lpstr>
      <vt:lpstr>Cambria</vt:lpstr>
      <vt:lpstr>Cambria</vt:lpstr>
      <vt:lpstr>WPS</vt:lpstr>
      <vt:lpstr>自定义设计方案</vt:lpstr>
      <vt:lpstr>1_自定义设计方案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maxiaohan</cp:lastModifiedBy>
  <cp:revision>60</cp:revision>
  <dcterms:created xsi:type="dcterms:W3CDTF">2026-08-09T14:41:05Z</dcterms:created>
  <dcterms:modified xsi:type="dcterms:W3CDTF">2026-08-09T14:41:05Z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2052-12.1.2.22571</vt:lpwstr>
  </property>
  <property fmtid="{D5CDD505-2E9C-101B-9397-08002B2CF9AE}" pid="3" name="ICV">
    <vt:lpwstr>4C5BE1D3321C749C159A766AC0D3627C_41</vt:lpwstr>
  </property>
</Properties>
</file>