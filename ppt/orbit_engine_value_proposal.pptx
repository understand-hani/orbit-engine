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25BB7"/>
                </a:solidFill>
                <a:latin typeface="Noto Sans CJK SC"/>
              </a:rPr>
              <a:t>GOAI 世界人工智能开源大赛 · 无界应用赛道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1C202C"/>
                </a:solidFill>
                <a:latin typeface="Noto Sans CJK SC"/>
              </a:rPr>
              <a:t>圆周引擎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8DA6"/>
                </a:solidFill>
                <a:latin typeface="Noto Sans CJK SC"/>
              </a:rPr>
              <a:t>Orbit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65836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202C"/>
                </a:solidFill>
                <a:latin typeface="Noto Sans CJK SC"/>
              </a:rPr>
              <a:t>面向成人职业能力建设的周期性行动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E6574"/>
                </a:solidFill>
                <a:latin typeface="Noto Sans CJK SC"/>
              </a:rPr>
              <a:t>把分散信号转化为每日可执行 session，并沉淀为可复盘的能力证据。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913632"/>
            <a:ext cx="2606040" cy="27432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63924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oto Sans CJK SC"/>
              </a:rPr>
              <a:t>AI + Education / Vocational Education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3913632"/>
            <a:ext cx="1417320" cy="274320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96392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oto Sans CJK SC"/>
              </a:rPr>
              <a:t>Closed-loop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913632"/>
            <a:ext cx="1234440" cy="274320"/>
          </a:xfrm>
          <a:prstGeom prst="roundRect">
            <a:avLst/>
          </a:prstGeom>
          <a:solidFill>
            <a:srgbClr val="4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963924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oto Sans CJK SC"/>
              </a:rPr>
              <a:t>Runnable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777240"/>
            <a:ext cx="36118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923544"/>
            <a:ext cx="3209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核心闭环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7" y="1234440"/>
            <a:ext cx="3209544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Today
→ Session Queue
→ Deep Dive Material
→ Agent Guidance
→ Check-in
→ History / Next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01 · TRACK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为什么适合 Boundless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手册要求真实场景、可运行闭环、工具/知识增强、反馈验证和合规边界。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真实行业场景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467258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成人技术从业者需要在工作之外持续跟踪研究、岗位和领域机会。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29384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不是通用聊天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67258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产品入口不是空白对话框，而是按周节奏生成可执行 session。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21024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可验证闭环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31920"/>
            <a:ext cx="467258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Deep Dive 从材料选择到打卡归档，完成状态和 History 可被检查。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621024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可复用模板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931920"/>
            <a:ext cx="467258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Radar / Deep Dive / Opportunity Alignment / Weekly Studio 可映射到多个领域。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真正的阻力，不是缺计划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而是每次行动开始前反复出现的决策、筛选和沉淀成本。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F4F4F"/>
                </a:solidFill>
                <a:latin typeface="Noto Sans CJK SC"/>
              </a:rPr>
              <a:t>30-60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E6574"/>
                </a:solidFill>
                <a:latin typeface="Noto Sans CJK SC"/>
              </a:rPr>
              <a:t>常被消耗在“今天看什么、去哪找、值不值得看”的启动判断上。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8308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7368" y="1929384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1. 决策疲劳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240280"/>
            <a:ext cx="28437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每天都要重新决定任务，行动意愿先被消耗。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8308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929384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2. 筛选负担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240280"/>
            <a:ext cx="28437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论文、repo、JD、新闻混在一起，噪音多于信号。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291839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3438143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3. 粒度错位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749039"/>
            <a:ext cx="28437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长期计划太大，不能直接落成 30/60/90 分钟任务。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291839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3438143"/>
            <a:ext cx="2843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C57BE"/>
                </a:solidFill>
                <a:latin typeface="Noto Sans CJK SC"/>
              </a:rPr>
              <a:t>4. 沉淀断层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3749039"/>
            <a:ext cx="2843784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看过的材料和洞察没有进入下一轮判断。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03 ·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一个真实的人，一条真实节奏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旗舰场景：处于职业方向探索期、需要持续建设能力的技术从业者。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657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325526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有明确技术方向，但高质量时间有限
需要保持市场与技术敏感度
不适合每天从零搜索和规划
希望把学习投入转化为长期证据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645920"/>
            <a:ext cx="777240" cy="27432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9621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oto Sans CJK SC"/>
              </a:rPr>
              <a:t>周一/二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591056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1737360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Signal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048256"/>
            <a:ext cx="462686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趋势、论文、产品、repo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633472"/>
            <a:ext cx="777240" cy="274320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683764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oto Sans CJK SC"/>
              </a:rPr>
              <a:t>周三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578608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2724912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3035808"/>
            <a:ext cx="462686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岗位、比赛、benchmark、外部要求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3621024"/>
            <a:ext cx="777240" cy="274320"/>
          </a:xfrm>
          <a:prstGeom prst="roundRect">
            <a:avLst/>
          </a:prstGeom>
          <a:solidFill>
            <a:srgbClr val="CF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671316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oto Sans CJK SC"/>
              </a:rPr>
              <a:t>周四/五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3566160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3712464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4023360"/>
            <a:ext cx="462686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材料精读、方法拆解、最小输出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4608576"/>
            <a:ext cx="777240" cy="274320"/>
          </a:xfrm>
          <a:prstGeom prst="roundRect">
            <a:avLst/>
          </a:prstGeom>
          <a:solidFill>
            <a:srgbClr val="4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65886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Noto Sans CJK SC"/>
              </a:rPr>
              <a:t>周末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4553712"/>
            <a:ext cx="5029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16168" y="4700016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Weekly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5010912"/>
            <a:ext cx="462686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归档复盘、能力画像、下周节奏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04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产品不是 Todo App，而是周期性行动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它替用户完成“启动前判断”，再把执行结果写回下一轮。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6276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20370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14600"/>
            <a:ext cx="1225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目标 / 计划 / 偏好 / 时间预算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4688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2057400"/>
            <a:ext cx="16276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20370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514600"/>
            <a:ext cx="1225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判断今天最该进入哪类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24688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057400"/>
            <a:ext cx="16276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20370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514600"/>
            <a:ext cx="1225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拆成 30/60/90 分钟任务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4688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057400"/>
            <a:ext cx="16276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20370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514600"/>
            <a:ext cx="1225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材料源、公开源、历史记录、LLM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4696" y="24688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2057400"/>
            <a:ext cx="16276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220370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C57BE"/>
                </a:solidFill>
                <a:latin typeface="Noto Sans CJK SC"/>
              </a:rPr>
              <a:t>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2514600"/>
            <a:ext cx="1225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结构化工作区与完成标准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24688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2057400"/>
            <a:ext cx="1627632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13848" y="220370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F4F4F"/>
                </a:solidFill>
                <a:latin typeface="Noto Sans CJK SC"/>
              </a:rPr>
              <a:t>反馈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3848" y="2514600"/>
            <a:ext cx="12252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Check-in、归档、History、下一步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16052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4306824"/>
            <a:ext cx="4535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F4F4F"/>
                </a:solidFill>
                <a:latin typeface="Noto Sans CJK SC"/>
              </a:rPr>
              <a:t>Todo App 的缺口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4617720"/>
            <a:ext cx="45354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用户自己定义所有任务；主要记录完成；不理解材料、方向和外部要求。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16052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306824"/>
            <a:ext cx="4535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Orbit Engine 的价值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4617720"/>
            <a:ext cx="45354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发现值得做的事，组织一次可执行 session，沉淀洞察并影响下一轮。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05 · SESSION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四类会话覆盖长期能力建设的关键动作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同一套 BaseSession / Skill 抽象，只替换领域、材料源和生成逻辑。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10512"/>
            <a:ext cx="24231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gnal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50876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6118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5BB7"/>
                </a:solidFill>
                <a:latin typeface="Noto Sans CJK SC"/>
              </a:rPr>
              <a:t>Signal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05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6574"/>
                </a:solidFill>
                <a:latin typeface="Noto Sans CJK SC"/>
              </a:rPr>
              <a:t>扫描外部信号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810512"/>
            <a:ext cx="24231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ep-d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1965960"/>
            <a:ext cx="1508760" cy="1508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30168" y="36118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8DA6"/>
                </a:solidFill>
                <a:latin typeface="Noto Sans CJK SC"/>
              </a:rPr>
              <a:t>Deep Dive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4005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6574"/>
                </a:solidFill>
                <a:latin typeface="Noto Sans CJK SC"/>
              </a:rPr>
              <a:t>深度处理材料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810512"/>
            <a:ext cx="24231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opportunity-align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1965960"/>
            <a:ext cx="1508760" cy="1508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3096" y="36118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F7A36"/>
                </a:solidFill>
                <a:latin typeface="Noto Sans CJK SC"/>
              </a:rPr>
              <a:t>Opportunity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005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6574"/>
                </a:solidFill>
                <a:latin typeface="Noto Sans CJK SC"/>
              </a:rPr>
              <a:t>对齐外部要求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1810512"/>
            <a:ext cx="24231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eekly-st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1965960"/>
            <a:ext cx="1508760" cy="1508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6024" y="36118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1845B"/>
                </a:solidFill>
                <a:latin typeface="Noto Sans CJK SC"/>
              </a:rPr>
              <a:t>Weekly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4005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E6574"/>
                </a:solidFill>
                <a:latin typeface="Noto Sans CJK SC"/>
              </a:rPr>
              <a:t>归档复盘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06 · DEMO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当前最强可演示闭环：Deep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把用户计划、材料源、任务规划、Agent 草稿和 History 连成一条可验证链路。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20823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31719"/>
            <a:ext cx="11978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按日期/手动选择进入 Deep 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23317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1874519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020823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331719"/>
            <a:ext cx="11978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显示进行中/未完成与新建入口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3317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1874519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020823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331719"/>
            <a:ext cx="11978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读取 MaterialSource 与推荐理由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23317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874519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020823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331719"/>
            <a:ext cx="11978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生成完成标准与 Check-in 草稿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3317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1874519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2020823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C57BE"/>
                </a:solidFill>
                <a:latin typeface="Noto Sans CJK SC"/>
              </a:rPr>
              <a:t>Check-in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2331719"/>
            <a:ext cx="11978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用户修改后确认归档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3317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574"/>
                </a:solidFill>
                <a:latin typeface="Noto Sans CJK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874519"/>
            <a:ext cx="1600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13848" y="2020823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F4F4F"/>
                </a:solidFill>
                <a:latin typeface="Noto Sans CJK SC"/>
              </a:rPr>
              <a:t>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3848" y="2331719"/>
            <a:ext cx="11978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保存状态、时间戳、洞察与下一步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4297680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443984"/>
            <a:ext cx="9564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可验证证据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754880"/>
            <a:ext cx="9564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session status、saved check-in timestamp、source/material reference、History record；不需要手动改数据库。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07 · PRODUCT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移动端产品形态已经跑通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截图来自当前仓库中的 mobile Web / iOS-style demo；原生 iOS 链路正在迁移同一后端能力。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91640"/>
            <a:ext cx="1457324" cy="4142231"/>
          </a:xfrm>
          <a:prstGeom prst="roundRect">
            <a:avLst/>
          </a:prstGeom>
          <a:solidFill>
            <a:srgbClr val="1C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y3_four_session_mapping_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773936"/>
            <a:ext cx="1292733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888735"/>
            <a:ext cx="16584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574"/>
                </a:solidFill>
                <a:latin typeface="Noto Sans CJK SC"/>
              </a:rPr>
              <a:t>四类 Session /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457324" cy="4142231"/>
          </a:xfrm>
          <a:prstGeom prst="roundRect">
            <a:avLst/>
          </a:prstGeom>
          <a:solidFill>
            <a:srgbClr val="1C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y4_deep_dive_queue_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1773936"/>
            <a:ext cx="1292733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4760" y="5888735"/>
            <a:ext cx="16584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574"/>
                </a:solidFill>
                <a:latin typeface="Noto Sans CJK SC"/>
              </a:rPr>
              <a:t>Deep Dive 队列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691640"/>
            <a:ext cx="1457324" cy="4142231"/>
          </a:xfrm>
          <a:prstGeom prst="roundRect">
            <a:avLst/>
          </a:prstGeom>
          <a:solidFill>
            <a:srgbClr val="1C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y4_deep_dive_queue_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1773936"/>
            <a:ext cx="1292733" cy="39776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0840" y="5888735"/>
            <a:ext cx="16584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574"/>
                </a:solidFill>
                <a:latin typeface="Noto Sans CJK SC"/>
              </a:rPr>
              <a:t>材料与计划上下文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874519"/>
            <a:ext cx="1828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48088" y="2020823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331719"/>
            <a:ext cx="1426464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Web 已验证闭环
FastAPI 承载动作层
iOS 复用同一 API
录屏路径以最终主端为准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08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可替换、可复用的 Agent 应用架构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前端只消费结构化 JSON；后端负责节奏、材料、会话、打卡和历史。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377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29384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40280"/>
            <a:ext cx="1975104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Mobile Web demo
SwiftUI iOS prototype
Today / History / Plan / 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783080"/>
            <a:ext cx="2377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7" y="1929384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Session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7" y="2240280"/>
            <a:ext cx="1975104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Weekly Coordinator
BaseSession
Session queue + completion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2377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9384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Agent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40280"/>
            <a:ext cx="1975104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Research Feeder
Tech Radar
JD / Opportunity Agent
Chat / Guidance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783080"/>
            <a:ext cx="2377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7" y="1929384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Data &amp;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7" y="2240280"/>
            <a:ext cx="1975104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SQLite local store
MaterialSource
UserContext / Plan
Check-ins /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3212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02C"/>
                </a:solidFill>
                <a:latin typeface="Noto Sans CJK SC"/>
              </a:rPr>
              <a:t>关键设计：Deep Dive 不绑定单一论文平台，而是通过 MaterialSource 接入用户登记材料、公开 URL、论文平台、repo 或 fallback demo material。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09 · DATA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数据来源透明，能力边界清晰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学习辅助工具，不替代教育评价、职业决策或外部动作。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29384"/>
            <a:ext cx="4581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材料来源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40280"/>
            <a:ext cx="45811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用户登记 PDF metadata / URL / 手动材料卡；公开材料源；arXiv 只是可选 public source 示例。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29384"/>
            <a:ext cx="4581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本地数据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5811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用户上下文、计划、偏好、材料 metadata 和 check-in 当前保存在本地 SQLite。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529584"/>
            <a:ext cx="4581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模型边界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840480"/>
            <a:ext cx="45811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LLM 用于结构化分析、推荐理由和草稿生成；用户确认后才写入 History。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529584"/>
            <a:ext cx="4581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风险控制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40480"/>
            <a:ext cx="458114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不自动投递、不自动提交、不替用户做职业选择；fallback/demo source 明确标注。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10 · REUSABLE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不是单场景 demo，而是一套可迁移模板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迁移的是领域配置；不变的是四类任务模式和闭环结构。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691640"/>
          <a:ext cx="113842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7239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领域</a:t>
                      </a:r>
                    </a:p>
                  </a:txBody>
                  <a:tcPr>
                    <a:solidFill>
                      <a:srgbClr val="1C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Radar</a:t>
                      </a:r>
                    </a:p>
                  </a:txBody>
                  <a:tcPr>
                    <a:solidFill>
                      <a:srgbClr val="1C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Deep Dive</a:t>
                      </a:r>
                    </a:p>
                  </a:txBody>
                  <a:tcPr>
                    <a:solidFill>
                      <a:srgbClr val="1C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Opportunity</a:t>
                      </a:r>
                    </a:p>
                  </a:txBody>
                  <a:tcPr>
                    <a:solidFill>
                      <a:srgbClr val="1C20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Weekly Studio</a:t>
                      </a:r>
                    </a:p>
                  </a:txBody>
                  <a:tcPr>
                    <a:solidFill>
                      <a:srgbClr val="1C202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职业能力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技术/产品动态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论文/repo 精读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岗位/比赛/能力差距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能力档案与下周任务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研究探索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最新论文/benchmark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方法拆解/复现判断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CFP/open problem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方向判断与材料归档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创作者/IP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平台趋势/视觉参考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案例拆解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用户反馈/内容机会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选题库和发布复盘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产品创业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行业/竞品信号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案例/报告精读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需求/市场机会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假设、证据和下一步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语言学习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考试/材料更新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文章/听力精练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目标场景要求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C202C"/>
                          </a:solidFill>
                          <a:latin typeface="Noto Sans CJK SC"/>
                        </a:defRPr>
                      </a:pPr>
                      <a:r>
                        <a:t>词汇、错题和复习计划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25BB7"/>
                </a:solidFill>
                <a:latin typeface="Noto Sans CJK SC"/>
              </a:rPr>
              <a:t>11 · PROGRESS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202C"/>
                </a:solidFill>
                <a:latin typeface="Noto Sans CJK SC"/>
              </a:rPr>
              <a:t>当前开发进度与提交前路径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97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E6574"/>
                </a:solidFill>
                <a:latin typeface="Noto Sans CJK SC"/>
              </a:rPr>
              <a:t>不夸大完成度：已跑通主闭环，非主链路作为轻量模板展示。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155680" cy="9144"/>
          </a:xfrm>
          <a:prstGeom prst="rect">
            <a:avLst/>
          </a:prstGeom>
          <a:solidFill>
            <a:srgbClr val="DD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1845B"/>
                </a:solidFill>
                <a:latin typeface="Noto Sans CJK SC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3026664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FastAPI session / check-in / history
Weekly Coordinator / BaseSession
MaterialSource + UserContext
mobile Web closed loop
四类 session 入口与模板
SwiftUI iOS prototype 基线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83664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7A36"/>
                </a:solidFill>
                <a:latin typeface="Noto Sans CJK SC"/>
              </a:rPr>
              <a:t>进行中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194560"/>
            <a:ext cx="3026664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iOS 接入 GOAI backend
Deep Dive 队列与归档体验
Agent Guidance 草稿链路
README / runbook
proposal 与 60-90 秒视频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73736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7" y="1883664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5BB7"/>
                </a:solidFill>
                <a:latin typeface="Noto Sans CJK SC"/>
              </a:rPr>
              <a:t>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7" y="2194560"/>
            <a:ext cx="3026664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冻结主录屏路径
补齐轻量 Radar / Weekly Studio / Opportunity 展示
完善 public source adapter
开放模板配置与开源文档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50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02C"/>
                </a:solidFill>
                <a:latin typeface="Noto Sans CJK SC"/>
              </a:rPr>
              <a:t>目标：在 8/16 前提交一个能被复现、能被录屏、能证明长期使用价值的 Boundless Agents 应用原型。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5BB7"/>
                </a:solidFill>
                <a:latin typeface="Noto Sans CJK SC"/>
              </a:rPr>
              <a:t>VALUE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C202C"/>
                </a:solidFill>
                <a:latin typeface="Noto Sans CJK SC"/>
              </a:rPr>
              <a:t>圆周引擎让专业成长从“临时搜索”变成“周期行动”。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202C"/>
                </a:solidFill>
                <a:latin typeface="Noto Sans CJK SC"/>
              </a:defRPr>
            </a:pPr>
            <a:r>
              <a:t>• 降低启动成本：今天该做什么由节奏与上下文共同决定。</a:t>
            </a:r>
          </a:p>
          <a:p>
            <a:pPr>
              <a:spcAft>
                <a:spcPts val="600"/>
              </a:spcAft>
              <a:defRPr sz="1400">
                <a:solidFill>
                  <a:srgbClr val="1C202C"/>
                </a:solidFill>
                <a:latin typeface="Noto Sans CJK SC"/>
              </a:defRPr>
            </a:pPr>
            <a:r>
              <a:t>• 提升执行质量：每次 session 都有材料、目标、时间预算和完成标准。</a:t>
            </a:r>
          </a:p>
          <a:p>
            <a:pPr>
              <a:spcAft>
                <a:spcPts val="600"/>
              </a:spcAft>
              <a:defRPr sz="1400">
                <a:solidFill>
                  <a:srgbClr val="1C202C"/>
                </a:solidFill>
                <a:latin typeface="Noto Sans CJK SC"/>
              </a:defRPr>
            </a:pPr>
            <a:r>
              <a:t>• 形成长期证据：check-in、History 和能力画像反哺下一轮。</a:t>
            </a:r>
          </a:p>
          <a:p>
            <a:pPr>
              <a:spcAft>
                <a:spcPts val="600"/>
              </a:spcAft>
              <a:defRPr sz="1400">
                <a:solidFill>
                  <a:srgbClr val="1C202C"/>
                </a:solidFill>
                <a:latin typeface="Noto Sans CJK SC"/>
              </a:defRPr>
            </a:pPr>
            <a:r>
              <a:t>• 具备行业复用性：四类 session 可迁移到教育、研究、创作和产品探索。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691640"/>
            <a:ext cx="3017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3608" y="1837944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8DA6"/>
                </a:solidFill>
                <a:latin typeface="Noto Sans CJK SC"/>
              </a:rPr>
              <a:t>一句话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93608" y="2148840"/>
            <a:ext cx="261518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02C"/>
                </a:solidFill>
                <a:latin typeface="Noto Sans CJK SC"/>
              </a:rPr>
              <a:t>A closed-loop Agent for recurring vocational capability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574"/>
                </a:solidFill>
                <a:latin typeface="Noto Sans CJK S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