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21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8" r:id="rId18"/>
  </p:sldIdLst>
  <p:sldSz cx="18288000" cy="10287000"/>
  <p:notesSz cx="6858000" cy="9144000"/>
  <p:embeddedFontLst>
    <p:embeddedFont>
      <p:font typeface="Open Sauce" panose="02010600030101010101" charset="0"/>
      <p:regular r:id="rId22"/>
    </p:embeddedFont>
    <p:embeddedFont>
      <p:font typeface="Open Sauce Bold" panose="02010600030101010101" charset="0"/>
      <p:regular r:id="rId23"/>
    </p:embeddedFont>
    <p:embeddedFont>
      <p:font typeface="TAN Mon Cheri" panose="02010600030101010101" charset="0"/>
      <p:regular r:id="rId24"/>
    </p:embeddedFont>
    <p:embeddedFont>
      <p:font typeface="TT Commons Pro" panose="02010600030101010101" charset="0"/>
      <p:regular r:id="rId25"/>
    </p:embeddedFont>
    <p:embeddedFont>
      <p:font typeface="TT Commons Pro Bold" panose="02010600030101010101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652" y="12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0.sv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slide" Target="slide6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0.sv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0.sv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slide" Target="slide10.xml"/><Relationship Id="rId4" Type="http://schemas.openxmlformats.org/officeDocument/2006/relationships/image" Target="../media/image24.png"/><Relationship Id="rId3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10.sv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svg"/><Relationship Id="rId2" Type="http://schemas.openxmlformats.org/officeDocument/2006/relationships/image" Target="../media/image36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6.png"/><Relationship Id="rId10" Type="http://schemas.openxmlformats.org/officeDocument/2006/relationships/image" Target="../media/image46.svg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47.png"/><Relationship Id="rId3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lowing gradient brush stroke"/>
          <p:cNvSpPr/>
          <p:nvPr/>
        </p:nvSpPr>
        <p:spPr>
          <a:xfrm rot="337666">
            <a:off x="-1883592" y="534262"/>
            <a:ext cx="18447884" cy="15081145"/>
          </a:xfrm>
          <a:custGeom>
            <a:avLst/>
            <a:gdLst/>
            <a:ahLst/>
            <a:cxnLst/>
            <a:rect l="l" t="t" r="r" b="b"/>
            <a:pathLst>
              <a:path w="18447884" h="15081145">
                <a:moveTo>
                  <a:pt x="0" y="0"/>
                </a:moveTo>
                <a:lnTo>
                  <a:pt x="18447883" y="0"/>
                </a:lnTo>
                <a:lnTo>
                  <a:pt x="18447883" y="15081145"/>
                </a:lnTo>
                <a:lnTo>
                  <a:pt x="0" y="1508114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3213364" cy="762000"/>
            <a:chOff x="0" y="0"/>
            <a:chExt cx="4284485" cy="1016000"/>
          </a:xfrm>
        </p:grpSpPr>
        <p:sp>
          <p:nvSpPr>
            <p:cNvPr id="4" name="TextBox 4"/>
            <p:cNvSpPr txBox="1"/>
            <p:nvPr/>
          </p:nvSpPr>
          <p:spPr>
            <a:xfrm>
              <a:off x="1189604" y="0"/>
              <a:ext cx="3094881" cy="1016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Whimson</a:t>
              </a:r>
              <a:endPara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International, Inc.</a:t>
              </a:r>
              <a:endPara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189751"/>
              <a:ext cx="944010" cy="710582"/>
            </a:xfrm>
            <a:custGeom>
              <a:avLst/>
              <a:gdLst/>
              <a:ahLst/>
              <a:cxnLst/>
              <a:rect l="l" t="t" r="r" b="b"/>
              <a:pathLst>
                <a:path w="944010" h="710582">
                  <a:moveTo>
                    <a:pt x="0" y="0"/>
                  </a:moveTo>
                  <a:lnTo>
                    <a:pt x="944010" y="0"/>
                  </a:lnTo>
                  <a:lnTo>
                    <a:pt x="944010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3069924"/>
            <a:ext cx="13518572" cy="3577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9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DIVERSITY IN</a:t>
            </a:r>
            <a:endParaRPr lang="en-US" sz="960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algn="l">
              <a:lnSpc>
                <a:spcPts val="14400"/>
              </a:lnSpc>
            </a:pPr>
            <a:r>
              <a:rPr lang="en-US" sz="9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THE DIGITAL AGE</a:t>
            </a:r>
            <a:endParaRPr lang="en-US" sz="960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7754802"/>
            <a:ext cx="9156891" cy="61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Ensuring diversity in the virtual workplace</a:t>
            </a:r>
            <a:endParaRPr lang="en-US" sz="36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66076" y="949325"/>
            <a:ext cx="2865831" cy="86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March 1, 2030</a:t>
            </a:r>
            <a:endParaRPr lang="en-US" sz="2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2:00 P.M.</a:t>
            </a:r>
            <a:endParaRPr lang="en-US" sz="2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982214" y="949325"/>
            <a:ext cx="3802205" cy="86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Whimson International, Inc. Virtual Room</a:t>
            </a:r>
            <a:endParaRPr lang="en-US" sz="2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2982214" y="7831002"/>
            <a:ext cx="3802205" cy="1427298"/>
            <a:chOff x="0" y="0"/>
            <a:chExt cx="5069606" cy="190306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5069606" cy="550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b="1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Larissa Charter</a:t>
              </a:r>
              <a:endParaRPr lang="en-US" sz="25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65355"/>
              <a:ext cx="5069606" cy="1137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VP of Human Resources</a:t>
              </a:r>
              <a:endPara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Zenith Central Bank</a:t>
              </a:r>
              <a:endPara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8923655"/>
            <a:ext cx="4355057" cy="334645"/>
            <a:chOff x="0" y="0"/>
            <a:chExt cx="5806743" cy="446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193" cy="446193"/>
            </a:xfrm>
            <a:custGeom>
              <a:avLst/>
              <a:gdLst/>
              <a:ahLst/>
              <a:cxnLst/>
              <a:rect l="l" t="t" r="r" b="b"/>
              <a:pathLst>
                <a:path w="446193" h="446193">
                  <a:moveTo>
                    <a:pt x="0" y="0"/>
                  </a:moveTo>
                  <a:lnTo>
                    <a:pt x="446193" y="0"/>
                  </a:lnTo>
                  <a:lnTo>
                    <a:pt x="446193" y="446193"/>
                  </a:lnTo>
                  <a:lnTo>
                    <a:pt x="0" y="446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698574" y="-38100"/>
              <a:ext cx="5108169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Audio descriptions available.</a:t>
              </a:r>
              <a:endParaRPr lang="en-US" sz="2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E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lowing gradient brush stroke"/>
          <p:cNvSpPr/>
          <p:nvPr/>
        </p:nvSpPr>
        <p:spPr>
          <a:xfrm>
            <a:off x="-6410564" y="1709417"/>
            <a:ext cx="15350424" cy="15350424"/>
          </a:xfrm>
          <a:custGeom>
            <a:avLst/>
            <a:gdLst/>
            <a:ahLst/>
            <a:cxnLst/>
            <a:rect l="l" t="t" r="r" b="b"/>
            <a:pathLst>
              <a:path w="15350424" h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 rounded gradient shape"/>
          <p:cNvSpPr/>
          <p:nvPr/>
        </p:nvSpPr>
        <p:spPr>
          <a:xfrm>
            <a:off x="10019297" y="2580019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 rounded gradient shape"/>
          <p:cNvSpPr/>
          <p:nvPr/>
        </p:nvSpPr>
        <p:spPr>
          <a:xfrm>
            <a:off x="10019297" y="4365875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a rounded gradient shape"/>
          <p:cNvSpPr/>
          <p:nvPr/>
        </p:nvSpPr>
        <p:spPr>
          <a:xfrm>
            <a:off x="10019297" y="6461688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8"/>
                </a:lnTo>
                <a:lnTo>
                  <a:pt x="0" y="10642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2627467"/>
            <a:ext cx="7324149" cy="4442623"/>
            <a:chOff x="0" y="0"/>
            <a:chExt cx="9765532" cy="5923498"/>
          </a:xfrm>
        </p:grpSpPr>
        <p:sp>
          <p:nvSpPr>
            <p:cNvPr id="7" name="TextBox 7"/>
            <p:cNvSpPr txBox="1"/>
            <p:nvPr/>
          </p:nvSpPr>
          <p:spPr>
            <a:xfrm>
              <a:off x="0" y="-209550"/>
              <a:ext cx="9765532" cy="3484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WORKSHOP REMINDERS</a:t>
              </a:r>
              <a:endParaRPr lang="en-US" sz="72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668189"/>
              <a:ext cx="9765532" cy="2255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While waiting for others to come in, here are some rules and reminders to keep in mind.</a:t>
              </a:r>
              <a:endPara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05100" y="2608756"/>
            <a:ext cx="5854200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Please mute your microphone unless asked a question.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05100" y="4635517"/>
            <a:ext cx="5854200" cy="48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Turn on your cameras.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405100" y="6244497"/>
            <a:ext cx="5854200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Questions sent via the chatroom will be answered after each workshop segment.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2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0E0">
                <a:alpha val="100000"/>
              </a:srgbClr>
            </a:gs>
            <a:gs pos="50000">
              <a:srgbClr val="C6A4BF">
                <a:alpha val="55000"/>
              </a:srgbClr>
            </a:gs>
            <a:gs pos="100000">
              <a:srgbClr val="EAA86B">
                <a:alpha val="55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8071289" y="5972175"/>
          <a:ext cx="9188011" cy="3286125"/>
        </p:xfrm>
        <a:graphic>
          <a:graphicData uri="http://schemas.openxmlformats.org/drawingml/2006/table">
            <a:tbl>
              <a:tblPr/>
              <a:tblGrid>
                <a:gridCol w="9188011"/>
              </a:tblGrid>
              <a:tr h="657225">
                <a:tc>
                  <a:txBody>
                    <a:bodyPr/>
                    <a:lstStyle/>
                    <a:p>
                      <a:pPr marL="647700" lvl="1" indent="-323850" algn="just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T Commons Pro"/>
                          <a:ea typeface="TT Commons Pro"/>
                          <a:cs typeface="TT Commons Pro"/>
                          <a:sym typeface="TT Commons Pro"/>
                        </a:rPr>
                        <a:t>What is diversity? 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647700" lvl="1" indent="-323850" algn="just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T Commons Pro"/>
                          <a:ea typeface="TT Commons Pro"/>
                          <a:cs typeface="TT Commons Pro"/>
                          <a:sym typeface="TT Commons Pro"/>
                        </a:rPr>
                        <a:t>Benefits of workplace diversity.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647700" lvl="1" indent="-323850" algn="just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T Commons Pro"/>
                          <a:ea typeface="TT Commons Pro"/>
                          <a:cs typeface="TT Commons Pro"/>
                          <a:sym typeface="TT Commons Pro"/>
                        </a:rPr>
                        <a:t>The difference between diversity and inclusion.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647700" lvl="1" indent="-323850" algn="just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T Commons Pro"/>
                          <a:ea typeface="TT Commons Pro"/>
                          <a:cs typeface="TT Commons Pro"/>
                          <a:sym typeface="TT Commons Pro"/>
                        </a:rPr>
                        <a:t>Diversity and inclusion in virtual workplaces.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647700" lvl="1" indent="-323850" algn="just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T Commons Pro"/>
                          <a:ea typeface="TT Commons Pro"/>
                          <a:cs typeface="TT Commons Pro"/>
                          <a:sym typeface="TT Commons Pro"/>
                        </a:rPr>
                        <a:t>How diversity and inclusion drive company growth.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Freeform 3" descr="a glowing gradient brush stroke "/>
          <p:cNvSpPr/>
          <p:nvPr/>
        </p:nvSpPr>
        <p:spPr>
          <a:xfrm rot="9007576">
            <a:off x="-3718518" y="1253058"/>
            <a:ext cx="10624840" cy="12724359"/>
          </a:xfrm>
          <a:custGeom>
            <a:avLst/>
            <a:gdLst/>
            <a:ahLst/>
            <a:cxnLst/>
            <a:rect l="l" t="t" r="r" b="b"/>
            <a:pathLst>
              <a:path w="10624840" h="12724359">
                <a:moveTo>
                  <a:pt x="0" y="0"/>
                </a:moveTo>
                <a:lnTo>
                  <a:pt x="10624840" y="0"/>
                </a:lnTo>
                <a:lnTo>
                  <a:pt x="10624840" y="12724359"/>
                </a:lnTo>
                <a:lnTo>
                  <a:pt x="0" y="127243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5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40775"/>
            <a:ext cx="8115300" cy="3190299"/>
            <a:chOff x="0" y="0"/>
            <a:chExt cx="10820400" cy="4253732"/>
          </a:xfrm>
        </p:grpSpPr>
        <p:sp>
          <p:nvSpPr>
            <p:cNvPr id="5" name="TextBox 5"/>
            <p:cNvSpPr txBox="1"/>
            <p:nvPr/>
          </p:nvSpPr>
          <p:spPr>
            <a:xfrm>
              <a:off x="0" y="-209550"/>
              <a:ext cx="10820400" cy="3484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WORKSHOP STRUCTURE</a:t>
              </a:r>
              <a:endParaRPr lang="en-US" sz="72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22424"/>
              <a:ext cx="10820400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Our agenda this morning</a:t>
              </a:r>
              <a:endPara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3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lowing gradient brush stroke "/>
          <p:cNvSpPr/>
          <p:nvPr/>
        </p:nvSpPr>
        <p:spPr>
          <a:xfrm>
            <a:off x="-7160776" y="1538136"/>
            <a:ext cx="15350424" cy="15350424"/>
          </a:xfrm>
          <a:custGeom>
            <a:avLst/>
            <a:gdLst/>
            <a:ahLst/>
            <a:cxnLst/>
            <a:rect l="l" t="t" r="r" b="b"/>
            <a:pathLst>
              <a:path w="15350424" h="15350424">
                <a:moveTo>
                  <a:pt x="0" y="0"/>
                </a:moveTo>
                <a:lnTo>
                  <a:pt x="15350425" y="0"/>
                </a:lnTo>
                <a:lnTo>
                  <a:pt x="15350425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538136"/>
            <a:ext cx="6985590" cy="6985590"/>
            <a:chOff x="0" y="0"/>
            <a:chExt cx="6350000" cy="6350000"/>
          </a:xfrm>
        </p:grpSpPr>
        <p:sp>
          <p:nvSpPr>
            <p:cNvPr id="4" name="Freeform 4" descr="a white circle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92559" y="2202006"/>
            <a:ext cx="5657873" cy="5657850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</p:sp>
      </p:grpSp>
      <p:sp>
        <p:nvSpPr>
          <p:cNvPr id="7" name="Freeform 7" descr="a glowing gradient brush stroke "/>
          <p:cNvSpPr/>
          <p:nvPr/>
        </p:nvSpPr>
        <p:spPr>
          <a:xfrm rot="437564">
            <a:off x="12315158" y="-774065"/>
            <a:ext cx="14184276" cy="14660750"/>
          </a:xfrm>
          <a:custGeom>
            <a:avLst/>
            <a:gdLst/>
            <a:ahLst/>
            <a:cxnLst/>
            <a:rect l="l" t="t" r="r" b="b"/>
            <a:pathLst>
              <a:path w="14184276" h="14660750">
                <a:moveTo>
                  <a:pt x="0" y="0"/>
                </a:moveTo>
                <a:lnTo>
                  <a:pt x="14184276" y="0"/>
                </a:lnTo>
                <a:lnTo>
                  <a:pt x="14184276" y="14660750"/>
                </a:lnTo>
                <a:lnTo>
                  <a:pt x="0" y="14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5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4000" y="1403832"/>
            <a:ext cx="6983050" cy="529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ABOUT ME</a:t>
            </a:r>
            <a:endParaRPr lang="en-US" sz="3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0" y="2280129"/>
            <a:ext cx="6983050" cy="254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 have almost 30 years of experience in the HR industry.</a:t>
            </a:r>
            <a:endParaRPr lang="en-US" sz="56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0" y="7080902"/>
            <a:ext cx="6983050" cy="156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With Canva Presentations, you can collaborate in real-time with your teammates or co-presenters. Share tasks and work simultaneously to create a powerful presentation.</a:t>
            </a:r>
            <a:endParaRPr lang="en-US" sz="24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0" y="5189547"/>
            <a:ext cx="6983050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 have seen companies succeed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and fail due to how they approached workplace diversity.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4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lowing gradient brush stroke"/>
          <p:cNvSpPr/>
          <p:nvPr/>
        </p:nvSpPr>
        <p:spPr>
          <a:xfrm>
            <a:off x="4867345" y="866845"/>
            <a:ext cx="8553310" cy="8553310"/>
          </a:xfrm>
          <a:custGeom>
            <a:avLst/>
            <a:gdLst/>
            <a:ahLst/>
            <a:cxnLst/>
            <a:rect l="l" t="t" r="r" b="b"/>
            <a:pathLst>
              <a:path w="8553310" h="8553310">
                <a:moveTo>
                  <a:pt x="0" y="0"/>
                </a:moveTo>
                <a:lnTo>
                  <a:pt x="8553310" y="0"/>
                </a:lnTo>
                <a:lnTo>
                  <a:pt x="8553310" y="8553310"/>
                </a:lnTo>
                <a:lnTo>
                  <a:pt x="0" y="85533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244769">
            <a:off x="11385072" y="-5383377"/>
            <a:ext cx="12326388" cy="12824155"/>
          </a:xfrm>
          <a:custGeom>
            <a:avLst/>
            <a:gdLst/>
            <a:ahLst/>
            <a:cxnLst/>
            <a:rect l="l" t="t" r="r" b="b"/>
            <a:pathLst>
              <a:path w="12326388" h="12824155">
                <a:moveTo>
                  <a:pt x="0" y="0"/>
                </a:moveTo>
                <a:lnTo>
                  <a:pt x="12326387" y="0"/>
                </a:lnTo>
                <a:lnTo>
                  <a:pt x="12326387" y="12824154"/>
                </a:lnTo>
                <a:lnTo>
                  <a:pt x="0" y="12824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r="-328"/>
            </a:stretch>
          </a:blipFill>
        </p:spPr>
      </p:sp>
      <p:sp>
        <p:nvSpPr>
          <p:cNvPr id="4" name="Freeform 4"/>
          <p:cNvSpPr/>
          <p:nvPr/>
        </p:nvSpPr>
        <p:spPr>
          <a:xfrm rot="1162109">
            <a:off x="-8960293" y="4130359"/>
            <a:ext cx="15657358" cy="11677597"/>
          </a:xfrm>
          <a:custGeom>
            <a:avLst/>
            <a:gdLst/>
            <a:ahLst/>
            <a:cxnLst/>
            <a:rect l="l" t="t" r="r" b="b"/>
            <a:pathLst>
              <a:path w="15657358" h="11677597">
                <a:moveTo>
                  <a:pt x="0" y="0"/>
                </a:moveTo>
                <a:lnTo>
                  <a:pt x="15657358" y="0"/>
                </a:lnTo>
                <a:lnTo>
                  <a:pt x="15657358" y="11677597"/>
                </a:lnTo>
                <a:lnTo>
                  <a:pt x="0" y="116775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35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92888" y="7783475"/>
            <a:ext cx="2496421" cy="829168"/>
            <a:chOff x="0" y="0"/>
            <a:chExt cx="812800" cy="269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69966"/>
            </a:xfrm>
            <a:custGeom>
              <a:avLst/>
              <a:gdLst/>
              <a:ahLst/>
              <a:cxnLst/>
              <a:rect l="l" t="t" r="r" b="b"/>
              <a:pathLst>
                <a:path w="812800" h="269966">
                  <a:moveTo>
                    <a:pt x="134983" y="0"/>
                  </a:moveTo>
                  <a:lnTo>
                    <a:pt x="677817" y="0"/>
                  </a:lnTo>
                  <a:cubicBezTo>
                    <a:pt x="713617" y="0"/>
                    <a:pt x="747950" y="14221"/>
                    <a:pt x="773264" y="39536"/>
                  </a:cubicBezTo>
                  <a:cubicBezTo>
                    <a:pt x="798579" y="64850"/>
                    <a:pt x="812800" y="99183"/>
                    <a:pt x="812800" y="134983"/>
                  </a:cubicBezTo>
                  <a:lnTo>
                    <a:pt x="812800" y="134983"/>
                  </a:lnTo>
                  <a:cubicBezTo>
                    <a:pt x="812800" y="209532"/>
                    <a:pt x="752366" y="269966"/>
                    <a:pt x="677817" y="269966"/>
                  </a:cubicBezTo>
                  <a:lnTo>
                    <a:pt x="134983" y="269966"/>
                  </a:lnTo>
                  <a:cubicBezTo>
                    <a:pt x="99183" y="269966"/>
                    <a:pt x="64850" y="255744"/>
                    <a:pt x="39536" y="230430"/>
                  </a:cubicBezTo>
                  <a:cubicBezTo>
                    <a:pt x="14221" y="205116"/>
                    <a:pt x="0" y="170782"/>
                    <a:pt x="0" y="134983"/>
                  </a:cubicBezTo>
                  <a:lnTo>
                    <a:pt x="0" y="134983"/>
                  </a:lnTo>
                  <a:cubicBezTo>
                    <a:pt x="0" y="99183"/>
                    <a:pt x="14221" y="64850"/>
                    <a:pt x="39536" y="39536"/>
                  </a:cubicBezTo>
                  <a:cubicBezTo>
                    <a:pt x="64850" y="14221"/>
                    <a:pt x="99183" y="0"/>
                    <a:pt x="134983" y="0"/>
                  </a:cubicBezTo>
                  <a:close/>
                </a:path>
              </a:pathLst>
            </a:custGeom>
            <a:solidFill>
              <a:srgbClr val="FFD0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812800" cy="279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dirty="0">
                  <a:latin typeface="TT Commons Pro"/>
                  <a:ea typeface="TT Commons Pro"/>
                  <a:cs typeface="TT Commons Pro"/>
                  <a:sym typeface="TT Commons Pro"/>
                  <a:hlinkClick r:id="rId5" action="ppaction://hlinksldjump"/>
                </a:rPr>
                <a:t>NEXT</a:t>
              </a:r>
              <a:endParaRPr lang="en-US" sz="2000" dirty="0">
                <a:latin typeface="TT Commons Pro"/>
                <a:ea typeface="TT Commons Pro"/>
                <a:cs typeface="TT Commons Pro"/>
                <a:sym typeface="TT Commons Pro"/>
                <a:hlinkClick r:id="rId5" action="ppaction://hlinksldjump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2220" y="1864483"/>
            <a:ext cx="6416870" cy="6560661"/>
            <a:chOff x="0" y="0"/>
            <a:chExt cx="4732153" cy="48381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2153" cy="4838192"/>
            </a:xfrm>
            <a:custGeom>
              <a:avLst/>
              <a:gdLst/>
              <a:ahLst/>
              <a:cxnLst/>
              <a:rect l="l" t="t" r="r" b="b"/>
              <a:pathLst>
                <a:path w="4732153" h="4838192">
                  <a:moveTo>
                    <a:pt x="4607693" y="4838192"/>
                  </a:moveTo>
                  <a:lnTo>
                    <a:pt x="124460" y="4838192"/>
                  </a:lnTo>
                  <a:cubicBezTo>
                    <a:pt x="55880" y="4838192"/>
                    <a:pt x="0" y="4782312"/>
                    <a:pt x="0" y="471373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07693" y="0"/>
                  </a:lnTo>
                  <a:cubicBezTo>
                    <a:pt x="4676273" y="0"/>
                    <a:pt x="4732153" y="55880"/>
                    <a:pt x="4732153" y="124460"/>
                  </a:cubicBezTo>
                  <a:lnTo>
                    <a:pt x="4732153" y="4713732"/>
                  </a:lnTo>
                  <a:cubicBezTo>
                    <a:pt x="4732153" y="4782312"/>
                    <a:pt x="4676273" y="4838192"/>
                    <a:pt x="4607693" y="4838192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2148" y="1735790"/>
            <a:ext cx="6837026" cy="681804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592888" y="2618498"/>
            <a:ext cx="5465439" cy="451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QUESTION ON DIVERSITY</a:t>
            </a:r>
            <a:endParaRPr lang="en-US" sz="24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92888" y="3343024"/>
            <a:ext cx="5834125" cy="3505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5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How do you feel about the current level of diversity in your workplace?</a:t>
            </a:r>
            <a:endParaRPr lang="en-US" sz="5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2675284" y="8303809"/>
            <a:ext cx="4872982" cy="954491"/>
            <a:chOff x="0" y="0"/>
            <a:chExt cx="5668394" cy="11102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68394" cy="1110292"/>
            </a:xfrm>
            <a:custGeom>
              <a:avLst/>
              <a:gdLst/>
              <a:ahLst/>
              <a:cxnLst/>
              <a:rect l="l" t="t" r="r" b="b"/>
              <a:pathLst>
                <a:path w="5668394" h="1110292">
                  <a:moveTo>
                    <a:pt x="47662" y="0"/>
                  </a:moveTo>
                  <a:lnTo>
                    <a:pt x="5620732" y="0"/>
                  </a:lnTo>
                  <a:cubicBezTo>
                    <a:pt x="5633373" y="0"/>
                    <a:pt x="5645496" y="5022"/>
                    <a:pt x="5654434" y="13960"/>
                  </a:cubicBezTo>
                  <a:cubicBezTo>
                    <a:pt x="5663373" y="22898"/>
                    <a:pt x="5668394" y="35021"/>
                    <a:pt x="5668394" y="47662"/>
                  </a:cubicBezTo>
                  <a:lnTo>
                    <a:pt x="5668394" y="1062629"/>
                  </a:lnTo>
                  <a:cubicBezTo>
                    <a:pt x="5668394" y="1075270"/>
                    <a:pt x="5663373" y="1087393"/>
                    <a:pt x="5654434" y="1096332"/>
                  </a:cubicBezTo>
                  <a:cubicBezTo>
                    <a:pt x="5645496" y="1105270"/>
                    <a:pt x="5633373" y="1110292"/>
                    <a:pt x="5620732" y="1110292"/>
                  </a:cubicBezTo>
                  <a:lnTo>
                    <a:pt x="47662" y="1110292"/>
                  </a:lnTo>
                  <a:cubicBezTo>
                    <a:pt x="35021" y="1110292"/>
                    <a:pt x="22898" y="1105270"/>
                    <a:pt x="13960" y="1096332"/>
                  </a:cubicBezTo>
                  <a:cubicBezTo>
                    <a:pt x="5022" y="1087393"/>
                    <a:pt x="0" y="1075270"/>
                    <a:pt x="0" y="1062629"/>
                  </a:cubicBezTo>
                  <a:lnTo>
                    <a:pt x="0" y="47662"/>
                  </a:lnTo>
                  <a:cubicBezTo>
                    <a:pt x="0" y="35021"/>
                    <a:pt x="5022" y="22898"/>
                    <a:pt x="13960" y="13960"/>
                  </a:cubicBezTo>
                  <a:cubicBezTo>
                    <a:pt x="22898" y="5022"/>
                    <a:pt x="35021" y="0"/>
                    <a:pt x="4766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668394" cy="11388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00F0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Tip: </a:t>
              </a:r>
              <a:r>
                <a:rPr lang="en-US" sz="1500">
                  <a:solidFill>
                    <a:srgbClr val="100F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Double-click to customize this poll or quiz, or go to the </a:t>
              </a:r>
              <a:r>
                <a:rPr lang="en-US" sz="1500" b="1">
                  <a:solidFill>
                    <a:srgbClr val="100F0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Elements Tab</a:t>
              </a:r>
              <a:r>
                <a:rPr lang="en-US" sz="1500">
                  <a:solidFill>
                    <a:srgbClr val="100F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for more options!</a:t>
              </a:r>
              <a:endParaRPr lang="en-US" sz="1500">
                <a:solidFill>
                  <a:srgbClr val="100F0D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6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lowing gradient brush stroke "/>
          <p:cNvSpPr/>
          <p:nvPr/>
        </p:nvSpPr>
        <p:spPr>
          <a:xfrm>
            <a:off x="7716471" y="652331"/>
            <a:ext cx="15350424" cy="15350424"/>
          </a:xfrm>
          <a:custGeom>
            <a:avLst/>
            <a:gdLst/>
            <a:ahLst/>
            <a:cxnLst/>
            <a:rect l="l" t="t" r="r" b="b"/>
            <a:pathLst>
              <a:path w="15350424" h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a pink and yellow glowing gradient brush stroke"/>
          <p:cNvSpPr/>
          <p:nvPr/>
        </p:nvSpPr>
        <p:spPr>
          <a:xfrm rot="-184428">
            <a:off x="-1695813" y="-1958370"/>
            <a:ext cx="13198362" cy="13198362"/>
          </a:xfrm>
          <a:custGeom>
            <a:avLst/>
            <a:gdLst/>
            <a:ahLst/>
            <a:cxnLst/>
            <a:rect l="l" t="t" r="r" b="b"/>
            <a:pathLst>
              <a:path w="13198362" h="13198362">
                <a:moveTo>
                  <a:pt x="0" y="0"/>
                </a:moveTo>
                <a:lnTo>
                  <a:pt x="13198362" y="0"/>
                </a:lnTo>
                <a:lnTo>
                  <a:pt x="13198362" y="13198361"/>
                </a:lnTo>
                <a:lnTo>
                  <a:pt x="0" y="13198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6839623"/>
            <a:ext cx="6687771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Present with ease and wow any audience with Canva Presentations. Choose from over a thousand professionally-made templates to fit any objective or topic. Make it your own by customizing it with text and photos. </a:t>
            </a:r>
            <a:endParaRPr lang="en-US" sz="24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490800"/>
            <a:ext cx="6687771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It means employing people from different walks of life. 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840895"/>
            <a:ext cx="9051364" cy="312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DIVERSITY</a:t>
            </a:r>
            <a:endParaRPr lang="en-US" sz="560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algn="l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REFERS TO YOUR WORKFORCE</a:t>
            </a:r>
            <a:endParaRPr lang="en-US" sz="560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7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pic>
        <p:nvPicPr>
          <p:cNvPr id="11" name="图片 10" descr="男人和女人在交谈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0" y="1875119"/>
            <a:ext cx="5096927" cy="6457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0E0">
                <a:alpha val="100000"/>
              </a:srgbClr>
            </a:gs>
            <a:gs pos="50000">
              <a:srgbClr val="C6A4BF">
                <a:alpha val="55000"/>
              </a:srgbClr>
            </a:gs>
            <a:gs pos="100000">
              <a:srgbClr val="EAA86B">
                <a:alpha val="55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29152"/>
            <a:ext cx="7226698" cy="7428696"/>
            <a:chOff x="0" y="0"/>
            <a:chExt cx="4052466" cy="41657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52466" cy="4165739"/>
            </a:xfrm>
            <a:custGeom>
              <a:avLst/>
              <a:gdLst/>
              <a:ahLst/>
              <a:cxnLst/>
              <a:rect l="l" t="t" r="r" b="b"/>
              <a:pathLst>
                <a:path w="4052466" h="4165739">
                  <a:moveTo>
                    <a:pt x="3928006" y="4165739"/>
                  </a:moveTo>
                  <a:lnTo>
                    <a:pt x="124460" y="4165739"/>
                  </a:lnTo>
                  <a:cubicBezTo>
                    <a:pt x="55880" y="4165739"/>
                    <a:pt x="0" y="4109859"/>
                    <a:pt x="0" y="404127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28006" y="0"/>
                  </a:lnTo>
                  <a:cubicBezTo>
                    <a:pt x="3996586" y="0"/>
                    <a:pt x="4052466" y="55880"/>
                    <a:pt x="4052466" y="124460"/>
                  </a:cubicBezTo>
                  <a:lnTo>
                    <a:pt x="4052466" y="4041279"/>
                  </a:lnTo>
                  <a:cubicBezTo>
                    <a:pt x="4052466" y="4109859"/>
                    <a:pt x="3996586" y="4165739"/>
                    <a:pt x="3928006" y="4165739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475" y="2028832"/>
            <a:ext cx="5825147" cy="6229336"/>
            <a:chOff x="0" y="0"/>
            <a:chExt cx="7766863" cy="8305782"/>
          </a:xfrm>
        </p:grpSpPr>
        <p:pic>
          <p:nvPicPr>
            <p:cNvPr id="5" name="Picture 5" descr="a group of people in an office joining hands"/>
            <p:cNvPicPr>
              <a:picLocks noChangeAspect="1"/>
            </p:cNvPicPr>
            <p:nvPr/>
          </p:nvPicPr>
          <p:blipFill>
            <a:blip r:embed="rId1"/>
            <a:srcRect l="10217" r="27363"/>
            <a:stretch>
              <a:fillRect/>
            </a:stretch>
          </p:blipFill>
          <p:spPr>
            <a:xfrm>
              <a:off x="0" y="0"/>
              <a:ext cx="7766863" cy="8305782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9380453" y="2815076"/>
            <a:ext cx="7608168" cy="4656847"/>
            <a:chOff x="0" y="0"/>
            <a:chExt cx="10144225" cy="6209130"/>
          </a:xfrm>
        </p:grpSpPr>
        <p:sp>
          <p:nvSpPr>
            <p:cNvPr id="7" name="TextBox 7"/>
            <p:cNvSpPr txBox="1"/>
            <p:nvPr/>
          </p:nvSpPr>
          <p:spPr>
            <a:xfrm>
              <a:off x="0" y="4274497"/>
              <a:ext cx="9574715" cy="1934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A diverse workplace includes not just other ethnicities but also different ages, sexual orientations, social standing, and abilities.</a:t>
              </a:r>
              <a:endPara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61925"/>
              <a:ext cx="10144225" cy="4110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5600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DIVERSITY </a:t>
              </a:r>
              <a:endPara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endParaRPr>
            </a:p>
            <a:p>
              <a:pPr algn="l">
                <a:lnSpc>
                  <a:spcPts val="8400"/>
                </a:lnSpc>
              </a:pPr>
              <a:r>
                <a:rPr lang="en-US" sz="5600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IS MORE </a:t>
              </a:r>
              <a:endPara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endParaRPr>
            </a:p>
            <a:p>
              <a:pPr algn="l">
                <a:lnSpc>
                  <a:spcPts val="8400"/>
                </a:lnSpc>
              </a:pPr>
              <a:r>
                <a:rPr lang="en-US" sz="5600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THAN RACE.</a:t>
              </a:r>
              <a:endPara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8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lowing gradient brush stroke"/>
          <p:cNvSpPr/>
          <p:nvPr/>
        </p:nvSpPr>
        <p:spPr>
          <a:xfrm rot="1509195">
            <a:off x="-5813943" y="-2972466"/>
            <a:ext cx="11627886" cy="13925612"/>
          </a:xfrm>
          <a:custGeom>
            <a:avLst/>
            <a:gdLst/>
            <a:ahLst/>
            <a:cxnLst/>
            <a:rect l="l" t="t" r="r" b="b"/>
            <a:pathLst>
              <a:path w="11627886" h="13925612">
                <a:moveTo>
                  <a:pt x="0" y="0"/>
                </a:moveTo>
                <a:lnTo>
                  <a:pt x="11627886" y="0"/>
                </a:lnTo>
                <a:lnTo>
                  <a:pt x="11627886" y="13925612"/>
                </a:lnTo>
                <a:lnTo>
                  <a:pt x="0" y="1392561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46994"/>
            <a:ext cx="9051364" cy="312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DIVERSITY HELPS YOU RETAIN TALENT.</a:t>
            </a:r>
            <a:endParaRPr lang="en-US" sz="560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4" name="Freeform 4" descr="a glowing gradient brush stroke "/>
          <p:cNvSpPr/>
          <p:nvPr/>
        </p:nvSpPr>
        <p:spPr>
          <a:xfrm>
            <a:off x="10395014" y="1208919"/>
            <a:ext cx="15350424" cy="15350424"/>
          </a:xfrm>
          <a:custGeom>
            <a:avLst/>
            <a:gdLst/>
            <a:ahLst/>
            <a:cxnLst/>
            <a:rect l="l" t="t" r="r" b="b"/>
            <a:pathLst>
              <a:path w="15350424" h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395014" y="1055578"/>
            <a:ext cx="6687771" cy="3268322"/>
            <a:chOff x="0" y="0"/>
            <a:chExt cx="8917028" cy="4357763"/>
          </a:xfrm>
        </p:grpSpPr>
        <p:sp>
          <p:nvSpPr>
            <p:cNvPr id="8" name="TextBox 8"/>
            <p:cNvSpPr txBox="1"/>
            <p:nvPr/>
          </p:nvSpPr>
          <p:spPr>
            <a:xfrm>
              <a:off x="0" y="1756803"/>
              <a:ext cx="8917028" cy="2600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Present with ease and wow any audience with Canva Presentations. Choose from over a thousand professionally-made templates to fit any objective or topic. Make it your own by customizing it with text and photos. </a:t>
              </a:r>
              <a:endParaRPr lang="en-US" sz="24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917028" cy="1285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Retaining talented employees results in better overall performance.</a:t>
              </a:r>
              <a:endPara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9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pic>
        <p:nvPicPr>
          <p:cNvPr id="12" name="图片 11" descr="人在床上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87079"/>
            <a:ext cx="15769090" cy="37910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86800">
            <a:off x="-10939122" y="-7023600"/>
            <a:ext cx="16785154" cy="19718242"/>
          </a:xfrm>
          <a:custGeom>
            <a:avLst/>
            <a:gdLst/>
            <a:ahLst/>
            <a:cxnLst/>
            <a:rect l="l" t="t" r="r" b="b"/>
            <a:pathLst>
              <a:path w="16785154" h="19718242">
                <a:moveTo>
                  <a:pt x="0" y="0"/>
                </a:moveTo>
                <a:lnTo>
                  <a:pt x="16785154" y="0"/>
                </a:lnTo>
                <a:lnTo>
                  <a:pt x="16785154" y="19718242"/>
                </a:lnTo>
                <a:lnTo>
                  <a:pt x="0" y="1971824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 descr="a glowing gradient brush stroke"/>
          <p:cNvSpPr/>
          <p:nvPr/>
        </p:nvSpPr>
        <p:spPr>
          <a:xfrm>
            <a:off x="4867345" y="866845"/>
            <a:ext cx="8553310" cy="8553310"/>
          </a:xfrm>
          <a:custGeom>
            <a:avLst/>
            <a:gdLst/>
            <a:ahLst/>
            <a:cxnLst/>
            <a:rect l="l" t="t" r="r" b="b"/>
            <a:pathLst>
              <a:path w="8553310" h="8553310">
                <a:moveTo>
                  <a:pt x="0" y="0"/>
                </a:moveTo>
                <a:lnTo>
                  <a:pt x="8553310" y="0"/>
                </a:lnTo>
                <a:lnTo>
                  <a:pt x="8553310" y="8553310"/>
                </a:lnTo>
                <a:lnTo>
                  <a:pt x="0" y="855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76759">
            <a:off x="14172769" y="4457560"/>
            <a:ext cx="12435485" cy="11098670"/>
          </a:xfrm>
          <a:custGeom>
            <a:avLst/>
            <a:gdLst/>
            <a:ahLst/>
            <a:cxnLst/>
            <a:rect l="l" t="t" r="r" b="b"/>
            <a:pathLst>
              <a:path w="12435485" h="11098670">
                <a:moveTo>
                  <a:pt x="0" y="0"/>
                </a:moveTo>
                <a:lnTo>
                  <a:pt x="12435485" y="0"/>
                </a:lnTo>
                <a:lnTo>
                  <a:pt x="12435485" y="11098671"/>
                </a:lnTo>
                <a:lnTo>
                  <a:pt x="0" y="11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92888" y="7783475"/>
            <a:ext cx="2496421" cy="829168"/>
            <a:chOff x="0" y="0"/>
            <a:chExt cx="812800" cy="269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69966"/>
            </a:xfrm>
            <a:custGeom>
              <a:avLst/>
              <a:gdLst/>
              <a:ahLst/>
              <a:cxnLst/>
              <a:rect l="l" t="t" r="r" b="b"/>
              <a:pathLst>
                <a:path w="812800" h="269966">
                  <a:moveTo>
                    <a:pt x="134983" y="0"/>
                  </a:moveTo>
                  <a:lnTo>
                    <a:pt x="677817" y="0"/>
                  </a:lnTo>
                  <a:cubicBezTo>
                    <a:pt x="713617" y="0"/>
                    <a:pt x="747950" y="14221"/>
                    <a:pt x="773264" y="39536"/>
                  </a:cubicBezTo>
                  <a:cubicBezTo>
                    <a:pt x="798579" y="64850"/>
                    <a:pt x="812800" y="99183"/>
                    <a:pt x="812800" y="134983"/>
                  </a:cubicBezTo>
                  <a:lnTo>
                    <a:pt x="812800" y="134983"/>
                  </a:lnTo>
                  <a:cubicBezTo>
                    <a:pt x="812800" y="209532"/>
                    <a:pt x="752366" y="269966"/>
                    <a:pt x="677817" y="269966"/>
                  </a:cubicBezTo>
                  <a:lnTo>
                    <a:pt x="134983" y="269966"/>
                  </a:lnTo>
                  <a:cubicBezTo>
                    <a:pt x="99183" y="269966"/>
                    <a:pt x="64850" y="255744"/>
                    <a:pt x="39536" y="230430"/>
                  </a:cubicBezTo>
                  <a:cubicBezTo>
                    <a:pt x="14221" y="205116"/>
                    <a:pt x="0" y="170782"/>
                    <a:pt x="0" y="134983"/>
                  </a:cubicBezTo>
                  <a:lnTo>
                    <a:pt x="0" y="134983"/>
                  </a:lnTo>
                  <a:cubicBezTo>
                    <a:pt x="0" y="99183"/>
                    <a:pt x="14221" y="64850"/>
                    <a:pt x="39536" y="39536"/>
                  </a:cubicBezTo>
                  <a:cubicBezTo>
                    <a:pt x="64850" y="14221"/>
                    <a:pt x="99183" y="0"/>
                    <a:pt x="134983" y="0"/>
                  </a:cubicBezTo>
                  <a:close/>
                </a:path>
              </a:pathLst>
            </a:custGeom>
            <a:solidFill>
              <a:srgbClr val="FFD0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812800" cy="279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u="sng" dirty="0">
                  <a:latin typeface="TT Commons Pro"/>
                  <a:ea typeface="TT Commons Pro"/>
                  <a:cs typeface="TT Commons Pro"/>
                  <a:sym typeface="TT Commons Pro"/>
                  <a:hlinkClick r:id="rId5" action="ppaction://hlinksldjump"/>
                </a:rPr>
                <a:t>NEXT</a:t>
              </a:r>
              <a:endParaRPr lang="en-US" sz="2000" u="sng" dirty="0">
                <a:latin typeface="TT Commons Pro"/>
                <a:ea typeface="TT Commons Pro"/>
                <a:cs typeface="TT Commons Pro"/>
                <a:sym typeface="TT Commons Pro"/>
                <a:hlinkClick r:id="rId5" action="ppaction://hlinksldjump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2888" y="2618498"/>
            <a:ext cx="5465439" cy="451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QUESTION ON INCLUSION</a:t>
            </a:r>
            <a:endParaRPr lang="en-US" sz="24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92888" y="3343024"/>
            <a:ext cx="6036852" cy="3505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5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How do you feel about the current level of inclusion in your workplace?</a:t>
            </a:r>
            <a:endParaRPr lang="en-US" sz="5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212220" y="1864483"/>
            <a:ext cx="6416870" cy="6560661"/>
            <a:chOff x="0" y="0"/>
            <a:chExt cx="4732153" cy="48381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32153" cy="4838192"/>
            </a:xfrm>
            <a:custGeom>
              <a:avLst/>
              <a:gdLst/>
              <a:ahLst/>
              <a:cxnLst/>
              <a:rect l="l" t="t" r="r" b="b"/>
              <a:pathLst>
                <a:path w="4732153" h="4838192">
                  <a:moveTo>
                    <a:pt x="4607693" y="4838192"/>
                  </a:moveTo>
                  <a:lnTo>
                    <a:pt x="124460" y="4838192"/>
                  </a:lnTo>
                  <a:cubicBezTo>
                    <a:pt x="55880" y="4838192"/>
                    <a:pt x="0" y="4782312"/>
                    <a:pt x="0" y="471373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07693" y="0"/>
                  </a:lnTo>
                  <a:cubicBezTo>
                    <a:pt x="4676273" y="0"/>
                    <a:pt x="4732153" y="55880"/>
                    <a:pt x="4732153" y="124460"/>
                  </a:cubicBezTo>
                  <a:lnTo>
                    <a:pt x="4732153" y="4713732"/>
                  </a:lnTo>
                  <a:cubicBezTo>
                    <a:pt x="4732153" y="4782312"/>
                    <a:pt x="4676273" y="4838192"/>
                    <a:pt x="4607693" y="4838192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2148" y="1735790"/>
            <a:ext cx="6837026" cy="6818048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13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rounded gradient shape"/>
          <p:cNvSpPr/>
          <p:nvPr/>
        </p:nvSpPr>
        <p:spPr>
          <a:xfrm>
            <a:off x="7850276" y="-6818635"/>
            <a:ext cx="15350424" cy="15350424"/>
          </a:xfrm>
          <a:custGeom>
            <a:avLst/>
            <a:gdLst/>
            <a:ahLst/>
            <a:cxnLst/>
            <a:rect l="l" t="t" r="r" b="b"/>
            <a:pathLst>
              <a:path w="15350424" h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557517" y="-4415188"/>
            <a:ext cx="18963665" cy="18299937"/>
          </a:xfrm>
          <a:custGeom>
            <a:avLst/>
            <a:gdLst/>
            <a:ahLst/>
            <a:cxnLst/>
            <a:rect l="l" t="t" r="r" b="b"/>
            <a:pathLst>
              <a:path w="18963665" h="18299937">
                <a:moveTo>
                  <a:pt x="0" y="0"/>
                </a:moveTo>
                <a:lnTo>
                  <a:pt x="18963665" y="0"/>
                </a:lnTo>
                <a:lnTo>
                  <a:pt x="18963665" y="18299937"/>
                </a:lnTo>
                <a:lnTo>
                  <a:pt x="0" y="18299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09643" y="3629305"/>
            <a:ext cx="8668715" cy="263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0"/>
              </a:lnSpc>
            </a:pPr>
            <a:r>
              <a:rPr lang="en-US" sz="1456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75%</a:t>
            </a:r>
            <a:endParaRPr lang="en-US" sz="1456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809643" y="7099269"/>
            <a:ext cx="8668715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0"/>
              </a:lnSpc>
              <a:spcBef>
                <a:spcPct val="0"/>
              </a:spcBef>
            </a:pPr>
            <a:r>
              <a:rPr lang="en-US" sz="3800" u="none" strike="noStrike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fail to see the benefits of diversity because of a lack of inclusive practices</a:t>
            </a:r>
            <a:endParaRPr lang="en-US" sz="3800" u="none" strike="noStrike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21263" y="2044731"/>
            <a:ext cx="1304547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Many businesses focus solely on improving workplace diversity.</a:t>
            </a:r>
            <a:endParaRPr lang="en-US" sz="3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14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colorful glowing gradient brush stroke "/>
          <p:cNvSpPr/>
          <p:nvPr/>
        </p:nvSpPr>
        <p:spPr>
          <a:xfrm rot="6381568">
            <a:off x="10828857" y="-3567569"/>
            <a:ext cx="13067819" cy="14379993"/>
          </a:xfrm>
          <a:custGeom>
            <a:avLst/>
            <a:gdLst/>
            <a:ahLst/>
            <a:cxnLst/>
            <a:rect l="l" t="t" r="r" b="b"/>
            <a:pathLst>
              <a:path w="13067819" h="14379993">
                <a:moveTo>
                  <a:pt x="0" y="0"/>
                </a:moveTo>
                <a:lnTo>
                  <a:pt x="13067819" y="0"/>
                </a:lnTo>
                <a:lnTo>
                  <a:pt x="13067819" y="14379993"/>
                </a:lnTo>
                <a:lnTo>
                  <a:pt x="0" y="1437999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 descr="an icon of a phone with a message"/>
          <p:cNvSpPr/>
          <p:nvPr/>
        </p:nvSpPr>
        <p:spPr>
          <a:xfrm>
            <a:off x="13128995" y="4883735"/>
            <a:ext cx="544769" cy="910708"/>
          </a:xfrm>
          <a:custGeom>
            <a:avLst/>
            <a:gdLst/>
            <a:ahLst/>
            <a:cxnLst/>
            <a:rect l="l" t="t" r="r" b="b"/>
            <a:pathLst>
              <a:path w="544769" h="910708">
                <a:moveTo>
                  <a:pt x="0" y="0"/>
                </a:moveTo>
                <a:lnTo>
                  <a:pt x="544769" y="0"/>
                </a:lnTo>
                <a:lnTo>
                  <a:pt x="544769" y="910708"/>
                </a:lnTo>
                <a:lnTo>
                  <a:pt x="0" y="910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n icon of a person with long hair"/>
          <p:cNvSpPr/>
          <p:nvPr/>
        </p:nvSpPr>
        <p:spPr>
          <a:xfrm>
            <a:off x="1028700" y="4932582"/>
            <a:ext cx="869312" cy="910708"/>
          </a:xfrm>
          <a:custGeom>
            <a:avLst/>
            <a:gdLst/>
            <a:ahLst/>
            <a:cxnLst/>
            <a:rect l="l" t="t" r="r" b="b"/>
            <a:pathLst>
              <a:path w="869312" h="910708">
                <a:moveTo>
                  <a:pt x="0" y="0"/>
                </a:moveTo>
                <a:lnTo>
                  <a:pt x="869312" y="0"/>
                </a:lnTo>
                <a:lnTo>
                  <a:pt x="869312" y="910708"/>
                </a:lnTo>
                <a:lnTo>
                  <a:pt x="0" y="910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an icon of a heart"/>
          <p:cNvSpPr/>
          <p:nvPr/>
        </p:nvSpPr>
        <p:spPr>
          <a:xfrm>
            <a:off x="7078848" y="4932582"/>
            <a:ext cx="910708" cy="813014"/>
          </a:xfrm>
          <a:custGeom>
            <a:avLst/>
            <a:gdLst/>
            <a:ahLst/>
            <a:cxnLst/>
            <a:rect l="l" t="t" r="r" b="b"/>
            <a:pathLst>
              <a:path w="910708" h="813014">
                <a:moveTo>
                  <a:pt x="0" y="0"/>
                </a:moveTo>
                <a:lnTo>
                  <a:pt x="910708" y="0"/>
                </a:lnTo>
                <a:lnTo>
                  <a:pt x="910708" y="813014"/>
                </a:lnTo>
                <a:lnTo>
                  <a:pt x="0" y="8130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6082829"/>
            <a:ext cx="4130305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Hear out your employees' needs and accommodate them.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78848" y="6033982"/>
            <a:ext cx="4130305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Provide mental health resources and support.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128995" y="6082829"/>
            <a:ext cx="4130305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Minimize cutting off speakers during meetings.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866775"/>
            <a:ext cx="13537367" cy="2065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EMBRACING INCLUSION IN THE VIRTUAL WORKPLACE</a:t>
            </a:r>
            <a:endParaRPr lang="en-US" sz="560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15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0E0">
                <a:alpha val="100000"/>
              </a:srgbClr>
            </a:gs>
            <a:gs pos="50000">
              <a:srgbClr val="C6A4BF">
                <a:alpha val="55000"/>
              </a:srgbClr>
            </a:gs>
            <a:gs pos="100000">
              <a:srgbClr val="EAA86B">
                <a:alpha val="55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63483" y="1028700"/>
            <a:ext cx="8695817" cy="8106998"/>
            <a:chOff x="0" y="0"/>
            <a:chExt cx="4876294" cy="45461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294" cy="4546106"/>
            </a:xfrm>
            <a:custGeom>
              <a:avLst/>
              <a:gdLst/>
              <a:ahLst/>
              <a:cxnLst/>
              <a:rect l="l" t="t" r="r" b="b"/>
              <a:pathLst>
                <a:path w="4876294" h="4546106">
                  <a:moveTo>
                    <a:pt x="4751834" y="4546106"/>
                  </a:moveTo>
                  <a:lnTo>
                    <a:pt x="124460" y="4546106"/>
                  </a:lnTo>
                  <a:cubicBezTo>
                    <a:pt x="55880" y="4546106"/>
                    <a:pt x="0" y="4490226"/>
                    <a:pt x="0" y="442164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751834" y="0"/>
                  </a:lnTo>
                  <a:cubicBezTo>
                    <a:pt x="4820414" y="0"/>
                    <a:pt x="4876294" y="55880"/>
                    <a:pt x="4876294" y="124460"/>
                  </a:cubicBezTo>
                  <a:lnTo>
                    <a:pt x="4876294" y="4421646"/>
                  </a:lnTo>
                  <a:cubicBezTo>
                    <a:pt x="4876294" y="4490226"/>
                    <a:pt x="4820414" y="4546106"/>
                    <a:pt x="4751834" y="4546106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</p:grpSp>
      <p:pic>
        <p:nvPicPr>
          <p:cNvPr id="4" name="Picture 4" descr="a five-item radial chart with percent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221" y="956971"/>
            <a:ext cx="8774341" cy="8207708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028700" y="6337468"/>
            <a:ext cx="6487353" cy="2821304"/>
            <a:chOff x="0" y="0"/>
            <a:chExt cx="8649805" cy="3761738"/>
          </a:xfrm>
        </p:grpSpPr>
        <p:sp>
          <p:nvSpPr>
            <p:cNvPr id="6" name="TextBox 6"/>
            <p:cNvSpPr txBox="1"/>
            <p:nvPr/>
          </p:nvSpPr>
          <p:spPr>
            <a:xfrm>
              <a:off x="0" y="2202178"/>
              <a:ext cx="8649805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Visualize complicated and dense information with graphs and charts. These are visual aids that help add more context to the topic you are discussing.</a:t>
              </a:r>
              <a:endParaRPr lang="en-US" sz="24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649805" cy="1934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Here are some behaviors employees identified as showing biases and microaggressions.</a:t>
              </a:r>
              <a:endPara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6966690" cy="2999430"/>
            <a:chOff x="0" y="0"/>
            <a:chExt cx="9288920" cy="3999240"/>
          </a:xfrm>
        </p:grpSpPr>
        <p:sp>
          <p:nvSpPr>
            <p:cNvPr id="9" name="TextBox 9"/>
            <p:cNvSpPr txBox="1"/>
            <p:nvPr/>
          </p:nvSpPr>
          <p:spPr>
            <a:xfrm>
              <a:off x="0" y="2505932"/>
              <a:ext cx="8360002" cy="1493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Awareness is the first step to addressing unconscious bias.</a:t>
              </a:r>
              <a:endPara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9288920" cy="2270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CONFRONTING UNCONSCIOUS BIAS</a:t>
              </a:r>
              <a:endParaRPr lang="en-US" sz="56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16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0E0">
                <a:alpha val="100000"/>
              </a:srgbClr>
            </a:gs>
            <a:gs pos="50000">
              <a:srgbClr val="C6A4BF">
                <a:alpha val="55000"/>
              </a:srgbClr>
            </a:gs>
            <a:gs pos="100000">
              <a:srgbClr val="EAA86B">
                <a:alpha val="55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92610" y="6772038"/>
            <a:ext cx="6487353" cy="2386734"/>
            <a:chOff x="0" y="0"/>
            <a:chExt cx="8649805" cy="3182312"/>
          </a:xfrm>
        </p:grpSpPr>
        <p:sp>
          <p:nvSpPr>
            <p:cNvPr id="3" name="TextBox 3"/>
            <p:cNvSpPr txBox="1"/>
            <p:nvPr/>
          </p:nvSpPr>
          <p:spPr>
            <a:xfrm>
              <a:off x="0" y="1622752"/>
              <a:ext cx="8649805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Visualize complicated and dense information with graphs and charts. These are visual aids that help add more context to the topic you are discussing.</a:t>
              </a:r>
              <a:endParaRPr lang="en-US" sz="24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649805" cy="1285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See how businesses have grown based on their commitment to diversity.</a:t>
              </a:r>
              <a:endPara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92610" y="1028700"/>
            <a:ext cx="6966690" cy="3568813"/>
            <a:chOff x="0" y="0"/>
            <a:chExt cx="9288920" cy="4758418"/>
          </a:xfrm>
        </p:grpSpPr>
        <p:sp>
          <p:nvSpPr>
            <p:cNvPr id="6" name="TextBox 6"/>
            <p:cNvSpPr txBox="1"/>
            <p:nvPr/>
          </p:nvSpPr>
          <p:spPr>
            <a:xfrm>
              <a:off x="0" y="2503109"/>
              <a:ext cx="9288920" cy="2255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Practicing diversity and inclusion increases talent retention, employee satisfaction, and productivity.</a:t>
              </a:r>
              <a:endPara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288920" cy="2267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DRIVING GROWTH THROUGH D&amp;I</a:t>
              </a:r>
              <a:endParaRPr lang="en-US" sz="56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7226698" cy="8106998"/>
            <a:chOff x="0" y="0"/>
            <a:chExt cx="4052466" cy="45461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466" cy="4546106"/>
            </a:xfrm>
            <a:custGeom>
              <a:avLst/>
              <a:gdLst/>
              <a:ahLst/>
              <a:cxnLst/>
              <a:rect l="l" t="t" r="r" b="b"/>
              <a:pathLst>
                <a:path w="4052466" h="4546106">
                  <a:moveTo>
                    <a:pt x="3928006" y="4546106"/>
                  </a:moveTo>
                  <a:lnTo>
                    <a:pt x="124460" y="4546106"/>
                  </a:lnTo>
                  <a:cubicBezTo>
                    <a:pt x="55880" y="4546106"/>
                    <a:pt x="0" y="4490226"/>
                    <a:pt x="0" y="442164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28006" y="0"/>
                  </a:lnTo>
                  <a:cubicBezTo>
                    <a:pt x="3996586" y="0"/>
                    <a:pt x="4052466" y="55880"/>
                    <a:pt x="4052466" y="124460"/>
                  </a:cubicBezTo>
                  <a:lnTo>
                    <a:pt x="4052466" y="4421646"/>
                  </a:lnTo>
                  <a:cubicBezTo>
                    <a:pt x="4052466" y="4490226"/>
                    <a:pt x="3996586" y="4546106"/>
                    <a:pt x="3928006" y="4546106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</p:grpSp>
      <p:pic>
        <p:nvPicPr>
          <p:cNvPr id="10" name="Picture 10" descr="a five-item chart with ranges from 0 to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252" y="970282"/>
            <a:ext cx="7273569" cy="818328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17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E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colorful glowing gradient brush stroke "/>
          <p:cNvSpPr/>
          <p:nvPr/>
        </p:nvSpPr>
        <p:spPr>
          <a:xfrm rot="-8550296">
            <a:off x="5789713" y="-6055827"/>
            <a:ext cx="17658977" cy="14436213"/>
          </a:xfrm>
          <a:custGeom>
            <a:avLst/>
            <a:gdLst/>
            <a:ahLst/>
            <a:cxnLst/>
            <a:rect l="l" t="t" r="r" b="b"/>
            <a:pathLst>
              <a:path w="17658977" h="14436213">
                <a:moveTo>
                  <a:pt x="0" y="0"/>
                </a:moveTo>
                <a:lnTo>
                  <a:pt x="17658977" y="0"/>
                </a:lnTo>
                <a:lnTo>
                  <a:pt x="17658977" y="14436214"/>
                </a:lnTo>
                <a:lnTo>
                  <a:pt x="0" y="144362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6000"/>
            </a:blip>
            <a:stretch>
              <a:fillRect/>
            </a:stretch>
          </a:blipFill>
        </p:spPr>
      </p:sp>
      <p:sp>
        <p:nvSpPr>
          <p:cNvPr id="3" name="Freeform 3" descr="a rounded gradient shape"/>
          <p:cNvSpPr/>
          <p:nvPr/>
        </p:nvSpPr>
        <p:spPr>
          <a:xfrm>
            <a:off x="-4063904" y="1759714"/>
            <a:ext cx="13938055" cy="13938055"/>
          </a:xfrm>
          <a:custGeom>
            <a:avLst/>
            <a:gdLst/>
            <a:ahLst/>
            <a:cxnLst/>
            <a:rect l="l" t="t" r="r" b="b"/>
            <a:pathLst>
              <a:path w="13938055" h="13938055">
                <a:moveTo>
                  <a:pt x="0" y="0"/>
                </a:moveTo>
                <a:lnTo>
                  <a:pt x="13938055" y="0"/>
                </a:lnTo>
                <a:lnTo>
                  <a:pt x="13938055" y="13938055"/>
                </a:lnTo>
                <a:lnTo>
                  <a:pt x="0" y="1393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32024" y="2893272"/>
            <a:ext cx="13862053" cy="4794233"/>
            <a:chOff x="0" y="0"/>
            <a:chExt cx="18482737" cy="6392310"/>
          </a:xfrm>
        </p:grpSpPr>
        <p:sp>
          <p:nvSpPr>
            <p:cNvPr id="5" name="TextBox 5"/>
            <p:cNvSpPr txBox="1"/>
            <p:nvPr/>
          </p:nvSpPr>
          <p:spPr>
            <a:xfrm>
              <a:off x="0" y="-209550"/>
              <a:ext cx="18482737" cy="5304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7200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HAVING A DIVERSE WORKFORCE IS JUST THE FIRST STEP.</a:t>
              </a:r>
              <a:endParaRPr lang="en-US" sz="72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661002"/>
              <a:ext cx="18482737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Ensuring they feel that they belong and are heard is the next.</a:t>
              </a:r>
              <a:endPara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18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n icon of text bubbles with symbols"/>
          <p:cNvSpPr/>
          <p:nvPr/>
        </p:nvSpPr>
        <p:spPr>
          <a:xfrm>
            <a:off x="8346418" y="4727214"/>
            <a:ext cx="910708" cy="910708"/>
          </a:xfrm>
          <a:custGeom>
            <a:avLst/>
            <a:gdLst/>
            <a:ahLst/>
            <a:cxnLst/>
            <a:rect l="l" t="t" r="r" b="b"/>
            <a:pathLst>
              <a:path w="910708" h="910708">
                <a:moveTo>
                  <a:pt x="0" y="0"/>
                </a:moveTo>
                <a:lnTo>
                  <a:pt x="910708" y="0"/>
                </a:lnTo>
                <a:lnTo>
                  <a:pt x="910708" y="910708"/>
                </a:lnTo>
                <a:lnTo>
                  <a:pt x="0" y="9107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n icon of a magnifying glass"/>
          <p:cNvSpPr/>
          <p:nvPr/>
        </p:nvSpPr>
        <p:spPr>
          <a:xfrm>
            <a:off x="8346418" y="1063472"/>
            <a:ext cx="910708" cy="910708"/>
          </a:xfrm>
          <a:custGeom>
            <a:avLst/>
            <a:gdLst/>
            <a:ahLst/>
            <a:cxnLst/>
            <a:rect l="l" t="t" r="r" b="b"/>
            <a:pathLst>
              <a:path w="910708" h="910708">
                <a:moveTo>
                  <a:pt x="0" y="0"/>
                </a:moveTo>
                <a:lnTo>
                  <a:pt x="910708" y="0"/>
                </a:lnTo>
                <a:lnTo>
                  <a:pt x="910708" y="910709"/>
                </a:lnTo>
                <a:lnTo>
                  <a:pt x="0" y="910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n icon of a lightbulb"/>
          <p:cNvSpPr/>
          <p:nvPr/>
        </p:nvSpPr>
        <p:spPr>
          <a:xfrm>
            <a:off x="8444112" y="2895343"/>
            <a:ext cx="715320" cy="910708"/>
          </a:xfrm>
          <a:custGeom>
            <a:avLst/>
            <a:gdLst/>
            <a:ahLst/>
            <a:cxnLst/>
            <a:rect l="l" t="t" r="r" b="b"/>
            <a:pathLst>
              <a:path w="715320" h="910708">
                <a:moveTo>
                  <a:pt x="0" y="0"/>
                </a:moveTo>
                <a:lnTo>
                  <a:pt x="715320" y="0"/>
                </a:lnTo>
                <a:lnTo>
                  <a:pt x="715320" y="910709"/>
                </a:lnTo>
                <a:lnTo>
                  <a:pt x="0" y="910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an icon of a person with a tie"/>
          <p:cNvSpPr/>
          <p:nvPr/>
        </p:nvSpPr>
        <p:spPr>
          <a:xfrm>
            <a:off x="8372083" y="8321410"/>
            <a:ext cx="859377" cy="910708"/>
          </a:xfrm>
          <a:custGeom>
            <a:avLst/>
            <a:gdLst/>
            <a:ahLst/>
            <a:cxnLst/>
            <a:rect l="l" t="t" r="r" b="b"/>
            <a:pathLst>
              <a:path w="859377" h="910708">
                <a:moveTo>
                  <a:pt x="0" y="0"/>
                </a:moveTo>
                <a:lnTo>
                  <a:pt x="859378" y="0"/>
                </a:lnTo>
                <a:lnTo>
                  <a:pt x="859378" y="910709"/>
                </a:lnTo>
                <a:lnTo>
                  <a:pt x="0" y="9107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n icon of a thumbs-up hand"/>
          <p:cNvSpPr/>
          <p:nvPr/>
        </p:nvSpPr>
        <p:spPr>
          <a:xfrm>
            <a:off x="8346418" y="6559085"/>
            <a:ext cx="910708" cy="841163"/>
          </a:xfrm>
          <a:custGeom>
            <a:avLst/>
            <a:gdLst/>
            <a:ahLst/>
            <a:cxnLst/>
            <a:rect l="l" t="t" r="r" b="b"/>
            <a:pathLst>
              <a:path w="910708" h="841163">
                <a:moveTo>
                  <a:pt x="0" y="0"/>
                </a:moveTo>
                <a:lnTo>
                  <a:pt x="910708" y="0"/>
                </a:lnTo>
                <a:lnTo>
                  <a:pt x="910708" y="841163"/>
                </a:lnTo>
                <a:lnTo>
                  <a:pt x="0" y="8411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7047863" y="-2001311"/>
            <a:ext cx="14962533" cy="14438844"/>
          </a:xfrm>
          <a:custGeom>
            <a:avLst/>
            <a:gdLst/>
            <a:ahLst/>
            <a:cxnLst/>
            <a:rect l="l" t="t" r="r" b="b"/>
            <a:pathLst>
              <a:path w="14962533" h="14438844">
                <a:moveTo>
                  <a:pt x="0" y="0"/>
                </a:moveTo>
                <a:lnTo>
                  <a:pt x="14962532" y="0"/>
                </a:lnTo>
                <a:lnTo>
                  <a:pt x="14962532" y="14438844"/>
                </a:lnTo>
                <a:lnTo>
                  <a:pt x="0" y="14438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706432" y="991923"/>
            <a:ext cx="7552868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Diversity means having employees from different demographics.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06432" y="4638278"/>
            <a:ext cx="7552868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Diversity and inclusion raise productivity and satisfaction.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06432" y="2815100"/>
            <a:ext cx="7552868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Inclusion is making all of them feel welcome and included.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06432" y="6461456"/>
            <a:ext cx="7552868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Workplace inclusion starts with addressing biases.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706432" y="8284633"/>
            <a:ext cx="7552868" cy="9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Ensuring virtual workplace diversity and inclusion is a group effort.</a:t>
            </a:r>
            <a:endParaRPr lang="en-US" sz="30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866775"/>
            <a:ext cx="6885969" cy="2065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THE BOTTOMLINE</a:t>
            </a:r>
            <a:endParaRPr lang="en-US" sz="560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735509" y="957244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19</a:t>
            </a:r>
            <a:endParaRPr lang="en-US" sz="18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colorful gradient brush stroke"/>
          <p:cNvSpPr/>
          <p:nvPr/>
        </p:nvSpPr>
        <p:spPr>
          <a:xfrm rot="2071154" flipH="1">
            <a:off x="-9437504" y="810679"/>
            <a:ext cx="18085189" cy="21658909"/>
          </a:xfrm>
          <a:custGeom>
            <a:avLst/>
            <a:gdLst/>
            <a:ahLst/>
            <a:cxnLst/>
            <a:rect l="l" t="t" r="r" b="b"/>
            <a:pathLst>
              <a:path w="18085189" h="21658909">
                <a:moveTo>
                  <a:pt x="18085189" y="0"/>
                </a:moveTo>
                <a:lnTo>
                  <a:pt x="0" y="0"/>
                </a:lnTo>
                <a:lnTo>
                  <a:pt x="0" y="21658909"/>
                </a:lnTo>
                <a:lnTo>
                  <a:pt x="18085189" y="21658909"/>
                </a:lnTo>
                <a:lnTo>
                  <a:pt x="18085189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 descr="a colorful gradient circle"/>
          <p:cNvSpPr/>
          <p:nvPr/>
        </p:nvSpPr>
        <p:spPr>
          <a:xfrm>
            <a:off x="7850276" y="-6818635"/>
            <a:ext cx="15350424" cy="15350424"/>
          </a:xfrm>
          <a:custGeom>
            <a:avLst/>
            <a:gdLst/>
            <a:ahLst/>
            <a:cxnLst/>
            <a:rect l="l" t="t" r="r" b="b"/>
            <a:pathLst>
              <a:path w="15350424" h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2"/>
          <p:cNvSpPr txBox="1"/>
          <p:nvPr/>
        </p:nvSpPr>
        <p:spPr>
          <a:xfrm>
            <a:off x="2886073" y="3528394"/>
            <a:ext cx="12515853" cy="266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7200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THANK YOU FOR LISTENING!</a:t>
            </a:r>
            <a:endParaRPr lang="en-US" sz="7200" dirty="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16" name="TextBox 3"/>
          <p:cNvSpPr txBox="1"/>
          <p:nvPr/>
        </p:nvSpPr>
        <p:spPr>
          <a:xfrm>
            <a:off x="4770074" y="7450929"/>
            <a:ext cx="8747852" cy="115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Feel free to send in any questions to hello@really</a:t>
            </a:r>
            <a:r>
              <a:rPr lang="en-US" altLang="zh-CN" sz="3600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rdesign</a:t>
            </a:r>
            <a:r>
              <a:rPr lang="en-US" sz="3600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.com.</a:t>
            </a:r>
            <a:endParaRPr lang="en-US" sz="3600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grpSp>
        <p:nvGrpSpPr>
          <p:cNvPr id="17" name="Group 4"/>
          <p:cNvGrpSpPr/>
          <p:nvPr/>
        </p:nvGrpSpPr>
        <p:grpSpPr>
          <a:xfrm>
            <a:off x="7537318" y="1681707"/>
            <a:ext cx="3213364" cy="762000"/>
            <a:chOff x="0" y="0"/>
            <a:chExt cx="4284485" cy="1016000"/>
          </a:xfrm>
        </p:grpSpPr>
        <p:sp>
          <p:nvSpPr>
            <p:cNvPr id="18" name="TextBox 5"/>
            <p:cNvSpPr txBox="1"/>
            <p:nvPr/>
          </p:nvSpPr>
          <p:spPr>
            <a:xfrm>
              <a:off x="1189604" y="0"/>
              <a:ext cx="3094881" cy="1016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 dirty="0" err="1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Whimson</a:t>
              </a:r>
              <a:endParaRPr lang="en-US" sz="2500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  <a:p>
              <a:pPr algn="l">
                <a:lnSpc>
                  <a:spcPts val="3000"/>
                </a:lnSpc>
              </a:pPr>
              <a:r>
                <a:rPr lang="en-US" sz="2500" dirty="0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International, Inc.</a:t>
              </a:r>
              <a:endParaRPr lang="en-US" sz="2500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endParaRPr>
            </a:p>
          </p:txBody>
        </p:sp>
        <p:sp>
          <p:nvSpPr>
            <p:cNvPr id="19" name="Freeform 6"/>
            <p:cNvSpPr/>
            <p:nvPr/>
          </p:nvSpPr>
          <p:spPr>
            <a:xfrm>
              <a:off x="0" y="189751"/>
              <a:ext cx="944010" cy="710582"/>
            </a:xfrm>
            <a:custGeom>
              <a:avLst/>
              <a:gdLst/>
              <a:ahLst/>
              <a:cxnLst/>
              <a:rect l="l" t="t" r="r" b="b"/>
              <a:pathLst>
                <a:path w="944010" h="710582">
                  <a:moveTo>
                    <a:pt x="0" y="0"/>
                  </a:moveTo>
                  <a:lnTo>
                    <a:pt x="944010" y="0"/>
                  </a:lnTo>
                  <a:lnTo>
                    <a:pt x="944010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3658</Words>
  <Application>WPS 演示</Application>
  <PresentationFormat>自定义</PresentationFormat>
  <Paragraphs>167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DejaVu Sans</vt:lpstr>
      <vt:lpstr>TT Commons Pro</vt:lpstr>
      <vt:lpstr>Gubbi</vt:lpstr>
      <vt:lpstr>TAN Mon Cheri</vt:lpstr>
      <vt:lpstr>TT Commons Pro Bold</vt:lpstr>
      <vt:lpstr>Arial</vt:lpstr>
      <vt:lpstr>Open Sauce Bold</vt:lpstr>
      <vt:lpstr>Open Sauce</vt:lpstr>
      <vt:lpstr>微软雅黑</vt:lpstr>
      <vt:lpstr>Droid Sans Fallback</vt:lpstr>
      <vt:lpstr>宋体</vt:lpstr>
      <vt:lpstr>Arial Unicode MS</vt:lpstr>
      <vt:lpstr>Calibri</vt:lpstr>
      <vt:lpstr>Noto Serif CJK SC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Webinar Keynote Presentation</dc:title>
  <dc:creator/>
  <cp:lastModifiedBy>maxiaohan</cp:lastModifiedBy>
  <cp:revision>8</cp:revision>
  <dcterms:created xsi:type="dcterms:W3CDTF">2026-08-08T12:22:50Z</dcterms:created>
  <dcterms:modified xsi:type="dcterms:W3CDTF">2026-08-08T12:22:50Z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5329C8F5A9A9765FDB9E766A73627E6E_42</vt:lpwstr>
  </property>
  <property fmtid="{D5CDD505-2E9C-101B-9397-08002B2CF9AE}" pid="3" name="KSOProductBuildVer">
    <vt:lpwstr>2052-12.1.2.22571</vt:lpwstr>
  </property>
</Properties>
</file>