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457200"/>
            <a:ext cx="1645920" cy="1645920"/>
          </a:xfrm>
          <a:prstGeom prst="ellipse">
            <a:avLst/>
          </a:prstGeom>
          <a:ln w="19050">
            <a:solidFill>
              <a:srgbClr val="CADCFC">
                <a:alpha val="8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-91440"/>
            <a:ext cx="2743200" cy="2743200"/>
          </a:xfrm>
          <a:prstGeom prst="ellipse">
            <a:avLst/>
          </a:prstGeom>
          <a:ln w="19050">
            <a:solidFill>
              <a:srgbClr val="CADCFC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38160" y="-731520"/>
            <a:ext cx="4023360" cy="4023360"/>
          </a:xfrm>
          <a:prstGeom prst="ellipse">
            <a:avLst/>
          </a:prstGeom>
          <a:ln w="19050">
            <a:solidFill>
              <a:srgbClr val="FFB000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67544" y="1197864"/>
            <a:ext cx="164592" cy="164592"/>
          </a:xfrm>
          <a:prstGeom prst="ellipse">
            <a:avLst/>
          </a:prstGeom>
          <a:solidFill>
            <a:srgbClr val="FFB00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FFB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GOAI 世界人工智能开源大赛 · 无界应用赛道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228600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圆周引擎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621792" y="32461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 Engine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0080" y="397764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面向任意专业领域的周期性成长 Agent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4434840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每一次循环，都在积累前进的动能 — Every cycle builds momentum.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5074920"/>
            <a:ext cx="2743200" cy="0"/>
          </a:xfrm>
          <a:prstGeom prst="line">
            <a:avLst/>
          </a:prstGeom>
          <a:noFill/>
          <a:ln w="25400">
            <a:solidFill>
              <a:srgbClr val="FFB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5394960"/>
            <a:ext cx="8961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赛道方向：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+ Education（成人职业技能教育 Agent）
</a:t>
            </a:r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团队名称：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圆周引擎  |  </a:t>
            </a:r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提交日期：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2026.08.16
</a:t>
            </a:r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团队成员：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[姓名] · 独立开发者（Solo Builder，负责产品 / 架构 / 全栈开发）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B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问题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4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真正的阻力，不是缺计划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而是每一次行动开始之前，反复出现的决策与筛选成本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291840" cy="3977640"/>
          </a:xfrm>
          <a:prstGeom prst="roundRect">
            <a:avLst>
              <a:gd name="adj" fmla="val 3333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51460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B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30–60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548640" y="34290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分钟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4160520"/>
            <a:ext cx="26517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典型用户在开始一次学习/探索行动前，</a:t>
            </a:r>
            <a:endParaRPr lang="en-US" sz="12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花在“今天该做什么、去哪找材料、</a:t>
            </a:r>
            <a:endParaRPr lang="en-US" sz="12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值不值得看”这类决策上的时间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51960" y="2194560"/>
            <a:ext cx="457200" cy="457200"/>
          </a:xfrm>
          <a:prstGeom prst="ellipse">
            <a:avLst/>
          </a:prstGeom>
          <a:solidFill>
            <a:srgbClr val="F4F6FC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5196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92040" y="2130552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决策疲劳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92040" y="2496312"/>
            <a:ext cx="6583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每次开始前都要重新决定“今天做什么”，启动成本消耗在决策上，而非执行上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251960" y="3200400"/>
            <a:ext cx="457200" cy="457200"/>
          </a:xfrm>
          <a:prstGeom prst="ellipse">
            <a:avLst/>
          </a:prstGeom>
          <a:solidFill>
            <a:srgbClr val="F4F6FC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5196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92040" y="3136392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筛选负担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892040" y="3502152"/>
            <a:ext cx="6583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需要自己搜索、比较、判断材料是否值得看，信息噪音掩盖了真正有价值的内容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251960" y="4206240"/>
            <a:ext cx="457200" cy="457200"/>
          </a:xfrm>
          <a:prstGeom prst="ellipse">
            <a:avLst/>
          </a:prstGeom>
          <a:solidFill>
            <a:srgbClr val="F4F6FC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5196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892040" y="4142232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粒度错位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892040" y="4507992"/>
            <a:ext cx="6583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计划停留在“这周要学 XX”层面，缺少可以直接执行的 30–60 分钟任务单元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251960" y="5212080"/>
            <a:ext cx="457200" cy="457200"/>
          </a:xfrm>
          <a:prstGeom prst="ellipse">
            <a:avLst/>
          </a:prstGeom>
          <a:solidFill>
            <a:srgbClr val="F4F6FC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51960" y="5212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892040" y="5148072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沉淀断层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892040" y="5513832"/>
            <a:ext cx="6583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学习与观察的结果没有形成持续记录，无法回看进展，也无法反哺能力判断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B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目标用户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4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一个真实的人，一条真实的节奏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931920" cy="4297680"/>
          </a:xfrm>
          <a:prstGeom prst="roundRect">
            <a:avLst>
              <a:gd name="adj" fmla="val 2791"/>
            </a:avLst>
          </a:prstGeom>
          <a:solidFill>
            <a:srgbClr val="F4F6FC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14884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48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874520" y="219456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114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处于职业方向探索期的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114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技术从业者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3200400"/>
            <a:ext cx="33375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FFB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1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希望保持技术敏感度，但当前处于非跳槽窗口期
</a:t>
            </a:r>
            <a:pPr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FFB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1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缺的不是学习资源，是“今天该看什么”的判断
</a:t>
            </a:r>
            <a:pPr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FFB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1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希望市场感知与能力建设并行，而非临时抱佛脚
</a:t>
            </a:r>
            <a:pPr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FFB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1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早晨/碎片时间是主要使用场景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846320" y="1828800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旗舰场景：个人职业能力建设周期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846320" y="2331720"/>
            <a:ext cx="6675120" cy="896112"/>
          </a:xfrm>
          <a:prstGeom prst="roundRect">
            <a:avLst>
              <a:gd name="adj" fmla="val 8163"/>
            </a:avLst>
          </a:prstGeom>
          <a:solidFill>
            <a:srgbClr val="F4F6FC"/>
          </a:solidFill>
          <a:ln w="12700">
            <a:solidFill>
              <a:srgbClr val="F4F6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74920" y="2441448"/>
            <a:ext cx="13716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周一 / 周二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537960" y="2569464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537960" y="2569464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458200" y="2441448"/>
            <a:ext cx="29260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技术趋势与产品动态扫描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46320" y="3364992"/>
            <a:ext cx="667512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F4F6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74920" y="3474720"/>
            <a:ext cx="13716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周三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537960" y="3602736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6537960" y="3602736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Alignment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458200" y="3474720"/>
            <a:ext cx="29260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岗位要求与能力差距分析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46320" y="4398264"/>
            <a:ext cx="6675120" cy="896112"/>
          </a:xfrm>
          <a:prstGeom prst="roundRect">
            <a:avLst>
              <a:gd name="adj" fmla="val 8163"/>
            </a:avLst>
          </a:prstGeom>
          <a:solidFill>
            <a:srgbClr val="F4F6FC"/>
          </a:solidFill>
          <a:ln w="12700">
            <a:solidFill>
              <a:srgbClr val="F4F6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74920" y="4507992"/>
            <a:ext cx="13716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周四 / 周五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537960" y="4636008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6537960" y="4636008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458200" y="4507992"/>
            <a:ext cx="29260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论文 / repo 深度学习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46320" y="5431536"/>
            <a:ext cx="667512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F4F6F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74920" y="5541264"/>
            <a:ext cx="13716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周末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537960" y="5669280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6537960" y="5669280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Studio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458200" y="5541264"/>
            <a:ext cx="29260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周复盘、归档、更新能力档案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B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解决方案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4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两层节奏设计，六步完整闭环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160520" cy="1143000"/>
          </a:xfrm>
          <a:prstGeom prst="roundRect">
            <a:avLst>
              <a:gd name="adj" fmla="val 8000"/>
            </a:avLst>
          </a:prstGeom>
          <a:solidFill>
            <a:srgbClr val="F4F6FC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1051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Mode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77240" y="2121408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系统按用户配置的周期自动安排今天任务，替用户做“今天干什么”这个决策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892040" y="1691640"/>
            <a:ext cx="4160520" cy="1143000"/>
          </a:xfrm>
          <a:prstGeom prst="roundRect">
            <a:avLst>
              <a:gd name="adj" fmla="val 8000"/>
            </a:avLst>
          </a:prstGeom>
          <a:solidFill>
            <a:srgbClr val="F4F6FC"/>
          </a:solidFill>
          <a:ln/>
        </p:spPr>
      </p:sp>
      <p:sp>
        <p:nvSpPr>
          <p:cNvPr id="8" name="Text 6"/>
          <p:cNvSpPr/>
          <p:nvPr/>
        </p:nvSpPr>
        <p:spPr>
          <a:xfrm>
            <a:off x="5120640" y="181051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Mode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120640" y="2121408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用户可临时切换到 Radar / Deep Dive / Weekly Studio / Opportunity Alignment 任一类型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3703320"/>
            <a:ext cx="1630680" cy="1051560"/>
          </a:xfrm>
          <a:prstGeom prst="roundRect">
            <a:avLst>
              <a:gd name="adj" fmla="val 7826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77647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1792" y="4087368"/>
            <a:ext cx="148437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节奏触发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161032" y="3977640"/>
            <a:ext cx="292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435352" y="3703320"/>
            <a:ext cx="1630680" cy="1051560"/>
          </a:xfrm>
          <a:prstGeom prst="roundRect">
            <a:avLst>
              <a:gd name="adj" fmla="val 7826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2526792" y="377647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508504" y="4087368"/>
            <a:ext cx="148437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材料包生成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047744" y="3977640"/>
            <a:ext cx="292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322064" y="3703320"/>
            <a:ext cx="1630680" cy="1051560"/>
          </a:xfrm>
          <a:prstGeom prst="roundRect">
            <a:avLst>
              <a:gd name="adj" fmla="val 7826"/>
            </a:avLst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4413504" y="377647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395216" y="4087368"/>
            <a:ext cx="148437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任务执行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934456" y="3977640"/>
            <a:ext cx="292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08776" y="3703320"/>
            <a:ext cx="1630680" cy="1051560"/>
          </a:xfrm>
          <a:prstGeom prst="roundRect">
            <a:avLst>
              <a:gd name="adj" fmla="val 7826"/>
            </a:avLst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6300216" y="377647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81928" y="4087368"/>
            <a:ext cx="148437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打卡记录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821168" y="3977640"/>
            <a:ext cx="292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095488" y="3703320"/>
            <a:ext cx="1630680" cy="1051560"/>
          </a:xfrm>
          <a:prstGeom prst="roundRect">
            <a:avLst>
              <a:gd name="adj" fmla="val 7826"/>
            </a:avLst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8186928" y="377647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168640" y="4087368"/>
            <a:ext cx="148437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讨论反馈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9707880" y="3977640"/>
            <a:ext cx="292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9982200" y="3703320"/>
            <a:ext cx="1630680" cy="1051560"/>
          </a:xfrm>
          <a:prstGeom prst="roundRect">
            <a:avLst>
              <a:gd name="adj" fmla="val 7826"/>
            </a:avLst>
          </a:prstGeom>
          <a:solidFill>
            <a:srgbClr val="FFB000"/>
          </a:solidFill>
          <a:ln/>
        </p:spPr>
      </p:sp>
      <p:sp>
        <p:nvSpPr>
          <p:cNvPr id="31" name="Text 29"/>
          <p:cNvSpPr/>
          <p:nvPr/>
        </p:nvSpPr>
        <p:spPr>
          <a:xfrm>
            <a:off x="10073640" y="377647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055352" y="4087368"/>
            <a:ext cx="148437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周期复盘沉淀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48640" y="5029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闭环回到“周期触发”，形成用户能力成长的持续轨迹（Orbit）——这也是团队名称的由来。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8640" y="56235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四类会话（Session Types）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48640" y="5989320"/>
            <a:ext cx="2697480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598932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383280" y="5989320"/>
            <a:ext cx="2697480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83280" y="598932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217920" y="5989320"/>
            <a:ext cx="2697480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17920" y="598932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Studio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9052560" y="5989320"/>
            <a:ext cx="2697480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052560" y="598932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Alignment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B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通用性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4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同一套抽象，映射到任意专业领域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Types 与 BaseSession / Skill 架构与领域无关，领域仅作为一次性配置注入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697480" cy="457200"/>
          </a:xfrm>
          <a:prstGeom prst="rect">
            <a:avLst/>
          </a:prstGeom>
          <a:solidFill>
            <a:srgbClr val="1E276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14884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领域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46120" y="2148840"/>
            <a:ext cx="2423160" cy="457200"/>
          </a:xfrm>
          <a:prstGeom prst="rect">
            <a:avLst/>
          </a:prstGeom>
          <a:solidFill>
            <a:srgbClr val="1E276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37560" y="21488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0" y="2148840"/>
            <a:ext cx="3108960" cy="457200"/>
          </a:xfrm>
          <a:prstGeom prst="rect">
            <a:avLst/>
          </a:prstGeom>
          <a:solidFill>
            <a:srgbClr val="1E276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60720" y="21488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Alignment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778240" y="2148840"/>
            <a:ext cx="2880360" cy="457200"/>
          </a:xfrm>
          <a:prstGeom prst="rect">
            <a:avLst/>
          </a:prstGeom>
          <a:solidFill>
            <a:srgbClr val="1E276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69680" y="214884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606040"/>
            <a:ext cx="2697480" cy="896112"/>
          </a:xfrm>
          <a:prstGeom prst="rect">
            <a:avLst/>
          </a:prstGeom>
          <a:solidFill>
            <a:srgbClr val="CADCF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2660904"/>
            <a:ext cx="2478024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职业能力建设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（当前旗舰场景）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246120" y="2606040"/>
            <a:ext cx="2423160" cy="896112"/>
          </a:xfrm>
          <a:prstGeom prst="rect">
            <a:avLst/>
          </a:prstGeom>
          <a:solidFill>
            <a:srgbClr val="F4F6F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55848" y="2660904"/>
            <a:ext cx="2203704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1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技术趋势 / 产品动态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669280" y="2606040"/>
            <a:ext cx="3108960" cy="896112"/>
          </a:xfrm>
          <a:prstGeom prst="rect">
            <a:avLst/>
          </a:prstGeom>
          <a:solidFill>
            <a:srgbClr val="F4F6F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79008" y="2660904"/>
            <a:ext cx="2889504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1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 / 招聘要求 / 简历差距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778240" y="2606040"/>
            <a:ext cx="2880360" cy="896112"/>
          </a:xfrm>
          <a:prstGeom prst="rect">
            <a:avLst/>
          </a:prstGeom>
          <a:solidFill>
            <a:srgbClr val="F4F6F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887968" y="2660904"/>
            <a:ext cx="2660904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1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论文 / repo 精读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3502152"/>
            <a:ext cx="2697480" cy="896112"/>
          </a:xfrm>
          <a:prstGeom prst="rect">
            <a:avLst/>
          </a:prstGeom>
          <a:solidFill>
            <a:srgbClr val="CADCF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" y="3557016"/>
            <a:ext cx="2478024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研究方向探索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246120" y="3502152"/>
            <a:ext cx="242316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55848" y="3557016"/>
            <a:ext cx="2203704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1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领域最新进展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669280" y="3502152"/>
            <a:ext cx="310896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79008" y="3557016"/>
            <a:ext cx="2889504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1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CFP / Benchmark / Open Problem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778240" y="3502152"/>
            <a:ext cx="288036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887968" y="3557016"/>
            <a:ext cx="2660904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1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论文精读与复现判断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4398264"/>
            <a:ext cx="2697480" cy="896112"/>
          </a:xfrm>
          <a:prstGeom prst="rect">
            <a:avLst/>
          </a:prstGeom>
          <a:solidFill>
            <a:srgbClr val="CADCF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" y="4453128"/>
            <a:ext cx="2478024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创作者 / IP 运营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3246120" y="4398264"/>
            <a:ext cx="2423160" cy="896112"/>
          </a:xfrm>
          <a:prstGeom prst="rect">
            <a:avLst/>
          </a:prstGeom>
          <a:solidFill>
            <a:srgbClr val="F4F6F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55848" y="4453128"/>
            <a:ext cx="2203704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1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平台热点与算法变化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669280" y="4398264"/>
            <a:ext cx="3108960" cy="896112"/>
          </a:xfrm>
          <a:prstGeom prst="rect">
            <a:avLst/>
          </a:prstGeom>
          <a:solidFill>
            <a:srgbClr val="F4F6F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779008" y="4453128"/>
            <a:ext cx="2889504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1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爆款内容 / 用户反馈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8778240" y="4398264"/>
            <a:ext cx="2880360" cy="896112"/>
          </a:xfrm>
          <a:prstGeom prst="rect">
            <a:avLst/>
          </a:prstGeom>
          <a:solidFill>
            <a:srgbClr val="F4F6F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887968" y="4453128"/>
            <a:ext cx="2660904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1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同类内容深度拆解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48640" y="5294376"/>
            <a:ext cx="2697480" cy="896112"/>
          </a:xfrm>
          <a:prstGeom prst="rect">
            <a:avLst/>
          </a:prstGeom>
          <a:solidFill>
            <a:srgbClr val="CADCF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8368" y="5349240"/>
            <a:ext cx="2478024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创业 / 产品方向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3246120" y="5294376"/>
            <a:ext cx="242316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355848" y="5349240"/>
            <a:ext cx="2203704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1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行业与竞品动态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669280" y="5294376"/>
            <a:ext cx="310896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79008" y="5349240"/>
            <a:ext cx="2889504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1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用户需求 / 市场机会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8778240" y="5294376"/>
            <a:ext cx="288036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887968" y="5349240"/>
            <a:ext cx="2660904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1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 / 竞品深度研究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548640" y="632764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Studio 在所有领域中均为统一动作：归档、复盘、更新能力档案、调整下周计划（因此未单独列表）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AGENT 能力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能力与任务闭环映射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 Deep Dive 为旗舰能力，覆盖完整的 Agent Closed-Loop 七个环节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27308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0574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B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Input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31520" y="2368296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用户选择或系统推荐 Deep Dive 会话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3044952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273080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13639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B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Understanding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31520" y="344728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结合用户历史打卡记录判断当前学习方向与关注点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4123944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273080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4215384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B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Planning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31520" y="45262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拆解为 30 / 60 / 90 分钟可执行任务，明确最小产出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5202936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273080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529437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B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Invocation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31520" y="5605272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调用 arXiv 数据源 + LLM 生成推荐理由与阅读重点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309360" y="1965960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273080"/>
          </a:solidFill>
          <a:ln/>
        </p:spPr>
      </p:sp>
      <p:sp>
        <p:nvSpPr>
          <p:cNvPr id="18" name="Text 16"/>
          <p:cNvSpPr/>
          <p:nvPr/>
        </p:nvSpPr>
        <p:spPr>
          <a:xfrm>
            <a:off x="6492240" y="20574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B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Delivery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92240" y="2368296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结构化材料卡片：来源、摘要、精读重点、推荐理由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309360" y="3044952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273080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313639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B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&amp; Feedback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92240" y="344728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打卡判断 continue / track_later / drop，反哺下一轮推荐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309360" y="4123944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273080"/>
          </a:solidFill>
          <a:ln/>
        </p:spPr>
      </p:sp>
      <p:sp>
        <p:nvSpPr>
          <p:cNvPr id="24" name="Text 22"/>
          <p:cNvSpPr/>
          <p:nvPr/>
        </p:nvSpPr>
        <p:spPr>
          <a:xfrm>
            <a:off x="6492240" y="4215384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B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Boundaries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492240" y="45262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Mode 明确标注，不自动执行外部动作，数据来源可追溯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B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数据与技术路线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4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模型、数据与工具链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当前实现基于可替换的、透明的技术选型，闭源依赖可迁移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3630168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011680"/>
            <a:ext cx="3630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后端与存储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3630168" cy="3246120"/>
          </a:xfrm>
          <a:prstGeom prst="roundRect">
            <a:avLst>
              <a:gd name="adj" fmla="val 2254"/>
            </a:avLst>
          </a:prstGeom>
          <a:solidFill>
            <a:srgbClr val="F4F6FC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2788920"/>
            <a:ext cx="3227832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2000"/>
              </a:lnSpc>
              <a:spcAft>
                <a:spcPts val="1400"/>
              </a:spcAft>
              <a:buSzPct val="100000"/>
              <a:buChar char="●"/>
            </a:pPr>
            <a:r>
              <a:rPr lang="en-US" sz="1050" dirty="0">
                <a:solidFill>
                  <a:srgbClr val="11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SQLite（可平滑迁移 PostgreSQL）</a:t>
            </a:r>
            <a:endParaRPr lang="en-US" sz="1050" dirty="0"/>
          </a:p>
          <a:p>
            <a:pPr marL="342900" indent="-342900">
              <a:lnSpc>
                <a:spcPct val="122000"/>
              </a:lnSpc>
              <a:spcAft>
                <a:spcPts val="1400"/>
              </a:spcAft>
              <a:buSzPct val="100000"/>
              <a:buChar char="●"/>
            </a:pPr>
            <a:r>
              <a:rPr lang="en-US" sz="1050" dirty="0">
                <a:solidFill>
                  <a:srgbClr val="11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BaseSession / Skill 抽象层，与前端解耦</a:t>
            </a:r>
            <a:endParaRPr lang="en-US" sz="1050" dirty="0"/>
          </a:p>
          <a:p>
            <a:pPr marL="342900" indent="-342900">
              <a:lnSpc>
                <a:spcPct val="122000"/>
              </a:lnSpc>
              <a:spcAft>
                <a:spcPts val="1400"/>
              </a:spcAft>
              <a:buSzPct val="100000"/>
              <a:buChar char="●"/>
            </a:pPr>
            <a:r>
              <a:rPr lang="en-US" sz="1050" dirty="0">
                <a:solidFill>
                  <a:srgbClr val="11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Web（HTML/JS/CSS），原生 iOS 并行演进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70832" y="2011680"/>
            <a:ext cx="3630168" cy="502920"/>
          </a:xfrm>
          <a:prstGeom prst="roundRect">
            <a:avLst>
              <a:gd name="adj" fmla="val 14545"/>
            </a:avLst>
          </a:prstGeom>
          <a:solidFill>
            <a:srgbClr val="8A5A00"/>
          </a:solidFill>
          <a:ln/>
        </p:spPr>
      </p:sp>
      <p:sp>
        <p:nvSpPr>
          <p:cNvPr id="10" name="Text 8"/>
          <p:cNvSpPr/>
          <p:nvPr/>
        </p:nvSpPr>
        <p:spPr>
          <a:xfrm>
            <a:off x="4370832" y="2011680"/>
            <a:ext cx="3630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模型层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4370832" y="2606040"/>
            <a:ext cx="3630168" cy="3246120"/>
          </a:xfrm>
          <a:prstGeom prst="roundRect">
            <a:avLst>
              <a:gd name="adj" fmla="val 2254"/>
            </a:avLst>
          </a:prstGeom>
          <a:solidFill>
            <a:srgbClr val="F4F6FC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2788920"/>
            <a:ext cx="3227832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2000"/>
              </a:lnSpc>
              <a:spcAft>
                <a:spcPts val="1400"/>
              </a:spcAft>
              <a:buSzPct val="100000"/>
              <a:buChar char="●"/>
            </a:pPr>
            <a:r>
              <a:rPr lang="en-US" sz="1050" dirty="0">
                <a:solidFill>
                  <a:srgbClr val="11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当前：OpenRouter 结构化分析，异常时 fallback 到 Demo Mode</a:t>
            </a:r>
            <a:endParaRPr lang="en-US" sz="1050" dirty="0"/>
          </a:p>
          <a:p>
            <a:pPr marL="342900" indent="-342900">
              <a:lnSpc>
                <a:spcPct val="122000"/>
              </a:lnSpc>
              <a:spcAft>
                <a:spcPts val="1400"/>
              </a:spcAft>
              <a:buSzPct val="100000"/>
              <a:buChar char="●"/>
            </a:pPr>
            <a:r>
              <a:rPr lang="en-US" sz="1050" dirty="0">
                <a:solidFill>
                  <a:srgbClr val="11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闭源模型使用范围：仅结构化分析/推荐理由生成，非核心决策</a:t>
            </a:r>
            <a:endParaRPr lang="en-US" sz="1050" dirty="0"/>
          </a:p>
          <a:p>
            <a:pPr marL="342900" indent="-342900">
              <a:lnSpc>
                <a:spcPct val="122000"/>
              </a:lnSpc>
              <a:spcAft>
                <a:spcPts val="1400"/>
              </a:spcAft>
              <a:buSzPct val="100000"/>
              <a:buChar char="●"/>
            </a:pPr>
            <a:r>
              <a:rPr lang="en-US" sz="1050" dirty="0">
                <a:solidFill>
                  <a:srgbClr val="11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规划：可插拔模型层，评估接入开源模型（如 Hermes 系列）</a:t>
            </a:r>
            <a:endParaRPr lang="en-US" sz="1050" dirty="0"/>
          </a:p>
          <a:p>
            <a:pPr marL="342900" indent="-342900">
              <a:lnSpc>
                <a:spcPct val="122000"/>
              </a:lnSpc>
              <a:spcAft>
                <a:spcPts val="1400"/>
              </a:spcAft>
              <a:buSzPct val="100000"/>
              <a:buChar char="●"/>
            </a:pPr>
            <a:r>
              <a:rPr lang="en-US" sz="1050" dirty="0">
                <a:solidFill>
                  <a:srgbClr val="11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以降低闭源依赖、提升可复现性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193024" y="2011680"/>
            <a:ext cx="3630168" cy="502920"/>
          </a:xfrm>
          <a:prstGeom prst="roundRect">
            <a:avLst>
              <a:gd name="adj" fmla="val 14545"/>
            </a:avLst>
          </a:prstGeom>
          <a:solidFill>
            <a:srgbClr val="6B7394"/>
          </a:solidFill>
          <a:ln/>
        </p:spPr>
      </p:sp>
      <p:sp>
        <p:nvSpPr>
          <p:cNvPr id="14" name="Text 12"/>
          <p:cNvSpPr/>
          <p:nvPr/>
        </p:nvSpPr>
        <p:spPr>
          <a:xfrm>
            <a:off x="8193024" y="2011680"/>
            <a:ext cx="3630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数据来源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8193024" y="2606040"/>
            <a:ext cx="3630168" cy="3246120"/>
          </a:xfrm>
          <a:prstGeom prst="roundRect">
            <a:avLst>
              <a:gd name="adj" fmla="val 2254"/>
            </a:avLst>
          </a:prstGeom>
          <a:solidFill>
            <a:srgbClr val="F4F6FC"/>
          </a:solidFill>
          <a:ln/>
        </p:spPr>
      </p:sp>
      <p:sp>
        <p:nvSpPr>
          <p:cNvPr id="16" name="Text 14"/>
          <p:cNvSpPr/>
          <p:nvPr/>
        </p:nvSpPr>
        <p:spPr>
          <a:xfrm>
            <a:off x="8394192" y="2788920"/>
            <a:ext cx="3227832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2000"/>
              </a:lnSpc>
              <a:spcAft>
                <a:spcPts val="1400"/>
              </a:spcAft>
              <a:buSzPct val="100000"/>
              <a:buChar char="●"/>
            </a:pPr>
            <a:r>
              <a:rPr lang="en-US" sz="1050" dirty="0">
                <a:solidFill>
                  <a:srgbClr val="11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Dive：arXiv 公开 API（论文标题/摘要/链接/分类）</a:t>
            </a:r>
            <a:endParaRPr lang="en-US" sz="1050" dirty="0"/>
          </a:p>
          <a:p>
            <a:pPr marL="342900" indent="-342900">
              <a:lnSpc>
                <a:spcPct val="122000"/>
              </a:lnSpc>
              <a:spcAft>
                <a:spcPts val="1400"/>
              </a:spcAft>
              <a:buSzPct val="100000"/>
              <a:buChar char="●"/>
            </a:pPr>
            <a:r>
              <a:rPr lang="en-US" sz="1050" dirty="0">
                <a:solidFill>
                  <a:srgbClr val="11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Alignment：用户手动录入 JD 或公开招聘信息</a:t>
            </a:r>
            <a:endParaRPr lang="en-US" sz="1050" dirty="0"/>
          </a:p>
          <a:p>
            <a:pPr marL="342900" indent="-342900">
              <a:lnSpc>
                <a:spcPct val="122000"/>
              </a:lnSpc>
              <a:spcAft>
                <a:spcPts val="1400"/>
              </a:spcAft>
              <a:buSzPct val="100000"/>
              <a:buChar char="●"/>
            </a:pPr>
            <a:r>
              <a:rPr lang="en-US" sz="1050" dirty="0">
                <a:solidFill>
                  <a:srgbClr val="11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所有来源在界面中标注，无第三方非授权数据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60350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i="1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迁移与合规说明：闭源模型可随时替换为开源模型，迁移成本仅限于 Prompt 适配，不影响 BaseSession / Skill 架构；arXiv 与 JD 均为公开或用户自主提供数据，无隐私合规风险。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B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DEMO 成果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4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Mobile-First Web Demo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完整闭环：Today → Deep Dive Workspace → Check-in → History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2606040" cy="4297680"/>
          </a:xfrm>
          <a:prstGeom prst="roundRect">
            <a:avLst>
              <a:gd name="adj" fmla="val 5263"/>
            </a:avLst>
          </a:prstGeom>
          <a:solidFill>
            <a:srgbClr val="F4F6FC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2176272"/>
            <a:ext cx="2276856" cy="3968496"/>
          </a:xfrm>
          <a:prstGeom prst="roundRect">
            <a:avLst>
              <a:gd name="adj" fmla="val 321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3703320"/>
            <a:ext cx="227685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[截图待补充]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172968" y="39319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474720" y="2011680"/>
            <a:ext cx="2606040" cy="4297680"/>
          </a:xfrm>
          <a:prstGeom prst="roundRect">
            <a:avLst>
              <a:gd name="adj" fmla="val 5263"/>
            </a:avLst>
          </a:prstGeom>
          <a:solidFill>
            <a:srgbClr val="F4F6FC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39312" y="2176272"/>
            <a:ext cx="2276856" cy="3968496"/>
          </a:xfrm>
          <a:prstGeom prst="roundRect">
            <a:avLst>
              <a:gd name="adj" fmla="val 321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39312" y="3703320"/>
            <a:ext cx="227685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 Workspace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[截图待补充]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99048" y="39319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400800" y="2011680"/>
            <a:ext cx="2606040" cy="4297680"/>
          </a:xfrm>
          <a:prstGeom prst="roundRect">
            <a:avLst>
              <a:gd name="adj" fmla="val 5263"/>
            </a:avLst>
          </a:prstGeom>
          <a:solidFill>
            <a:srgbClr val="F4F6FC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65392" y="2176272"/>
            <a:ext cx="2276856" cy="3968496"/>
          </a:xfrm>
          <a:prstGeom prst="roundRect">
            <a:avLst>
              <a:gd name="adj" fmla="val 321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65392" y="3703320"/>
            <a:ext cx="227685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[截图待补充]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025128" y="39319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326880" y="2011680"/>
            <a:ext cx="2606040" cy="4297680"/>
          </a:xfrm>
          <a:prstGeom prst="roundRect">
            <a:avLst>
              <a:gd name="adj" fmla="val 5263"/>
            </a:avLst>
          </a:prstGeom>
          <a:solidFill>
            <a:srgbClr val="F4F6FC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491472" y="2176272"/>
            <a:ext cx="2276856" cy="3968496"/>
          </a:xfrm>
          <a:prstGeom prst="roundRect">
            <a:avLst>
              <a:gd name="adj" fmla="val 321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91472" y="3703320"/>
            <a:ext cx="227685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[截图待补充]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65379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提交材料将附完整演示视频（60–90 秒）与关键流程截图，此处为版式占位。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B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安全与合规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4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清晰的能力边界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1064240" cy="1024128"/>
          </a:xfrm>
          <a:prstGeom prst="roundRect">
            <a:avLst>
              <a:gd name="adj" fmla="val 7143"/>
            </a:avLst>
          </a:prstGeom>
          <a:solidFill>
            <a:srgbClr val="F4F6FC"/>
          </a:solidFill>
          <a:ln w="12700">
            <a:solidFill>
              <a:srgbClr val="F4F6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5798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579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B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08760" y="2002536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不替代用户决策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532120" y="2002536"/>
            <a:ext cx="5852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Alignment 仅提供市场信号与差距分析，不代替用户做职业选择判断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3044952"/>
            <a:ext cx="1106424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F4F6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332841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328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B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08760" y="3172968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不自动执行外部动作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532120" y="3172968"/>
            <a:ext cx="5852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不自动投递简历、不自动提交申请，所有对外动作均需用户手动确认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215384"/>
            <a:ext cx="11064240" cy="1024128"/>
          </a:xfrm>
          <a:prstGeom prst="roundRect">
            <a:avLst>
              <a:gd name="adj" fmla="val 7143"/>
            </a:avLst>
          </a:prstGeom>
          <a:solidFill>
            <a:srgbClr val="F4F6FC"/>
          </a:solidFill>
          <a:ln w="12700">
            <a:solidFill>
              <a:srgbClr val="F4F6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49884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498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B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08760" y="4343400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数据来源公开可追溯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532120" y="4343400"/>
            <a:ext cx="5852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 基于 arXiv 公开论文数据；JD 数据来自用户手动录入或公开招聘信息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5385816"/>
            <a:ext cx="1106424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F4F6F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56692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5669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B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508760" y="5513832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Mode 明确标注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532120" y="5513832"/>
            <a:ext cx="5852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当前 fallback / 示例数据在界面中明确标注，不与真实数据源混淆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B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当前进展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4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从骨架到可演示闭环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61188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2880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已完成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423160"/>
            <a:ext cx="3611880" cy="3566160"/>
          </a:xfrm>
          <a:prstGeom prst="roundRect">
            <a:avLst>
              <a:gd name="adj" fmla="val 2051"/>
            </a:avLst>
          </a:prstGeom>
          <a:solidFill>
            <a:srgbClr val="F4F6FC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606040"/>
            <a:ext cx="31546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100" dirty="0">
                <a:solidFill>
                  <a:srgbClr val="11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BaseSession 数据模型 / FastAPI 后端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100" dirty="0">
                <a:solidFill>
                  <a:srgbClr val="11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Coordinator 节奏路由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100" dirty="0">
                <a:solidFill>
                  <a:srgbClr val="11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 Intelligence 完整 MVP（个人版）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100" dirty="0">
                <a:solidFill>
                  <a:srgbClr val="11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Web Demo 骨架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79976" y="1828800"/>
            <a:ext cx="3611880" cy="502920"/>
          </a:xfrm>
          <a:prstGeom prst="roundRect">
            <a:avLst>
              <a:gd name="adj" fmla="val 14545"/>
            </a:avLst>
          </a:prstGeom>
          <a:solidFill>
            <a:srgbClr val="8A5A00"/>
          </a:solidFill>
          <a:ln/>
        </p:spPr>
      </p:sp>
      <p:sp>
        <p:nvSpPr>
          <p:cNvPr id="9" name="Text 7"/>
          <p:cNvSpPr/>
          <p:nvPr/>
        </p:nvSpPr>
        <p:spPr>
          <a:xfrm>
            <a:off x="4379976" y="182880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进行中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379976" y="2423160"/>
            <a:ext cx="3611880" cy="3566160"/>
          </a:xfrm>
          <a:prstGeom prst="roundRect">
            <a:avLst>
              <a:gd name="adj" fmla="val 2051"/>
            </a:avLst>
          </a:prstGeom>
          <a:solidFill>
            <a:srgbClr val="F4F6FC"/>
          </a:solidFill>
          <a:ln/>
        </p:spPr>
      </p:sp>
      <p:sp>
        <p:nvSpPr>
          <p:cNvPr id="11" name="Text 9"/>
          <p:cNvSpPr/>
          <p:nvPr/>
        </p:nvSpPr>
        <p:spPr>
          <a:xfrm>
            <a:off x="4608576" y="2606040"/>
            <a:ext cx="31546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100" dirty="0">
                <a:solidFill>
                  <a:srgbClr val="11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 × arXiv 真实数据源接入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100" dirty="0">
                <a:solidFill>
                  <a:srgbClr val="11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Understanding / 历史上下文关联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100" dirty="0">
                <a:solidFill>
                  <a:srgbClr val="11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轻量问答入口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100" dirty="0">
                <a:solidFill>
                  <a:srgbClr val="11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闭环稳定性与移动端适配打磨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11312" y="1828800"/>
            <a:ext cx="3611880" cy="502920"/>
          </a:xfrm>
          <a:prstGeom prst="roundRect">
            <a:avLst>
              <a:gd name="adj" fmla="val 14545"/>
            </a:avLst>
          </a:prstGeom>
          <a:solidFill>
            <a:srgbClr val="6B7394"/>
          </a:solidFill>
          <a:ln/>
        </p:spPr>
      </p:sp>
      <p:sp>
        <p:nvSpPr>
          <p:cNvPr id="13" name="Text 11"/>
          <p:cNvSpPr/>
          <p:nvPr/>
        </p:nvSpPr>
        <p:spPr>
          <a:xfrm>
            <a:off x="8211312" y="182880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规划中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211312" y="2423160"/>
            <a:ext cx="3611880" cy="3566160"/>
          </a:xfrm>
          <a:prstGeom prst="roundRect">
            <a:avLst>
              <a:gd name="adj" fmla="val 2051"/>
            </a:avLst>
          </a:prstGeom>
          <a:solidFill>
            <a:srgbClr val="F4F6FC"/>
          </a:solidFill>
          <a:ln/>
        </p:spPr>
      </p:sp>
      <p:sp>
        <p:nvSpPr>
          <p:cNvPr id="15" name="Text 13"/>
          <p:cNvSpPr/>
          <p:nvPr/>
        </p:nvSpPr>
        <p:spPr>
          <a:xfrm>
            <a:off x="8439912" y="2606040"/>
            <a:ext cx="31546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100" dirty="0">
                <a:solidFill>
                  <a:srgbClr val="11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/ Weekly Studio / Opportunity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100" dirty="0">
                <a:solidFill>
                  <a:srgbClr val="11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 深度打磨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100" dirty="0">
                <a:solidFill>
                  <a:srgbClr val="11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原生 iOS 版本功能对齐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100" dirty="0">
                <a:solidFill>
                  <a:srgbClr val="11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精读批注持久化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100" dirty="0">
                <a:solidFill>
                  <a:srgbClr val="11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多领域预设模板开放配置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4572000"/>
            <a:ext cx="1463040" cy="1463040"/>
          </a:xfrm>
          <a:prstGeom prst="ellipse">
            <a:avLst/>
          </a:prstGeom>
          <a:ln w="19050">
            <a:solidFill>
              <a:srgbClr val="CADCFC">
                <a:alpha val="8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52560" y="4023360"/>
            <a:ext cx="2560320" cy="2560320"/>
          </a:xfrm>
          <a:prstGeom prst="ellipse">
            <a:avLst/>
          </a:prstGeom>
          <a:ln w="19050">
            <a:solidFill>
              <a:srgbClr val="CADCFC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03920" y="3474720"/>
            <a:ext cx="3657600" cy="3657600"/>
          </a:xfrm>
          <a:prstGeom prst="ellipse">
            <a:avLst/>
          </a:prstGeom>
          <a:ln w="19050">
            <a:solidFill>
              <a:srgbClr val="FFB000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50424" y="5221224"/>
            <a:ext cx="164592" cy="164592"/>
          </a:xfrm>
          <a:prstGeom prst="ellipse">
            <a:avLst/>
          </a:prstGeom>
          <a:solidFill>
            <a:srgbClr val="FFB00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开源与展望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86868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开源计划与未来规划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48640" y="1828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开源 / 可复用价值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240280"/>
            <a:ext cx="5852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FFB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BaseSession + Skill 抽象层架构文档与代码开源
</a:t>
            </a:r>
            <a:pPr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FFB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四类 Session Type 的领域映射模板，供其他领域直接复用
</a:t>
            </a:r>
            <a:pPr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FFB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Web Demo 部署脚本与运行手册（README + Runbook）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977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未来规划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4389120"/>
            <a:ext cx="5852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FFB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补齐 Radar / Weekly Studio / Opportunity Alignment 深度能力
</a:t>
            </a:r>
            <a:pPr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FFB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开放用户自定义领域配置，一次性设置、周期自动运行
</a:t>
            </a:r>
            <a:pPr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FFB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原生 iOS 版本与 Web 版本能力对齐，双端并行演进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6126480"/>
            <a:ext cx="5852160" cy="0"/>
          </a:xfrm>
          <a:prstGeom prst="line">
            <a:avLst/>
          </a:prstGeom>
          <a:noFill/>
          <a:ln w="12700">
            <a:solidFill>
              <a:srgbClr val="CADCFC">
                <a:alpha val="6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6263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圆周引擎 Orbit Engine  ·  GOAI 无界应用赛道  ·  谢谢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2026-08-06T02:50:46Z</dcterms:created>
  <dcterms:modified xsi:type="dcterms:W3CDTF">2026-08-06T02:50:46Z</dcterms:modified>
</cp:coreProperties>
</file>