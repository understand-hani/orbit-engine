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57200"/>
            <a:ext cx="1645920" cy="1645920"/>
          </a:xfrm>
          <a:prstGeom prst="ellipse">
            <a:avLst/>
          </a:prstGeom>
          <a:ln w="1905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91440"/>
            <a:ext cx="2743200" cy="2743200"/>
          </a:xfrm>
          <a:prstGeom prst="ellipse">
            <a:avLst/>
          </a:prstGeom>
          <a:ln w="1905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731520"/>
            <a:ext cx="4023360" cy="4023360"/>
          </a:xfrm>
          <a:prstGeom prst="ellipse">
            <a:avLst/>
          </a:prstGeom>
          <a:ln w="19050">
            <a:solidFill>
              <a:srgbClr val="FFB00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7544" y="1197864"/>
            <a:ext cx="164592" cy="164592"/>
          </a:xfrm>
          <a:prstGeom prst="ellipse">
            <a:avLst/>
          </a:prstGeom>
          <a:solidFill>
            <a:srgbClr val="FFB000"/>
          </a:solidFill>
        </p:spPr>
      </p:sp>
      <p:sp>
        <p:nvSpPr>
          <p:cNvPr id="6" name="Text 4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GOAI 世界人工智能开源大赛 · 无界应用赛道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圆周引擎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21792" y="3246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Engine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面向任意专业领域的周期性成长 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8686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每一次循环，都在积累前进的动能 — Every cycle builds momentum.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2743200" cy="0"/>
          </a:xfrm>
          <a:prstGeom prst="line">
            <a:avLst/>
          </a:prstGeom>
          <a:noFill/>
          <a:ln w="25400">
            <a:solidFill>
              <a:srgbClr val="FF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394960"/>
            <a:ext cx="89611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赛道方向：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Education（成人职业技能教育 Agent）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团队名称：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圆周引擎  |  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提交日期：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2026.08.16
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团队成员：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[姓名] · 独立开发者（Solo Builder，负责产品 / 架构 / 全栈开发）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真正的阻力，不是缺计划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而是每一次行动开始之前，反复出现的决策与筛选成本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91840" cy="3977640"/>
          </a:xfrm>
          <a:prstGeom prst="roundRect">
            <a:avLst>
              <a:gd name="adj" fmla="val 3333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548640" y="25146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26517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典型用户在开始一次学习/探索行动前，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花在“今天该做什么、去哪找材料、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值不值得看”这类决策上的时间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19456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130552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决策疲劳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496312"/>
            <a:ext cx="6583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每次开始前都要重新决定“今天做什么”，启动成本消耗在决策上，而非执行上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320040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136392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筛选负担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3502152"/>
            <a:ext cx="6583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需要自己搜索、比较、判断材料是否值得看，信息噪音掩盖了真正有价值的内容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51960" y="420624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4206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4142232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粒度错位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4507992"/>
            <a:ext cx="6583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计划停留在“这周要学 XX”层面，缺少可以直接执行的 30–60 分钟任务单元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51960" y="521208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5212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5148072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沉淀断层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5513832"/>
            <a:ext cx="6583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学习与观察的结果没有形成持续记录，无法回看进展，也无法反哺能力判断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目标用户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一个真实的人，一条真实的节奏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4297680"/>
          </a:xfrm>
          <a:prstGeom prst="roundRect">
            <a:avLst>
              <a:gd name="adj" fmla="val 2791"/>
            </a:avLst>
          </a:prstGeom>
          <a:solidFill>
            <a:srgbClr val="F4F6FC"/>
          </a:solidFill>
        </p:spPr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68680" y="21488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21945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处于职业方向探索期的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技术从业者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33375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希望保持技术敏感度，但当前处于非跳槽窗口期
</a:t>
            </a: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缺的不是学习资源，是“今天该看什么”的判断
</a:t>
            </a: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希望市场感知与能力建设并行，而非临时抱佛脚
</a:t>
            </a: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早晨/碎片时间是主要使用场景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旗舰场景：个人职业能力建设周期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331720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441448"/>
            <a:ext cx="13716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周一 / 周二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37960" y="2569464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6537960" y="2569464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58200" y="2441448"/>
            <a:ext cx="292608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技术趋势与产品动态扫描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364992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474720"/>
            <a:ext cx="13716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360273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6537960" y="3602736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58200" y="3474720"/>
            <a:ext cx="292608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岗位要求与能力差距分析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4398264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4507992"/>
            <a:ext cx="13716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周四 / 周五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4636008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3" name="Text 21"/>
          <p:cNvSpPr/>
          <p:nvPr/>
        </p:nvSpPr>
        <p:spPr>
          <a:xfrm>
            <a:off x="6537960" y="4636008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58200" y="4507992"/>
            <a:ext cx="292608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 / repo 深度学习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5431536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5541264"/>
            <a:ext cx="137160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周末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566928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8" name="Text 26"/>
          <p:cNvSpPr/>
          <p:nvPr/>
        </p:nvSpPr>
        <p:spPr>
          <a:xfrm>
            <a:off x="6537960" y="5669280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58200" y="5541264"/>
            <a:ext cx="2926080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周复盘、归档、更新能力档案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解决方案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两层节奏设计，六步完整闭环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</p:spPr>
      </p:sp>
      <p:sp>
        <p:nvSpPr>
          <p:cNvPr id="5" name="Text 3"/>
          <p:cNvSpPr/>
          <p:nvPr/>
        </p:nvSpPr>
        <p:spPr>
          <a:xfrm>
            <a:off x="777240" y="181051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Mode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3749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系统按用户配置的周期自动安排今天任务，替用户做“今天干什么”这个决策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92040" y="16916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</p:spPr>
      </p:sp>
      <p:sp>
        <p:nvSpPr>
          <p:cNvPr id="8" name="Text 6"/>
          <p:cNvSpPr/>
          <p:nvPr/>
        </p:nvSpPr>
        <p:spPr>
          <a:xfrm>
            <a:off x="5120640" y="181051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20640" y="2121408"/>
            <a:ext cx="3749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用户可临时切换到 Radar / Deep Dive / Weekly Studio / Opportunity Alignment 任一类型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640080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节奏触发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61032" y="3977640"/>
            <a:ext cx="2926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35352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2526792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08504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材料包生成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47744" y="3977640"/>
            <a:ext cx="2926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22064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4413504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95216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任务执行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34456" y="3977640"/>
            <a:ext cx="2926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8776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</p:spPr>
      </p:sp>
      <p:sp>
        <p:nvSpPr>
          <p:cNvPr id="23" name="Text 21"/>
          <p:cNvSpPr/>
          <p:nvPr/>
        </p:nvSpPr>
        <p:spPr>
          <a:xfrm>
            <a:off x="6300216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打卡记录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21168" y="3977640"/>
            <a:ext cx="2926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95488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</p:spPr>
      </p:sp>
      <p:sp>
        <p:nvSpPr>
          <p:cNvPr id="27" name="Text 25"/>
          <p:cNvSpPr/>
          <p:nvPr/>
        </p:nvSpPr>
        <p:spPr>
          <a:xfrm>
            <a:off x="8186928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68640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讨论反馈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07880" y="3977640"/>
            <a:ext cx="29260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82200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FFB000"/>
          </a:solidFill>
        </p:spPr>
      </p:sp>
      <p:sp>
        <p:nvSpPr>
          <p:cNvPr id="31" name="Text 29"/>
          <p:cNvSpPr/>
          <p:nvPr/>
        </p:nvSpPr>
        <p:spPr>
          <a:xfrm>
            <a:off x="10073640" y="377647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5352" y="4087368"/>
            <a:ext cx="1484376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周期复盘沉淀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闭环回到“周期触发”，形成用户能力成长的持续轨迹（Orbit）——这也是团队名称的由来。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四类会话（Session Types）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9893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59893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59893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Studio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5256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0" y="59893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通用性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同一套抽象，映射到任意专业领域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Types 与 BaseSession / Skill 架构与领域无关，领域仅作为一次性配置注入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2148840"/>
            <a:ext cx="24231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148840"/>
            <a:ext cx="2240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148840"/>
            <a:ext cx="31089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4884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0" y="2148840"/>
            <a:ext cx="28803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14884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60904"/>
            <a:ext cx="247802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职业能力建设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（当前旗舰场景）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46120" y="2606040"/>
            <a:ext cx="24231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2660904"/>
            <a:ext cx="22037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技术趋势 / 产品动态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2606040"/>
            <a:ext cx="31089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2660904"/>
            <a:ext cx="28895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/ 招聘要求 / 简历差距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2606040"/>
            <a:ext cx="28803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87968" y="2660904"/>
            <a:ext cx="26609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 / repo 精读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02152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57016"/>
            <a:ext cx="247802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研究方向探索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3502152"/>
            <a:ext cx="24231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557016"/>
            <a:ext cx="22037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领域最新进展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3502152"/>
            <a:ext cx="3108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3557016"/>
            <a:ext cx="28895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 / Benchmark / Open Problem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78240" y="3502152"/>
            <a:ext cx="2880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87968" y="3557016"/>
            <a:ext cx="26609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论文精读与复现判断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398264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453128"/>
            <a:ext cx="247802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创作者 / IP 运营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46120" y="4398264"/>
            <a:ext cx="24231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4453128"/>
            <a:ext cx="22037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平台热点与算法变化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4398264"/>
            <a:ext cx="31089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4453128"/>
            <a:ext cx="28895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爆款内容 / 用户反馈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778240" y="4398264"/>
            <a:ext cx="28803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87968" y="4453128"/>
            <a:ext cx="26609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同类内容深度拆解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294376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349240"/>
            <a:ext cx="247802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创业 / 产品方向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46120" y="5294376"/>
            <a:ext cx="24231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5349240"/>
            <a:ext cx="22037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行业与竞品动态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0" y="5294376"/>
            <a:ext cx="3108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79008" y="5349240"/>
            <a:ext cx="28895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用户需求 / 市场机会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78240" y="5294376"/>
            <a:ext cx="2880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87968" y="5349240"/>
            <a:ext cx="2660904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/ 竞品深度研究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6327648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Studio 在所有领域中均为统一动作：归档、复盘、更新能力档案、调整下周计划（因此未单独列表）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AGENT 能力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能力与任务闭环映射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Deep Dive 为旗舰能力，覆盖完整的 Agent Closed-Loop 七个环节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6" name="Text 4"/>
          <p:cNvSpPr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68296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用户选择或系统推荐 Deep Dive 会话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9" name="Text 7"/>
          <p:cNvSpPr/>
          <p:nvPr/>
        </p:nvSpPr>
        <p:spPr>
          <a:xfrm>
            <a:off x="731520" y="3136392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447288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结合用户历史打卡记录判断当前学习方向与关注点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12394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12" name="Text 10"/>
          <p:cNvSpPr/>
          <p:nvPr/>
        </p:nvSpPr>
        <p:spPr>
          <a:xfrm>
            <a:off x="731520" y="4215384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拆解为 30 / 60 / 90 分钟可执行任务，明确最小产出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520293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15" name="Text 13"/>
          <p:cNvSpPr/>
          <p:nvPr/>
        </p:nvSpPr>
        <p:spPr>
          <a:xfrm>
            <a:off x="731520" y="5294376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Invocation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5605272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arXiv 数据源 + LLM 生成推荐理由与阅读重点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18" name="Text 16"/>
          <p:cNvSpPr/>
          <p:nvPr/>
        </p:nvSpPr>
        <p:spPr>
          <a:xfrm>
            <a:off x="6492240" y="205740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Delivery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2368296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结构化材料卡片：来源、摘要、精读重点、推荐理由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04495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21" name="Text 19"/>
          <p:cNvSpPr/>
          <p:nvPr/>
        </p:nvSpPr>
        <p:spPr>
          <a:xfrm>
            <a:off x="6492240" y="3136392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Feedback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3447288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打卡判断 continue / track_later / drop，反哺下一轮推荐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412394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</p:spPr>
      </p:sp>
      <p:sp>
        <p:nvSpPr>
          <p:cNvPr id="24" name="Text 22"/>
          <p:cNvSpPr/>
          <p:nvPr/>
        </p:nvSpPr>
        <p:spPr>
          <a:xfrm>
            <a:off x="6492240" y="4215384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Boundaries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452628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明确标注，不自动执行外部动作，数据来源可追溯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数据与技术路线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模型、数据与工具链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当前实现基于可替换的、透明的技术选型，闭源依赖可迁移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3016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548640" y="2011680"/>
            <a:ext cx="3630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后端与存储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</p:spPr>
      </p:sp>
      <p:sp>
        <p:nvSpPr>
          <p:cNvPr id="8" name="Text 6"/>
          <p:cNvSpPr/>
          <p:nvPr/>
        </p:nvSpPr>
        <p:spPr>
          <a:xfrm>
            <a:off x="749808" y="2788920"/>
            <a:ext cx="3227832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SQLite（可平滑迁移 PostgreSQL）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BaseSession / Skill 抽象层，与前端解耦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Web（HTML/JS/CSS），原生 iOS 并行演进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2011680"/>
            <a:ext cx="3630168" cy="502920"/>
          </a:xfrm>
          <a:prstGeom prst="roundRect">
            <a:avLst>
              <a:gd name="adj" fmla="val 14545"/>
            </a:avLst>
          </a:prstGeom>
          <a:solidFill>
            <a:srgbClr val="8A5A00"/>
          </a:solidFill>
        </p:spPr>
      </p:sp>
      <p:sp>
        <p:nvSpPr>
          <p:cNvPr id="10" name="Text 8"/>
          <p:cNvSpPr/>
          <p:nvPr/>
        </p:nvSpPr>
        <p:spPr>
          <a:xfrm>
            <a:off x="4370832" y="2011680"/>
            <a:ext cx="3630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70832" y="260604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</p:spPr>
      </p:sp>
      <p:sp>
        <p:nvSpPr>
          <p:cNvPr id="12" name="Text 10"/>
          <p:cNvSpPr/>
          <p:nvPr/>
        </p:nvSpPr>
        <p:spPr>
          <a:xfrm>
            <a:off x="4572000" y="2788920"/>
            <a:ext cx="3227832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当前：OpenRouter 结构化分析，异常时 fallback 到 Demo Mode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闭源模型使用范围：仅结构化分析/推荐理由生成，非核心决策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规划：可插拔模型层，评估接入开源模型（如 Hermes 系列）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以降低闭源依赖、提升可复现性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93024" y="2011680"/>
            <a:ext cx="3630168" cy="502920"/>
          </a:xfrm>
          <a:prstGeom prst="roundRect">
            <a:avLst>
              <a:gd name="adj" fmla="val 14545"/>
            </a:avLst>
          </a:prstGeom>
          <a:solidFill>
            <a:srgbClr val="6B7394"/>
          </a:solidFill>
        </p:spPr>
      </p:sp>
      <p:sp>
        <p:nvSpPr>
          <p:cNvPr id="14" name="Text 12"/>
          <p:cNvSpPr/>
          <p:nvPr/>
        </p:nvSpPr>
        <p:spPr>
          <a:xfrm>
            <a:off x="8193024" y="2011680"/>
            <a:ext cx="3630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93024" y="260604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</p:spPr>
      </p:sp>
      <p:sp>
        <p:nvSpPr>
          <p:cNvPr id="16" name="Text 14"/>
          <p:cNvSpPr/>
          <p:nvPr/>
        </p:nvSpPr>
        <p:spPr>
          <a:xfrm>
            <a:off x="8394192" y="2788920"/>
            <a:ext cx="3227832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Dive：arXiv 公开 API（论文标题/摘要/链接/分类）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Alignment：用户手动录入 JD 或公开招聘信息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所有来源在界面中标注，无第三方非授权数据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迁移与合规说明：闭源模型可随时替换为开源模型，迁移成本仅限于 Prompt 适配，不影响 BaseSession / Skill 架构；arXiv 与 JD 均为公开或用户自主提供数据，无隐私合规风险。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 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Web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完整闭环：Today → Deep Dive Workspace → Check-in → History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703320"/>
            <a:ext cx="227685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393192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3703320"/>
            <a:ext cx="227685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Workspace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48" y="393192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539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3703320"/>
            <a:ext cx="227685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25128" y="393192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2688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9147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3703320"/>
            <a:ext cx="2276856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提交材料将附完整演示视频（60–90 秒）与关键流程截图，此处为版式占位。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安全与合规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清晰的能力边界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57984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22960" y="21579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02536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不替代用户决策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32120" y="2002536"/>
            <a:ext cx="5852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 仅提供市场信号与差距分析，不代替用户做职业选择判断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328416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822960" y="3328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172968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不自动执行外部动作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3172968"/>
            <a:ext cx="5852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不自动投递简历、不自动提交申请，所有对外动作均需用户手动确认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98848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22960" y="4498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343400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数据来源公开可追溯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4343400"/>
            <a:ext cx="5852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基于 arXiv 公开论文数据；JD 数据来自用户手动录入或公开招聘信息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38581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66928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822960" y="5669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513832"/>
            <a:ext cx="39319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明确标注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5513832"/>
            <a:ext cx="5852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fallback / 示例数据在界面中明确标注，不与真实数据源混淆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当前进展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从骨架到可演示闭环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8288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</p:spPr>
      </p:sp>
      <p:sp>
        <p:nvSpPr>
          <p:cNvPr id="7" name="Text 5"/>
          <p:cNvSpPr/>
          <p:nvPr/>
        </p:nvSpPr>
        <p:spPr>
          <a:xfrm>
            <a:off x="777240" y="2606040"/>
            <a:ext cx="31546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BaseSession 数据模型 / FastAPI 后端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Coordinator 节奏路由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Intelligence 完整 MVP（个人版）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 Demo 骨架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9976" y="18288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8A5A00"/>
          </a:solidFill>
        </p:spPr>
      </p:sp>
      <p:sp>
        <p:nvSpPr>
          <p:cNvPr id="9" name="Text 7"/>
          <p:cNvSpPr/>
          <p:nvPr/>
        </p:nvSpPr>
        <p:spPr>
          <a:xfrm>
            <a:off x="4379976" y="18288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79976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</p:spPr>
      </p:sp>
      <p:sp>
        <p:nvSpPr>
          <p:cNvPr id="11" name="Text 9"/>
          <p:cNvSpPr/>
          <p:nvPr/>
        </p:nvSpPr>
        <p:spPr>
          <a:xfrm>
            <a:off x="4608576" y="2606040"/>
            <a:ext cx="31546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× arXiv 真实数据源接入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 / 历史上下文关联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轻量问答入口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闭环稳定性与移动端适配打磨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11312" y="18288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6B7394"/>
          </a:solidFill>
        </p:spPr>
      </p:sp>
      <p:sp>
        <p:nvSpPr>
          <p:cNvPr id="13" name="Text 11"/>
          <p:cNvSpPr/>
          <p:nvPr/>
        </p:nvSpPr>
        <p:spPr>
          <a:xfrm>
            <a:off x="8211312" y="18288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规划中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11312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</p:spPr>
      </p:sp>
      <p:sp>
        <p:nvSpPr>
          <p:cNvPr id="15" name="Text 13"/>
          <p:cNvSpPr/>
          <p:nvPr/>
        </p:nvSpPr>
        <p:spPr>
          <a:xfrm>
            <a:off x="8439912" y="2606040"/>
            <a:ext cx="31546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/ Weekly Studio / Opportunity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深度打磨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iOS 版本功能对齐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精读批注持久化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多领域预设模板开放配置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572000"/>
            <a:ext cx="1463040" cy="1463040"/>
          </a:xfrm>
          <a:prstGeom prst="ellipse">
            <a:avLst/>
          </a:prstGeom>
          <a:ln w="1905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4023360"/>
            <a:ext cx="2560320" cy="2560320"/>
          </a:xfrm>
          <a:prstGeom prst="ellipse">
            <a:avLst/>
          </a:prstGeom>
          <a:ln w="1905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474720"/>
            <a:ext cx="3657600" cy="3657600"/>
          </a:xfrm>
          <a:prstGeom prst="ellipse">
            <a:avLst/>
          </a:prstGeom>
          <a:ln w="19050">
            <a:solidFill>
              <a:srgbClr val="FFB00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50424" y="5221224"/>
            <a:ext cx="164592" cy="164592"/>
          </a:xfrm>
          <a:prstGeom prst="ellipse">
            <a:avLst/>
          </a:prstGeom>
          <a:solidFill>
            <a:srgbClr val="FFB000"/>
          </a:solidFill>
        </p:spPr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开源与展望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开源计划与未来规划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/ 可复用价值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5852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BaseSession + Skill 抽象层架构文档与代码开源
</a:t>
            </a: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 Session Type 的领域映射模板，供其他领域直接复用
</a:t>
            </a: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 Demo 部署脚本与运行手册（README + Runbook）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未来规划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5852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Radar / Weekly Studio / Opportunity Alignment 深度能力
</a:t>
            </a: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开放用户自定义领域配置，一次性设置、周期自动运行
</a:t>
            </a: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iOS 版本与 Web 版本能力对齐，双端并行演进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6126480"/>
            <a:ext cx="58521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圆周引擎 Orbit Engine  ·  GOAI 无界应用赛道  ·  谢谢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3308</Words>
  <Application>WPS 演示</Application>
  <PresentationFormat>On-screen Show (16:9)</PresentationFormat>
  <Paragraphs>367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Trebuchet MS</vt:lpstr>
      <vt:lpstr>Calibri</vt:lpstr>
      <vt:lpstr>Calibri</vt:lpstr>
      <vt:lpstr>Cambria</vt:lpstr>
      <vt:lpstr>Cambria</vt:lpstr>
      <vt:lpstr>Cambria</vt:lpstr>
      <vt:lpstr>宋体</vt:lpstr>
      <vt:lpstr>Droid Sans Fallback</vt:lpstr>
      <vt:lpstr>AR PL UKai CN</vt:lpstr>
      <vt:lpstr>微软雅黑</vt:lpstr>
      <vt:lpstr>Arial Unicode MS</vt:lpstr>
      <vt:lpstr>等线</vt:lpstr>
      <vt:lpstr>Gubbi</vt:lpstr>
      <vt:lpstr>OpenSymbol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maxh</cp:lastModifiedBy>
  <cp:revision>3</cp:revision>
  <dcterms:created xsi:type="dcterms:W3CDTF">2026-08-11T06:10:58Z</dcterms:created>
  <dcterms:modified xsi:type="dcterms:W3CDTF">2026-08-11T06:10:58Z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3E45FC52AA68A3A2DD24746ACEA9EE32_42</vt:lpwstr>
  </property>
  <property fmtid="{D5CDD505-2E9C-101B-9397-08002B2CF9AE}" pid="3" name="KSOProductBuildVer">
    <vt:lpwstr>2052-12.1.0.17900</vt:lpwstr>
  </property>
</Properties>
</file>